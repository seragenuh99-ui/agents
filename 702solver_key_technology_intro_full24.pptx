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732e929473408f" /><Relationship Type="http://schemas.openxmlformats.org/officeDocument/2006/relationships/extended-properties" Target="/docProps/app.xml" Id="Rfcc18359a5ac4536" /><Relationship Type="http://schemas.openxmlformats.org/officeDocument/2006/relationships/officeDocument" Target="/ppt/presentation.xml" Id="R7fe5b6e45432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f935e36533484a"/>
  </p:sldMasterIdLst>
  <p:notesMasterIdLst>
    <p:notesMasterId xmlns:r="http://schemas.openxmlformats.org/officeDocument/2006/relationships" r:id="Ra697d6d942e046ef"/>
  </p:notesMasterIdLst>
  <p:sldIdLst>
    <p:sldId xmlns:r="http://schemas.openxmlformats.org/officeDocument/2006/relationships" id="256" r:id="R379f6fcab86142cd"/>
    <p:sldId xmlns:r="http://schemas.openxmlformats.org/officeDocument/2006/relationships" id="257" r:id="Re01e1ec8d03f4c35"/>
    <p:sldId xmlns:r="http://schemas.openxmlformats.org/officeDocument/2006/relationships" id="258" r:id="Ra44b781a2b0c4a14"/>
    <p:sldId xmlns:r="http://schemas.openxmlformats.org/officeDocument/2006/relationships" id="259" r:id="Rf2cbef5663004fe6"/>
    <p:sldId xmlns:r="http://schemas.openxmlformats.org/officeDocument/2006/relationships" id="260" r:id="R8e7300ff03244368"/>
    <p:sldId xmlns:r="http://schemas.openxmlformats.org/officeDocument/2006/relationships" id="261" r:id="R220c40b98450421f"/>
    <p:sldId xmlns:r="http://schemas.openxmlformats.org/officeDocument/2006/relationships" id="262" r:id="Rb360ab5cb30d47b4"/>
    <p:sldId xmlns:r="http://schemas.openxmlformats.org/officeDocument/2006/relationships" id="263" r:id="R47003c1de1e24ae4"/>
    <p:sldId xmlns:r="http://schemas.openxmlformats.org/officeDocument/2006/relationships" id="264" r:id="R0a3a01232c6543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8368bfad54da0" /><Relationship Type="http://schemas.openxmlformats.org/officeDocument/2006/relationships/slideMaster" Target="/ppt/slideMasters/slideMaster1.xml" Id="R28f935e36533484a" /><Relationship Type="http://schemas.openxmlformats.org/officeDocument/2006/relationships/notesMaster" Target="/ppt/notesMasters/notesMaster1.xml" Id="Ra697d6d942e046ef" /><Relationship Type="http://schemas.openxmlformats.org/officeDocument/2006/relationships/presProps" Target="/ppt/presProps.xml" Id="R4ed45a640b154a20" /><Relationship Type="http://schemas.openxmlformats.org/officeDocument/2006/relationships/tableStyles" Target="/ppt/tableStyles.xml" Id="R3ded73b06ca84b8d" /><Relationship Type="http://schemas.openxmlformats.org/officeDocument/2006/relationships/slide" Target="/ppt/slides/slide1.xml" Id="R379f6fcab86142cd" /><Relationship Type="http://schemas.openxmlformats.org/officeDocument/2006/relationships/slide" Target="/ppt/slides/slide2.xml" Id="Re01e1ec8d03f4c35" /><Relationship Type="http://schemas.openxmlformats.org/officeDocument/2006/relationships/slide" Target="/ppt/slides/slide3.xml" Id="Ra44b781a2b0c4a14" /><Relationship Type="http://schemas.openxmlformats.org/officeDocument/2006/relationships/slide" Target="/ppt/slides/slide4.xml" Id="Rf2cbef5663004fe6" /><Relationship Type="http://schemas.openxmlformats.org/officeDocument/2006/relationships/slide" Target="/ppt/slides/slide5.xml" Id="R8e7300ff03244368" /><Relationship Type="http://schemas.openxmlformats.org/officeDocument/2006/relationships/slide" Target="/ppt/slides/slide6.xml" Id="R220c40b98450421f" /><Relationship Type="http://schemas.openxmlformats.org/officeDocument/2006/relationships/slide" Target="/ppt/slides/slide7.xml" Id="Rb360ab5cb30d47b4" /><Relationship Type="http://schemas.openxmlformats.org/officeDocument/2006/relationships/slide" Target="/ppt/slides/slide8.xml" Id="R47003c1de1e24ae4" /><Relationship Type="http://schemas.openxmlformats.org/officeDocument/2006/relationships/slide" Target="/ppt/slides/slide9.xml" Id="R0a3a01232c6543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32da15177343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6c367f29d44197" /><Relationship Type="http://schemas.openxmlformats.org/officeDocument/2006/relationships/notesMaster" Target="/ppt/notesMasters/notesMaster1.xml" Id="R3568c64101f743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1a308aee440ec" /><Relationship Type="http://schemas.openxmlformats.org/officeDocument/2006/relationships/notesMaster" Target="/ppt/notesMasters/notesMaster1.xml" Id="R920e428ab55c40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7db86ffa84343" /><Relationship Type="http://schemas.openxmlformats.org/officeDocument/2006/relationships/notesMaster" Target="/ppt/notesMasters/notesMaster1.xml" Id="Ra47c15aa8c784e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3a35ab9b44a8d" /><Relationship Type="http://schemas.openxmlformats.org/officeDocument/2006/relationships/notesMaster" Target="/ppt/notesMasters/notesMaster1.xml" Id="R4c6894db01724f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e78a346424647" /><Relationship Type="http://schemas.openxmlformats.org/officeDocument/2006/relationships/notesMaster" Target="/ppt/notesMasters/notesMaster1.xml" Id="R45b021cd7ff043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afc59bb48d4c0a" /><Relationship Type="http://schemas.openxmlformats.org/officeDocument/2006/relationships/notesMaster" Target="/ppt/notesMasters/notesMaster1.xml" Id="Rf1336180c2404b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9636696ea44204" /><Relationship Type="http://schemas.openxmlformats.org/officeDocument/2006/relationships/notesMaster" Target="/ppt/notesMasters/notesMaster1.xml" Id="R8a71ec454d534e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fbe5ec1a574b7c" /><Relationship Type="http://schemas.openxmlformats.org/officeDocument/2006/relationships/notesMaster" Target="/ppt/notesMasters/notesMaster1.xml" Id="R20c2c490cf1a4b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605e293c304acd" /><Relationship Type="http://schemas.openxmlformats.org/officeDocument/2006/relationships/notesMaster" Target="/ppt/notesMasters/notesMaster1.xml" Id="R982e12acce774d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Live screenshot: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Task definitions: Z:/home/chen/projects/702solver/experiments/benchmark_tasks.py</a:t>
            </a:r>
          </a:p>
          <a:p xmlns:a="http://schemas.openxmlformats.org/drawingml/2006/main">
            <a:r>
              <a:t>Suite definitions: Z:/home/chen/projects/702solver/experiments/benchmark_suites.py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Code refs: src/protocol/__init__.py:58-146; src/protocol/scheduler.py:116-290</a:t>
            </a:r>
          </a:p>
          <a:p xmlns:a="http://schemas.openxmlformats.org/drawingml/2006/main">
            <a:r>
              <a:t>Code refs: src/state/embeddings.py:28-180; src/state/exchange.py:39-229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Code refs: src/memory/models.py:30-64; src/memory/store.py:42-507</a:t>
            </a:r>
          </a:p>
          <a:p xmlns:a="http://schemas.openxmlformats.org/drawingml/2006/main">
            <a:r>
              <a:t>Code refs: src/orchestrator.py:344-431; src/run_options.py:52-68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Code refs: src/task_intent.py:176-270; src/memory/store.py:495-516</a:t>
            </a:r>
          </a:p>
          <a:p xmlns:a="http://schemas.openxmlformats.org/drawingml/2006/main">
            <a:r>
              <a:t>Test inventory: AGENTS.md test suite breakdown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Reference style deck: D:/langhua/一些文件/3.7 面向三大主力船型的CAD CAE一体化智能软件-0727-2.pptx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result: Z:/home/chen/projects/702solver/docs/full24_controlled_comparison.md</a:t>
            </a:r>
          </a:p>
          <a:p xmlns:a="http://schemas.openxmlformats.org/drawingml/2006/main">
            <a:r>
              <a:t>Machine-readable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Thesis/project proposal: Z:/home/chen/projects/702solver/docs/开题报告_多Agent共享记忆驱动的工业软件故障诊断知识图谱构建.md</a:t>
            </a:r>
          </a:p>
          <a:p xmlns:a="http://schemas.openxmlformats.org/drawingml/2006/main">
            <a:r>
              <a:t>Live screenshot: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b31b12013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bb29d89764da4" /><Relationship Type="http://schemas.openxmlformats.org/officeDocument/2006/relationships/slideLayout" Target="/ppt/slideLayouts/slideLayout1.xml" Id="R4e9313dafc5444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9313dafc54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a520e4c5841c3" /><Relationship Type="http://schemas.openxmlformats.org/officeDocument/2006/relationships/notesSlide" Target="/ppt/notesSlides/notesSlide1.xml" Id="R5e37d65970b94a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d3d3ccb8b41ca" /><Relationship Type="http://schemas.openxmlformats.org/officeDocument/2006/relationships/notesSlide" Target="/ppt/notesSlides/notesSlide2.xml" Id="R1ab5f789a31f4e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bc4dc1ca6450b" /><Relationship Type="http://schemas.openxmlformats.org/officeDocument/2006/relationships/image" Target="/ppt/media/image.png" Id="Rff1b6c30e3f24bb1" /><Relationship Type="http://schemas.openxmlformats.org/officeDocument/2006/relationships/image" Target="/ppt/media/image2.png" Id="R810cbdb9741b4029" /><Relationship Type="http://schemas.openxmlformats.org/officeDocument/2006/relationships/notesSlide" Target="/ppt/notesSlides/notesSlide3.xml" Id="R988ec1acea1448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fef0ce301492a" /><Relationship Type="http://schemas.openxmlformats.org/officeDocument/2006/relationships/notesSlide" Target="/ppt/notesSlides/notesSlide4.xml" Id="Recef715e2a014c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61dcfe164c7e" /><Relationship Type="http://schemas.openxmlformats.org/officeDocument/2006/relationships/notesSlide" Target="/ppt/notesSlides/notesSlide5.xml" Id="R9fb85aa9bae749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2177557444ad4" /><Relationship Type="http://schemas.openxmlformats.org/officeDocument/2006/relationships/notesSlide" Target="/ppt/notesSlides/notesSlide6.xml" Id="R171ed6d3a08d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fe45e2cb24503" /><Relationship Type="http://schemas.openxmlformats.org/officeDocument/2006/relationships/notesSlide" Target="/ppt/notesSlides/notesSlide7.xml" Id="R3bdcef31bd7240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88c3923d8453d" /><Relationship Type="http://schemas.openxmlformats.org/officeDocument/2006/relationships/notesSlide" Target="/ppt/notesSlides/notesSlide8.xml" Id="R1828b38ab90a40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ada92b80448a5" /><Relationship Type="http://schemas.openxmlformats.org/officeDocument/2006/relationships/image" Target="/ppt/media/image3.png" Id="Ra3f598556f1e4720" /><Relationship Type="http://schemas.openxmlformats.org/officeDocument/2006/relationships/notesSlide" Target="/ppt/notesSlides/notesSlide9.xml" Id="R41401241ca71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EF83A-21E2-4D46-B0E0-58E9C5B0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702solver 多 Agent 共享记忆诊断系统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111A7-30A0-4380-B88E-3A869450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41BB3-42C3-411E-9C98-427F1B50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F61A6-5489-42D4-94DE-098FB21C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35F1C-2930-4E88-8297-8F7045F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结构化协议 + 384 维状态传递 + SQLite/FAISS 共享记忆 | full24 / 24 题 / deepseek-chat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85992-B6C8-44BA-BA26-212EECCF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85950"/>
            <a:ext cx="11563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3F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42E32-C44A-43D6-9311-C57033D6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D97"/>
                </a:solidFill>
              </a:defRPr>
            </a:pPr>
            <a:r>
              <a:rPr sz="2400" b="1">
                <a:solidFill>
                  <a:srgbClr val="1F4D97"/>
                </a:solidFill>
              </a:rPr>
              <a:t>作品定位：面向低开销协作的多 Agent 可复用诊断原型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59150-F4BE-4A51-8260-2F764CA2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11239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1430">
            <a:solidFill>
              <a:srgbClr val="D7D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56988-4CE7-4A13-B2D8-99A9BCFF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D5429-9246-491D-BE81-D0EF3484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主结论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F63DA-2757-4103-8936-E0E3F43D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A46"/>
                </a:solidFill>
              </a:defRPr>
            </a:pPr>
            <a:r>
              <a:rPr sz="2550" b="1">
                <a:solidFill>
                  <a:srgbClr val="168A46"/>
                </a:solidFill>
              </a:rPr>
              <a:t>68.31%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B59F7-0948-432F-861E-88888B6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C 相比纯文本 A 的 token 节省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1D5F1-EDBB-44E9-AC43-7F73F5F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BBBE-B912-4D26-8A95-994908F1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质量通过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81E98-A902-4E0E-8014-D663CF1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19C8"/>
                </a:solidFill>
              </a:defRPr>
            </a:pPr>
            <a:r>
              <a:rPr sz="2550" b="1">
                <a:solidFill>
                  <a:srgbClr val="0019C8"/>
                </a:solidFill>
              </a:rPr>
              <a:t>24/24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A7BCE-C606-4764-AF10-262723B1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同一 full24 任务集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686E9-AFA3-42E3-96B0-73615516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B8465-F331-4561-BE5B-DE96452D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API 调用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5960D-0090-4C67-AF8C-EB5CB8A3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6B00"/>
                </a:solidFill>
              </a:defRPr>
            </a:pPr>
            <a:r>
              <a:rPr sz="2550" b="1">
                <a:solidFill>
                  <a:srgbClr val="C76B00"/>
                </a:solidFill>
              </a:rPr>
              <a:t>52 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C4409-40C0-4548-9959-968759F7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为 72 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B8969-7EE2-4DB2-BA83-3FD472CA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2AD36-5029-4777-97B0-DD445731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99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总耗时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4B2B4-4075-473A-B68C-2393A9A9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D97"/>
                </a:solidFill>
              </a:defRPr>
            </a:pPr>
            <a:r>
              <a:rPr sz="2550" b="1">
                <a:solidFill>
                  <a:srgbClr val="1F4D97"/>
                </a:solidFill>
              </a:rPr>
              <a:t>208.5s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CC677-CF43-4279-9032-06CF8F31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A 为 928.1s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BF859-B48B-41F3-90CB-FD636C7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正式主数据来自 v0.11.2 full24 控制变量实验；实时演示截图作为运行过程佐证，单次运行数值可波动。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A683E-05FD-4C3D-9A5A-A4A0E049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D97"/>
                </a:solidFill>
              </a:defRPr>
            </a:pPr>
            <a:r>
              <a:rPr sz="1800" b="1">
                <a:solidFill>
                  <a:srgbClr val="1F4D97"/>
                </a:solidFill>
              </a:rPr>
              <a:t>交付形态：源码仓库 · Qt 实时演示 EXE · full24 实验报告 · 作品介绍 PPT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D196E5-C8F0-4A2C-8C62-076D5CF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01</a:t>
            </a:r>
          </a:p>
        </p:txBody>
      </p:sp>
    </p:spTree>
    <p:extLst>
      <p:ext uri="{BB962C8B-B14F-4D97-AF65-F5344CB8AC3E}">
        <p14:creationId xmlns:p14="http://schemas.microsoft.com/office/powerpoint/2010/main" val="316303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A9BD4E-23CD-4899-858B-E350512D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预期战略性成果：多 Agent 低开销协同诊断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D2D47-79A3-4F61-A768-82CAC407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AE839-504A-4E42-A67C-86E73B52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4CFAC-D5F5-4B0F-88F6-E3A526BE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D879F-A1CF-485C-9314-B21AF8A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13. 面向共享记忆的多 Agent 协作效率优化系统及示范应用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8C655-3E6A-4AE1-BE16-D4CA1F89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192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C258F-4F00-49A7-A681-FD786685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335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B9429-1F79-44B9-9EC3-C122C55A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5E3A2-3C2C-4227-A7A4-7ED500E1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95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4BE01-C36E-40C5-91ED-FFFB8F0D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860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多 Agent 协作中长文本转述造成 token 浪费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1E27A-D339-49F2-97D2-9C5B13D7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14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6F8AA-7ACC-4295-8D25-6536E0E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相似任务反复规划、检索、总结，历史经验难复用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2015-9BD7-48A6-A2D2-EA10D5D2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3CB22-58F5-4A53-BE53-79578F98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24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录屏/答辩需要逐题显示成本、策略和质量指标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03DB6-3040-4E5A-8D8D-30E6BD2A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192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0E1D0-3060-444E-B8D3-10E81C91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335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C95DC-047E-4CFC-9C66-77B0C3C8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812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基线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2137F-573B-485D-937B-6FDC353A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95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8549C-7930-4B29-A5D6-F864065E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860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A 纯文本：95,377 token，72 次 API，928.1s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EFFC9-03A9-4F62-9C6A-1C3B7283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14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18108-46D8-417F-AB89-B5FF8FC7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05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B 无缓存：49,540 token，75 次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220FC-E341-4359-9A49-78D7EAB5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A36D0-77EF-4A63-9CC6-03A7BE9B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24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三组对照使用同一 full24、同一 deepseek-chat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70062-7224-426D-B19E-2B8CB748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192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C8F57-9DFE-43FD-BC30-15C3ADC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335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82FC9-90BC-426F-B5DC-2F88C93B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9812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成果及形态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864FE-65B4-4EFE-A91B-F30EBEE8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95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1EEA9-1C4E-48F3-8805-A79454A6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860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Orchestrator + 四 Agent 协同流水线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3C276-3B11-4CA3-B54F-42AC5DF1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14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0B37E-E953-4830-98AF-E7F91DE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05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结构化协议、状态总线、共享记忆库已实现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BD8823-40AD-47A3-AF01-4E71A3A2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33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00ADCA-C07C-4566-AD3E-65F80CC6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24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Qt 控制台支持 24 题实时运行和文件展示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0D211D-9EB1-43E1-89FA-09E4635B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957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71C338-4B2E-4637-8AFE-0841FFED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100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812B4-DFC0-41F6-8BA8-80111B3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577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突破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02D80B-3FC2-458B-8CD5-0760DCCC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972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D8FA96-D952-4A0B-A32E-2972226A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MessagePack 短字段替代自然语言长消息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5A366C-044B-4E14-97FD-315C314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391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A3CCCE-A56B-4F95-901D-4A8C85F9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384 维向量状态包直接参与 FAISS 检索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4DDDD4-AD65-4A96-A3C1-BDD1055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810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DAC213-BC0A-4C94-B492-2535449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00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E2E / 模板 / Dropout 三级复用降低调用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7D70D6-7541-459C-A22D-6B2F7CBE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957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446A30-ABCA-47EB-AC53-86B5988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100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2985CE-C6E6-4A61-8373-6D6175CF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577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F99346-7F6D-4DE9-BCC4-C0CFE367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972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CFC77E-DE7F-4DFC-BFFA-E3932227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9625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C：30,221 token，52 次 API，208.5s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971FDA-07DE-4F20-A529-A72793D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391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CC34DF-819A-471D-8444-58DAB8A9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381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C vs A：token 节省 68.31%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2597AE-A223-490E-A5C4-974AA652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810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44B962-9211-4AD2-ABD0-718CEB34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800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质量 24/24；对抗题误用 E2E 0/6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9BFE43-6C7E-4E7C-B409-7F5F6BC3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95775"/>
            <a:ext cx="3733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D9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84C58C-8C30-4CA7-B3B1-D07DE16C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10075"/>
            <a:ext cx="242887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203D43-4F54-45C0-A75F-3D4CFEE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57700"/>
            <a:ext cx="2200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成效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611A61-241B-4D51-B25A-22827EDB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72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4D5C39-202B-41FC-B020-9F17D62A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625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把“少调 AI”变成可测指标和可演示过程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EE0172-24F8-493E-BB4D-71BC46E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911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30E18C-11BB-45F6-97DF-F80AE05A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3816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保留每题策略：FULL_GEN / TEMPLATE / E2E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3F9B09-5FB2-4317-9492-E0CE220B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8102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B909D7-EF33-430E-B8D8-58B3DDB1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800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适合作为工业软件诊断知识图谱的技术底座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BC65FC-271C-4B59-8138-FD026E4E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02</a:t>
            </a:r>
          </a:p>
        </p:txBody>
      </p:sp>
    </p:spTree>
    <p:extLst>
      <p:ext uri="{BB962C8B-B14F-4D97-AF65-F5344CB8AC3E}">
        <p14:creationId xmlns:p14="http://schemas.microsoft.com/office/powerpoint/2010/main" val="1117308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C19C14-59E0-4BC4-BC7D-6028664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方向：共享记忆驱动的多 Agent 诊断与知识复用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B00DA-B056-472D-AC78-B4CE6AB4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FF86B-0F51-4B88-8606-CFFF2AA7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C6477-5790-47B8-A78E-B926B777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ABE2F-3CEB-45CC-9610-17ACF0F5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战略性成果：面向低 token 成本的结构化 Agent 协作系统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1C36B-4A28-4343-9798-F1866914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47850"/>
            <a:ext cx="11563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3F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1AC8E-55E7-4C2A-9C4A-902BB365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D97"/>
                </a:solidFill>
              </a:defRPr>
            </a:pPr>
            <a:r>
              <a:rPr sz="2400" b="1">
                <a:solidFill>
                  <a:srgbClr val="1F4D97"/>
                </a:solidFill>
              </a:rPr>
              <a:t>指南：关键技术体系与工程化示范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D0699-A358-476A-ACC5-5E8D620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38400"/>
            <a:ext cx="1200150" cy="1333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15CA5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63210-2E86-4006-B7DF-37DC2961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重要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91D83-DD33-4D1C-BBBA-0817B7CA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67150"/>
            <a:ext cx="1200150" cy="1333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13F75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00F35-DAB8-4E81-B44C-6D1586E0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成果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92E96-8035-40E4-A252-349E4E99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14600"/>
            <a:ext cx="828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11430">
            <a:solidFill>
              <a:srgbClr val="F1F1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C05C8-1AA0-455C-AF30-E40DE34E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336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B3B6B-E3FB-4F4F-A3C2-79CD3D5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面向研究/分析/诊断类任务，解决 Agent 间重复自然语言转述与重复推理问题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5C8BE-0756-4531-B1A4-B14CE51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67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5B716-E153-41EC-86F0-447B4B7A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将每次执行形成的计划、证据、结果沉淀为可检索、可追溯、可复用的结构化记忆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2400B-5A6C-4A73-9ADB-4D588697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0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B1A3B-3020-4888-A149-2426878E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以 full24 控制变量实验验证：不牺牲质量前提下降低 token、API 调用与总耗时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E3C16-F209-4640-A150-50EB0B9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24300"/>
            <a:ext cx="828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11430">
            <a:solidFill>
              <a:srgbClr val="F1F1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648EC-809E-4B53-9A0C-8CAFFC38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052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03D6A-B3E6-4385-A5C8-9B096783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形成结构化协议引擎、向量状态总线、SQLite/FAISS 共享记忆库和 Qt 演示工具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37975-14E6-44AD-9326-445DBF87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386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1A7FF-383C-4697-8AA7-262770B7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正式 full24：C 模式 30,221 token、52 次 API、质量 24/24、对抗误用 0/6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12691-AB1E-43B8-A937-B0EB3F90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72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60033-4162-4432-BF5B-D49181F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0D17"/>
                </a:solidFill>
              </a:defRPr>
            </a:pPr>
            <a:r>
              <a:rPr sz="1500" b="0">
                <a:solidFill>
                  <a:srgbClr val="070D17"/>
                </a:solidFill>
              </a:rPr>
              <a:t>支撑后续工业软件故障诊断场景：故障报告输入 → Agent 诊断 → 知识自动沉淀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b6c30e3f24bb1"/>
          <a:srcRect xmlns:a="http://schemas.openxmlformats.org/drawingml/2006/main" l="7679" t="0" r="76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63150" y="2686050"/>
            <a:ext cx="1809750" cy="1143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cbdb9741b4029"/>
          <a:srcRect xmlns:a="http://schemas.openxmlformats.org/drawingml/2006/main" l="0" t="4711" r="0" b="47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63150" y="4114800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6F986-87E1-42CF-B990-0163BFD5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FC1C4D-5ACC-445A-849F-B73B723D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典型场景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3AF9A9-D9BD-4F78-A6BD-FEF380E4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工业软件故障诊断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研究分析与安全审查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8C360-AB10-48D6-8818-A9AC2755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BF1ACF-31BC-4DD3-9FF0-86911C6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存在瓶颈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054AC-FD77-42CF-878D-1A96EBE0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长 prompt 转述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历史经验难复用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06188A-5355-4578-8712-BDA33049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140FFB-B0A4-406F-B69A-25E9ACC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技术难题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33F7D6-49D6-470E-928F-734622AE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状态压缩传递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安全缓存复用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7CE92E-0480-4ED8-9409-E9936993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626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EF6B1B-69CF-412D-ADCD-7FE40480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57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有关基础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072599-E535-4A86-8B01-B6C88467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245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702solver v0.11.2</a:t>
            </a:r>
          </a:p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full24 实验体系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4B1DB5-BD49-4A64-A9F1-52754B19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03</a:t>
            </a:r>
          </a:p>
        </p:txBody>
      </p:sp>
    </p:spTree>
    <p:extLst>
      <p:ext uri="{BB962C8B-B14F-4D97-AF65-F5344CB8AC3E}">
        <p14:creationId xmlns:p14="http://schemas.microsoft.com/office/powerpoint/2010/main" val="1853261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B767C1-2E7B-473B-8824-8409639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方向：多 Agent 低开销协作关键技术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08DC3-FBF4-4649-9053-900885BF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14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17"/>
                </a:solidFill>
              </a:defRPr>
            </a:pPr>
            <a:r>
              <a:rPr sz="2550" b="1">
                <a:solidFill>
                  <a:srgbClr val="070D17"/>
                </a:solidFill>
              </a:rPr>
              <a:t>□  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AC8A1-0BE0-4BF1-9C13-EAAA26F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71650"/>
            <a:ext cx="11620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11430">
            <a:solidFill>
              <a:srgbClr val="D7D7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E7174-C9A3-4D6D-945A-9855FC31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4A16E-7E07-4C9C-8F2E-64DCB9CE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 Agent 协作的 MessagePack 结构化协议与调度路由机制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FC239-6911-4071-BA46-A9901CFD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B39AE-5FC9-4460-A09F-5EF99914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面向非文本状态交换的 384 维向量包生成、传递、消费与融合机制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F7124-9D85-44DE-947E-081928C9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03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00A77-9AE6-404C-B729-B60EA40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基于 SQLite 元数据 + FAISS 向量索引的共享记忆存储与三路检索机制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A4774-0270-448F-8AF3-DA8C5595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6A162-EF18-4A5D-B35E-8CA9297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面向相似任务的 E2E 复用、领域计划注入、模板填空与 Executor Dropout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21A82-7D24-4B33-9454-A0725F2A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48C2C-BDD2-47B6-90D1-46482793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0D17"/>
                </a:solidFill>
              </a:defRPr>
            </a:pPr>
            <a:r>
              <a:rPr sz="1650" b="0">
                <a:solidFill>
                  <a:srgbClr val="070D17"/>
                </a:solidFill>
              </a:rPr>
              <a:t>面向错误复用风险的意图门控、SafeSieve 模板反馈与对抗题验证框架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CB556-6177-42C9-A0AD-9C2095C7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0D17"/>
                </a:solidFill>
              </a:defRPr>
            </a:pPr>
            <a:r>
              <a:rPr sz="2550" b="1">
                <a:solidFill>
                  <a:srgbClr val="070D17"/>
                </a:solidFill>
              </a:rPr>
              <a:t>□  技术指标对比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E426D-BEBF-4720-8B38-4EA6D75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0AB01-6FB9-4D25-9D06-AD8AD38B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技术指标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6F6AE-09A1-4217-B6C4-92CC31B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00550"/>
            <a:ext cx="2905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EDD6A-430B-48B1-89E7-119AC4B6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57700"/>
            <a:ext cx="2752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基线做法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2A251-26BA-47A8-970C-ED3DA04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00550"/>
            <a:ext cx="3095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A9C15-999A-477D-8D20-BDD895F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57700"/>
            <a:ext cx="2943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本系统实现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AD22A-F625-461A-9555-45E7B995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28E62-BB25-4C09-AD73-5A5B3A95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验证结果 / 考核指标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8BF8A-0A03-473F-954C-E284F48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8799F5-BEFB-43EA-B523-BB77F14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0D17"/>
                </a:solidFill>
              </a:defRPr>
            </a:pPr>
            <a:r>
              <a:rPr sz="1275" b="1">
                <a:solidFill>
                  <a:srgbClr val="070D17"/>
                </a:solidFill>
              </a:rPr>
              <a:t>通信 token 开销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FD868-A8F0-459C-852D-C4067F9B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196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1E93D-D663-4453-8833-A12DC5CD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76800"/>
            <a:ext cx="275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A 纯文本长 prompt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无记忆、无协议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19213-1156-45CD-8E0C-A0CFCE7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19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8AB2B-37AD-47FD-BA00-47AE67BC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76800"/>
            <a:ext cx="2943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MessagePack 短字段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结构化 action/params/result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7D973-8F39-458A-BFE8-DD8A1F52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196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1CC12-DE9D-4E17-A073-FDCE9585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B vs A 节省 48.06%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95,377 → 49,540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278B4-63E8-4BCA-BB8B-8E26D4E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AAFF31-7D08-43F2-A461-F6AAAE04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0D17"/>
                </a:solidFill>
              </a:defRPr>
            </a:pPr>
            <a:r>
              <a:rPr sz="1275" b="1">
                <a:solidFill>
                  <a:srgbClr val="070D17"/>
                </a:solidFill>
              </a:rPr>
              <a:t>跨任务知识复用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9B37AE-ED2C-4DA3-B6FD-AF31C193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721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E131E-AD9B-4A84-B0B1-C9A43447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29250"/>
            <a:ext cx="275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每题从零规划检索总结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历史经验难沉淀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78746B-4A49-4F00-A529-CAD59C7E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372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E0A0D-ECF5-46D6-A7C5-837EAFE6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29250"/>
            <a:ext cx="2943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E2E + 领域计划 + 模板填空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SQLite/FAISS 共享记忆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D503C5-6971-4ADD-BBCF-27BC07B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72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970B3D-009C-433D-B398-5EEB257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C vs B 节省 39.0%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Dropout 命中 16 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F155D9-27D9-4477-817D-D20EA3F7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3851D6-76D1-4E7C-AC91-03298DB4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0D17"/>
                </a:solidFill>
              </a:defRPr>
            </a:pPr>
            <a:r>
              <a:rPr sz="1275" b="1">
                <a:solidFill>
                  <a:srgbClr val="070D17"/>
                </a:solidFill>
              </a:rPr>
              <a:t>质量与安全边界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2FD7E5-C914-4B61-B120-C732A757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245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551C86-95D1-479B-ACF6-A16719E8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81700"/>
            <a:ext cx="2752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缓存易跨意图误用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缺少对抗验证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F1A237-5982-4B41-B546-9FE1E0EB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24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1BE182-601F-4CA5-AD54-6B96CD1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81700"/>
            <a:ext cx="2943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意图门控 + no-e2e-cache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SafeSieve 反馈降权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8915F2-D6ED-464F-BB3E-ECBA1C2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245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5EC369-1095-495E-87B8-4B484A1A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817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质量 24/24</a:t>
            </a:r>
          </a:p>
          <a:p xmlns:a="http://schemas.openxmlformats.org/drawingml/2006/main">
            <a:pPr algn="ctr">
              <a:defRPr sz="1275" b="0">
                <a:solidFill>
                  <a:srgbClr val="070D17"/>
                </a:solidFill>
              </a:defRPr>
            </a:pPr>
            <a:r>
              <a:rPr sz="1275" b="0">
                <a:solidFill>
                  <a:srgbClr val="070D17"/>
                </a:solidFill>
              </a:rPr>
              <a:t>对抗误用 0/6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D397EC-8909-42B2-8D92-39A6F28D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11620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D77E75-5EC6-47B8-BF9F-381B66A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04</a:t>
            </a:r>
          </a:p>
        </p:txBody>
      </p:sp>
    </p:spTree>
    <p:extLst>
      <p:ext uri="{BB962C8B-B14F-4D97-AF65-F5344CB8AC3E}">
        <p14:creationId xmlns:p14="http://schemas.microsoft.com/office/powerpoint/2010/main" val="407602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0917555-AABF-4CAD-8E76-5AE80AAE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full24 任务集：三领域、三层题型的控制变量实验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1C559-A9C3-4EBE-9D9D-AE2C7D5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08A3A-BF59-44B8-ABFE-45451D93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472A6-512B-419F-BC05-2408220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BA221-FE1B-43C8-A28F-19A1A6F8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实验目的：用同一 24 题集合同时验证成本下降、跨任务复用与错误复用防护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3F207-BAEA-488B-A2B2-13C9F6C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47850"/>
            <a:ext cx="11563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3F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51AD5-940E-4D97-93FD-9EDDD078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D97"/>
                </a:solidFill>
              </a:defRPr>
            </a:pPr>
            <a:r>
              <a:rPr sz="2400" b="1">
                <a:solidFill>
                  <a:srgbClr val="1F4D97"/>
                </a:solidFill>
              </a:rPr>
              <a:t>题库结构：core12 基础题 + extended6 扩展题 + adversarial6 对抗题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F1B69-9B9F-480E-8DB0-88A5B961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638550" cy="3676650"/>
          </a:xfrm>
          <a:prstGeom xmlns:a="http://schemas.openxmlformats.org/drawingml/2006/main" prst="roundRect">
            <a:avLst>
              <a:gd name="adj" fmla="val 1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BC16A-DEFD-42C9-B464-ABDD8A8F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638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46"/>
          </a:solidFill>
          <a:ln xmlns:a="http://schemas.openxmlformats.org/drawingml/2006/main" w="0">
            <a:solidFill>
              <a:srgbClr val="168A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6A7BD-C9FA-485D-86A5-EFEF39F1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8A46"/>
                </a:solidFill>
              </a:defRPr>
            </a:pPr>
            <a:r>
              <a:rPr sz="1650" b="1">
                <a:solidFill>
                  <a:srgbClr val="168A46"/>
                </a:solidFill>
              </a:rPr>
              <a:t>能源 Energy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3212-4C16-4A77-803D-E81F8F2E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29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9DE"/>
          </a:solidFill>
          <a:ln xmlns:a="http://schemas.openxmlformats.org/drawingml/2006/main" w="0">
            <a:solidFill>
              <a:srgbClr val="BFC9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617D7-7C5A-4342-8E49-EDAABB20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B7AC3-0745-4955-BE6E-7BD7EC82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2B5CC-C28E-410B-BF0B-97852125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D8A68-57D9-43D3-A9BE-C9617FE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e1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CD5A7-C71F-4335-ACF8-E3E9F65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575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光伏基础：类型/效率/成本/环境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5A94B-A9E8-460B-B914-3773848E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1868C-417E-4E59-8C6F-3501D3B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52923-A408-49E2-9EFC-BAC3210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702B5-4F3B-4025-B0A6-A8B5C27E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e2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B397B-DCAB-4D1E-9ECF-8BFD9C50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9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先进光伏：钙钛矿/双面/CSP/BIPV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D9A17-32BB-4686-B9B0-ADB9219A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73A76-4F73-4699-A550-299FD7A3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F382D-DD5F-42F8-86C6-3CF2B5E1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CFD03-94FA-4142-9614-495FC4A2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e3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751E33-FACE-4D65-BCE8-5791C9D4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风电技术：陆上/海上/叶片/机型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C502E-2C94-4796-94E1-23D759E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CEE90-8CCA-4741-9E50-A98BDCA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B9214-80E1-418D-9F69-29BC985C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F587E8-CBEE-4088-BAA6-5DB0BEED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e4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80EAB-B236-4B84-8233-9412C781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148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光伏 vs 风电：LCOE/土地/并网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72344-8909-4D1A-A0DD-713D0108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792BF9-C3F8-428F-9E09-6A3E28F7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DFC583-AAC4-42F6-B117-ADAA7AE0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83FE1-985D-4DF6-9D18-E44A9FF4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e5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501A5A-A146-4F98-B5D3-1DB6C74E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水电与抽蓄：调峰/效率/环境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28D51A-ECAD-4794-9E3F-4C4300A8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5C4AD-E78E-4DF3-A445-E455485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57979B-D51B-4217-BD88-0DA1E9AB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746749-A75C-4CFA-8E96-7CD3782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e6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2B3B04-58FB-41A9-92FB-9EE2B111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96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高比例新能源并网：弃电/频率/储能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99ADDE-5C60-409C-AF2D-8D4CA5BB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52A962-8BBF-411E-9F33-6F0C2F18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926767-E459-414F-A603-F170823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255EFC-F788-4E67-800F-00FE5C3C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x1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2B98C4-D042-4162-8C0D-8BFE4B8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只谈光伏政策，禁止技术细节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888D54-E52D-4F03-B8EE-872720D5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864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ECE032-068A-4F70-9668-29BB0B2B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33F7D5-2452-4E31-B8AE-3C79B490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A516A4-A9FE-46A2-96B0-19FF18EC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46"/>
                </a:solidFill>
              </a:defRPr>
            </a:pPr>
            <a:r>
              <a:rPr sz="1050" b="1">
                <a:solidFill>
                  <a:srgbClr val="168A46"/>
                </a:solidFill>
              </a:rPr>
              <a:t>x2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9648BD-89C5-4E4C-82C7-A6A3E7F5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245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只谈海风经济，禁止发电机技术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CE664F-FBC2-40A2-9294-C7774484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90800"/>
            <a:ext cx="3638550" cy="3676650"/>
          </a:xfrm>
          <a:prstGeom xmlns:a="http://schemas.openxmlformats.org/drawingml/2006/main" prst="roundRect">
            <a:avLst>
              <a:gd name="adj" fmla="val 1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6B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6F13CE-0819-4A61-B775-0FF66752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90800"/>
            <a:ext cx="3638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92F4D8-5E72-4F2D-9DA7-4139E0EC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813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6B00"/>
                </a:solidFill>
              </a:defRPr>
            </a:pPr>
            <a:r>
              <a:rPr sz="1650" b="1">
                <a:solidFill>
                  <a:srgbClr val="C76B00"/>
                </a:solidFill>
              </a:rPr>
              <a:t>安全 Security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D2A563-4DCD-4BF7-AD17-34C067BC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43250"/>
            <a:ext cx="329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9DE"/>
          </a:solidFill>
          <a:ln xmlns:a="http://schemas.openxmlformats.org/drawingml/2006/main" w="0">
            <a:solidFill>
              <a:srgbClr val="BFC9D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7D34F0-55C5-4810-BD3C-49D02F36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47E2CA-9E9E-42E8-835F-736D3668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9565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000386-FFFF-44F9-B7CF-F69E4685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051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C5A7EC-BB68-4846-8CD6-65CAD3B5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67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26B476-59C8-43A9-BCBB-FBF72AB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575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Python 漏洞：注入/凭据/路径/反序列化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269F35-F4F3-4517-816B-7C5E1D68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718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950D2D-3172-4B3C-9DFD-67E44292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4807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16B2E5-B1DB-405C-9CD1-760512D7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57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CF4DD3-EC6F-40EE-9754-17A666E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619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7A2E0E-18E6-42B4-BD04-2B46E9DE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09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Web 安全审计：CSRF/JWT/CORS/OAuth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BEBE35-A540-42A9-BBF0-84213AD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243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1AF6D5-AE5F-49F1-B8E8-D6774C28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0050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F7341A-916E-4181-9FBC-6352F6A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1002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12E97F-68BC-4D89-B393-DCE4AA0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971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FE876D-D7C3-4156-82FD-EB33F6A0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62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Python 漏洞变体：检验整题复用能力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6022B29-6430-4518-A6DF-20E1944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767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E5DF11-601D-4F4B-8254-B411CC3B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5292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811F9A8-B30F-41F8-9142-A89E881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624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DA73BA-5F7C-45BC-89D4-FF30D4B3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24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9C1189-358F-40E9-8499-105DECFA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148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代码审查清单：认证/会话/上传/依赖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9221A5-C445-4323-B78C-7C9842B5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291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4F914B-B2F8-4766-B9C1-E2FC75EC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0535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E814C2-86E4-400E-8991-3D098CDE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148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F022A1-44CF-43C8-B63A-C6956C2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676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C02332-6E81-4D88-B988-B304ECE5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67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密钥管理：Vault/轮换/CI 泄漏防护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85A45D4-184A-40BB-9937-D586D0B9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815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EFDBD1-3F75-4C2A-8EB1-2908291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05777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E1DC8D9-3C20-4BBD-9A2D-6E656285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0673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FBDA98-E8A4-4760-8202-1BDB9EF9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29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117D72B-8C8F-4A98-92FE-9551EF9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196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供应链安全：SBOM/签名/投毒包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B7EDF6-EE7C-4FD7-9840-2694FE1F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3340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ACEA2CD-6AE8-4362-957C-A3EF877E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41020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8EA7000-5EBE-49A3-BABF-B2201F2E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41972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27A8B0D-CBFD-41C9-98CA-4E06B944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381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x3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0F4E47D-BAAE-4593-A300-BDCA3C43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3721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只谈 SOC2/ISO27001，禁止漏洞修复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F0BA1A-9AFA-4B8D-8454-DFF66C7E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6864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93E601A-2FF9-49C2-B2FB-A664EC9D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76262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C5D164-2C2D-494D-8266-44A75A99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772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D3C451-620B-4A14-A024-90E80D37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734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x4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AB1905-C454-4294-9CF2-41D6343A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7245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只谈 TLS 加固，禁止 CSRF/JWT/OAuth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9D64C2-A527-43F7-BBCB-84EF53F5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638550" cy="3676650"/>
          </a:xfrm>
          <a:prstGeom xmlns:a="http://schemas.openxmlformats.org/drawingml/2006/main" prst="roundRect">
            <a:avLst>
              <a:gd name="adj" fmla="val 1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D9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1D45E6-8FB9-4EB2-AD9A-D3755E58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638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5462F23-48AA-42CB-A86C-09E1E7EB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数据库 Database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6D5B0AC-8256-4968-B683-33749D3A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29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9DE"/>
          </a:solidFill>
          <a:ln xmlns:a="http://schemas.openxmlformats.org/drawingml/2006/main" w="0">
            <a:solidFill>
              <a:srgbClr val="BFC9D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6D7678A-6F2F-4C6F-9F39-5D23982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7DAEB18-0F0D-4EBC-840D-7C3696C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DD7637B-8D86-47CB-A9D6-F1F25449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051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5B6BA9-5124-4257-B9E9-7EF597BC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67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d1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761268-4C1A-4FFD-8582-E28D0BE3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SQL 优化：索引/执行计划/JOIN/物化视图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F076AF-BB44-4817-AF50-82C0FB56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C4173C9-4823-4189-899A-48383C37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4807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931023-763E-4916-A8A8-F46F435A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576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1002FA-8502-48E6-84E4-C3B845DB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19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d2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FCD5DE7-7679-4319-B5F4-60F7016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9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NoSQL 对比：Redis/MongoDB/Cassandra/Neo4j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7E24CC-9478-4FE3-8E6A-D651A23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0F12ADC-07F0-40DB-B848-7CE6417C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9322D08-75B6-4DFD-8CA5-86A1A4AC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80B5F7B-C5E8-45E0-9A2F-372DC27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71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d3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8FDD28C-7B81-46D3-ACD8-92CBB350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性能调优：连接池/缓存/WAL/分片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344062C-4568-4FA6-BA76-4F1231BF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767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D7378BE-F658-461D-ABBD-00AA8F90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5292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F7CB6B0-D4BD-4C8F-873E-8FF96221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3E2988B-7AE4-4D48-949D-B41B34A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24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d4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C9E3B2F-6514-401A-B926-CCFC73D3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148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数据建模：范式/星型/层级/多模型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9330C63-099A-4062-B364-CCC2EF8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A3F70E4-DD75-41A3-932D-9F14CE9D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2521364-2EC3-4605-9D4B-F2E1A48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148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5D387DA-881D-4444-AB7F-6C79F1F3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76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d5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52C55E1-B5FB-42C2-8C11-1E8EA45C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672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事务隔离：异常/性能/PostgreSQL/MySQL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FE64AF3-A3E6-415E-8EEC-346C80D1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815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EF76F9B-6DB9-4918-BCCE-498619C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5777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8F90903-23C0-4711-91E2-643C1326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673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1B062F9-3A2D-48C4-B422-634E67E0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29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d6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E633E43-2107-4BC6-948A-6703521F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196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备份恢复：PITR/WAL/RPO/RTO/故障切换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A50B035-3581-45A6-B170-1CA657FE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340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D8F3ADD-46BD-4EA0-B58D-66A3005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0200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04A1948-52FD-4029-96D9-B41BA256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972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66FBD54-5EF9-4C7C-A3EA-2AE49E84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81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x5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42271CD-1790-427F-8551-A3081E89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721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只谈零停机迁移，禁止索引选型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4A60932-A378-41C0-A2EE-71E4B61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864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8ACA0FC-72C4-40D7-B087-EB88963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62625"/>
            <a:ext cx="381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B8EB41A-2F46-4F0A-8A6F-1D7FE510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72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6E8A444-C4D7-41ED-A350-53F17F73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34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4D97"/>
                </a:solidFill>
              </a:defRPr>
            </a:pPr>
            <a:r>
              <a:rPr sz="1050" b="1">
                <a:solidFill>
                  <a:srgbClr val="1F4D97"/>
                </a:solidFill>
              </a:rPr>
              <a:t>x6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4DBDBC6-E5E6-4AF6-9522-30146CF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245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0D17"/>
                </a:solidFill>
              </a:defRPr>
            </a:pPr>
            <a:r>
              <a:rPr sz="975" b="0">
                <a:solidFill>
                  <a:srgbClr val="070D17"/>
                </a:solidFill>
              </a:rPr>
              <a:t>只谈 CAP/PACELC，禁止产品对比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AFBC258-4C93-47CE-913B-D4DA3A7B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D97"/>
                </a:solidFill>
              </a:defRPr>
            </a:pPr>
            <a:r>
              <a:rPr sz="1200" b="1">
                <a:solidFill>
                  <a:srgbClr val="1F4D97"/>
                </a:solidFill>
              </a:rPr>
              <a:t>Core：常规能力与跨题记忆复用；Ext：扩展覆盖面；Adv：相似表述但限定不同意图，要求不能误用 E2E 缓存。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FBE1C1A-3C08-454A-A3A9-D616218B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05</a:t>
            </a:r>
          </a:p>
        </p:txBody>
      </p:sp>
    </p:spTree>
    <p:extLst>
      <p:ext uri="{BB962C8B-B14F-4D97-AF65-F5344CB8AC3E}">
        <p14:creationId xmlns:p14="http://schemas.microsoft.com/office/powerpoint/2010/main" val="1065948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36EC8-AE89-4798-BD26-0D37B79E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关键技术一：结构化通信与非文本状态传递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85241-7776-40D6-9DAB-5B5208D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E80C8-8154-4D76-B9EC-997B447A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18EEE-2047-4EB2-9B11-2EFB9464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932D1-B810-4B56-A9F7-2CDFC49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目标：让 Agent 传递机器可解析的动作、参数、向量状态，而不是大段自然语言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719E6-173D-4BD7-8244-EC9694A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6BBDC-17EC-46D9-80B3-91E72C8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E9E9E-7877-41BE-9B6C-F788997D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结构化消息模型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93CB9-AEF5-476A-9D9F-B7AFCE25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124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核心字段：类型、动作、参数、结果、能力、状态向量、记忆引用。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编码方式：短字段映射 h/a/s/p；MessagePack 二进制序列化。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作用：把自然语言转述变成可路由、可统计、可压缩的协议消息。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A1148-2A8B-4855-9246-D458F20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8ED70-CDC3-4600-BDDA-EC6BE1C5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0">
            <a:solidFill>
              <a:srgbClr val="213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12FFD-1E5C-4F55-A5F0-A35A0EC0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3F75"/>
                </a:solidFill>
              </a:defRPr>
            </a:pPr>
            <a:r>
              <a:rPr sz="1650" b="1">
                <a:solidFill>
                  <a:srgbClr val="213F75"/>
                </a:solidFill>
              </a:rPr>
              <a:t>协议调度层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42DAB-C7A6-4C55-A373-7AF81E8E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3124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握手：Agent 注册角色与能力。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路由：按 action 查找可执行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统计：记录消息历史、结构化 token 与文本等价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实现：调度器、消息总线、注册表三层协作。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6EAA0-3E7B-4DE5-B5BD-91A7F84A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40C7B-46E2-445D-8052-EB8DA7B9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46"/>
          </a:solidFill>
          <a:ln xmlns:a="http://schemas.openxmlformats.org/drawingml/2006/main" w="0">
            <a:solidFill>
              <a:srgbClr val="168A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E088C-0C20-4A47-AC46-71C4593F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46"/>
                </a:solidFill>
              </a:defRPr>
            </a:pPr>
            <a:r>
              <a:rPr sz="1650" b="1">
                <a:solidFill>
                  <a:srgbClr val="168A46"/>
                </a:solidFill>
              </a:rPr>
              <a:t>向量状态总线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B0FFE-30D9-4F8E-B894-85BEBCE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3124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状态编码：把计划、检索、执行结果压缩成 384 维语义向量。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传递：上游写入 StatePacket，下游按 agent_id 拉取并消费。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用途：直接进入 FAISS 检索，减少“文本→再编码”往返。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037A5-88A5-4D1F-B0F3-374F655B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D97"/>
                </a:solidFill>
              </a:defRPr>
            </a:pPr>
            <a:r>
              <a:rPr sz="1500" b="1">
                <a:solidFill>
                  <a:srgbClr val="1F4D97"/>
                </a:solidFill>
              </a:rPr>
              <a:t>对应代码：src/protocol/__init__.py、src/protocol/scheduler.py、src/state/embeddings.py、src/state/exchange.py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F1B02-CD72-4709-8A07-933FFCB6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06</a:t>
            </a:r>
          </a:p>
        </p:txBody>
      </p:sp>
    </p:spTree>
    <p:extLst>
      <p:ext uri="{BB962C8B-B14F-4D97-AF65-F5344CB8AC3E}">
        <p14:creationId xmlns:p14="http://schemas.microsoft.com/office/powerpoint/2010/main" val="807869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C7988B-7714-4417-B2F5-651548E7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关键技术二：共享记忆与三级复用管道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17839-5033-42B0-9917-124D15D5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9FE4E-4963-4A21-A9B9-82F40823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6B055-4171-4392-B993-DED9A660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490F7-F2DE-498C-A09B-7758275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目标：把每次任务经验沉淀为可检索、可追溯、可复用的结构化记忆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0F96C-C9AC-4F56-80DE-E392CECA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3810000" cy="356235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D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3B0A7-F754-4FE2-BA69-9AEDFF16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5527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0AAAC-CFCD-4771-B4A0-01AD750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5742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MemoryUnit 记忆单元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8B319-3C49-4591-BA86-0B34D75F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D79C9-2B2A-402A-9914-1E66968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17 个字段：摘要、JSON 正文、标签、向量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7B09B-13EE-4C8E-9D17-2B1DB839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16E81-E127-4277-9EA3-2A13E257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证据链：记录上游计划、检索与执行来源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DA406-283A-4557-BCAA-9DD59A49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7E00E-676A-4528-80A7-FA747725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记忆类型：结果、策略、证据、事实、错误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3A5E0-7040-421A-BD48-5B6B78B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4AF8D-9CAA-45E6-A4FC-35BC482D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抽象层级：具体实例、领域模板、通用原则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7A799-2A62-4C0A-8D21-77EECB8E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333750" cy="35623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D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8619D-272B-4A0A-8FBC-C358167B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2190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DE8A6-D551-4059-979E-52A75BFE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5742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MemoryStore 双引擎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AFD8C-61A2-4A53-B445-C8EAC044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08F61-D52A-47BA-8A39-768BDF24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SQLite：元数据、标签、访问日志、模板成功率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E1D9C-6694-410C-82DA-B161BBC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673E5-06E6-4CA2-B6FA-D441869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FAISS：384 维向量检索，大规模切 HNSW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368A0-8186-4EE1-9F14-D55C0D2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81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6CAB3-8684-474C-8231-F1F7BBA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三路检索：关键词、标签、语义并行合并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DB25C-ABEC-4076-937B-09109EF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76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F5A47-18D5-409D-A6E8-21C6F52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243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综合效用：相似度 + 访问热度 + 模板成功率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03EB7-38DC-4251-9948-F8D2216F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3714750" cy="356235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D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569008-6E87-4738-822F-71AC0A0B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286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13335">
            <a:solidFill>
              <a:srgbClr val="1F4D9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1FEB83-0C4B-4621-BAD0-C8C9B8ED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三级复用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E97DC-3699-43E1-B5A1-003380B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196233-A15F-4CE8-AB34-A0A09E7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整题复用：相似度 ≥ 0.85，直接返回历史结果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380600-3200-4AA9-987E-B4BABA1B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861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6D5CE-95D0-4D5C-A3B8-BC635341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摘要适配：相似度 ≥ 0.72，复用摘要结构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B26787-A65F-4F56-8DC1-8FC86AA7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814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895953-7681-4A02-BA9A-C20B290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计划注入：相似度 ≥ 0.68，只改差异字段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889D2-2C36-4D58-B510-CB6C46B2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76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0DE531-BD8D-47B6-9CBA-2EA62515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执行跳过：模板分数 ≥ 0.65，省去 Executor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849095-BE95-45E7-B950-3FA34931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46"/>
                </a:solidFill>
              </a:defRPr>
            </a:pPr>
            <a:r>
              <a:rPr sz="1500" b="1">
                <a:solidFill>
                  <a:srgbClr val="168A46"/>
                </a:solidFill>
              </a:rPr>
              <a:t>正式结果：C vs B 节省 39.0%，说明记忆与剪枝相对“结构化无缓存”仍有显著贡献。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0438E2-5888-47BF-B06B-CDFC7FC6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07</a:t>
            </a:r>
          </a:p>
        </p:txBody>
      </p:sp>
    </p:spTree>
    <p:extLst>
      <p:ext uri="{BB962C8B-B14F-4D97-AF65-F5344CB8AC3E}">
        <p14:creationId xmlns:p14="http://schemas.microsoft.com/office/powerpoint/2010/main" val="1508984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BD82B6-C6C0-4EF7-823A-E7969184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关键技术三：安全门控、模板反馈与评估闭环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3363B-7704-44D7-B5C1-0F343753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99FD7-92AA-431B-813D-B8637FE6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38E49-86A1-4B42-AEF4-929B04CA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1638-10A4-408C-81D4-E1524A79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目标：既要复用历史经验，也要防止相似但意图不同的任务套错答案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0A07D-3B04-441A-A2A5-2A33B13E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5242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9B403-9733-4746-B915-B7FA21EA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EE556-D509-4B72-B2E9-BC18FA26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D97"/>
                </a:solidFill>
              </a:defRPr>
            </a:pPr>
            <a:r>
              <a:rPr sz="1650" b="1">
                <a:solidFill>
                  <a:srgbClr val="1F4D97"/>
                </a:solidFill>
              </a:rPr>
              <a:t>意图门控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C513C-8731-465F-8194-3B5E07D5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2194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detect_intent() 区分 compare、policy、compliance、vulnerability、review、analyze、general。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严格意图只能同类型复用；COMPARE / COMPLIANCE / REVIEW 要求 fresh synthesis。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在 E2E、领域计划注入、Summarizer 缓存三个点生效。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8F320-4383-4D21-8E53-6C077F20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FFEB3-2C17-4490-84E2-3F9E99A8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B8E0E-1A9A-4696-B9D2-6E8567F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6B00"/>
                </a:solidFill>
              </a:defRPr>
            </a:pPr>
            <a:r>
              <a:rPr sz="1650" b="1">
                <a:solidFill>
                  <a:srgbClr val="C76B00"/>
                </a:solidFill>
              </a:rPr>
              <a:t>SafeSieve-lite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B98C9-7603-4B5B-8905-F5A35BF9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47950"/>
            <a:ext cx="32194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模板记忆记录 fill_attempts / fill_successes。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effective_similarity() 按历史成功率调整相似度；连续失败且成功率 &lt;25% 时分数 ×0.45。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低质量模板不删除但自动降权，避免错误经验扩散。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FBF5C-6093-4297-B09B-B0E3FAFF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5242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7B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99719-8CC7-4A34-9EE7-856AAB38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46"/>
          </a:solidFill>
          <a:ln xmlns:a="http://schemas.openxmlformats.org/drawingml/2006/main" w="0">
            <a:solidFill>
              <a:srgbClr val="168A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853F5-86B8-4590-9897-B5B375DC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46"/>
                </a:solidFill>
              </a:defRPr>
            </a:pPr>
            <a:r>
              <a:rPr sz="1650" b="1">
                <a:solidFill>
                  <a:srgbClr val="168A46"/>
                </a:solidFill>
              </a:rPr>
              <a:t>评估框架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2587C-12EB-4AB0-8C0B-3599A8A8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32194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MetricsCollector 记录 token、API、消息数、状态传输、记忆命中与耗时。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QualityValidator 做主题覆盖、禁用词、embedding 相关度等检查。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0D17"/>
                </a:solidFill>
              </a:defRPr>
            </a:pPr>
            <a:r>
              <a:rPr sz="1200" b="0">
                <a:solidFill>
                  <a:srgbClr val="070D17"/>
                </a:solidFill>
              </a:rPr>
              <a:t>full24 = core12 + extended6 + adversarial6。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EBE65-8D19-492B-8EA3-D06F8F9F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007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05358-233E-4E6F-82D8-0424B92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578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安全验证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77C3E-2A0B-48E2-9247-8997ABE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00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7EF2D-7162-4A86-8A68-F0E12DC3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57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质量验证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0F1CC-9A45-44CC-A307-01AAD381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00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F8961-515F-4D83-9669-49E1BCBD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57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工程验证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24DD8-9CA7-4AC8-BCB3-7999B17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00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F3608-E846-4427-BBB0-CB3B7EB1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57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演示验证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D1C33-AF33-4D3C-9832-4CF55E46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0007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0724B-3399-4E47-B666-8E61A6A9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579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D17"/>
                </a:solidFill>
              </a:defRPr>
            </a:pPr>
            <a:r>
              <a:rPr sz="1350" b="1">
                <a:solidFill>
                  <a:srgbClr val="070D17"/>
                </a:solidFill>
              </a:rPr>
              <a:t>对抗误用 0/6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E733F-9698-48F5-9A08-6C590AA1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000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E62B6-114B-4479-85AA-0760F191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057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full24 24/24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52CE42-F701-4358-8F35-1CEA59B2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000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B4324-85F5-42A0-950D-472F50B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57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338 项测试覆盖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32049-5E2B-4FC1-8C8C-07E61E1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00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C19C9-5C20-43F8-8EAE-2EA35991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57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0D17"/>
                </a:solidFill>
              </a:defRPr>
            </a:pPr>
            <a:r>
              <a:rPr sz="1350" b="0">
                <a:solidFill>
                  <a:srgbClr val="070D17"/>
                </a:solidFill>
              </a:rPr>
              <a:t>Qt 界面逐题显示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8559A-7A9B-48E3-947A-4C404BCA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007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27107-3792-46D8-A366-2A3B3941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08</a:t>
            </a:r>
          </a:p>
        </p:txBody>
      </p:sp>
    </p:spTree>
    <p:extLst>
      <p:ext uri="{BB962C8B-B14F-4D97-AF65-F5344CB8AC3E}">
        <p14:creationId xmlns:p14="http://schemas.microsoft.com/office/powerpoint/2010/main" val="868665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6BCF17-55DF-4EAB-A83B-2B439292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9C8"/>
                </a:solidFill>
              </a:defRPr>
            </a:pPr>
            <a:r>
              <a:rPr sz="3150" b="1">
                <a:solidFill>
                  <a:srgbClr val="0019C8"/>
                </a:solidFill>
              </a:rPr>
              <a:t>实验验证与实时演示口径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45B17-F408-4422-BC38-5D6C676A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809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4D97"/>
          </a:solidFill>
          <a:ln xmlns:a="http://schemas.openxmlformats.org/drawingml/2006/main" w="0">
            <a:solidFill>
              <a:srgbClr val="1F4D9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D306A-F28E-4984-B982-2870064D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0150"/>
            <a:ext cx="10287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2A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6B418-BB59-4B33-B78C-59F6A62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954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84C5"/>
                </a:solidFill>
              </a:defRPr>
            </a:pPr>
            <a:r>
              <a:rPr sz="1875" b="0">
                <a:solidFill>
                  <a:srgbClr val="6284C5"/>
                </a:solidFill>
              </a:rPr>
              <a:t>▷ ▷ 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1A8A1-E0D3-4BED-9A04-B77B1AFD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85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0D17"/>
                </a:solidFill>
              </a:defRPr>
            </a:pPr>
            <a:r>
              <a:rPr sz="1875" b="1">
                <a:solidFill>
                  <a:srgbClr val="070D17"/>
                </a:solidFill>
              </a:rPr>
              <a:t>录屏建议：先展示 24 题清单，再运行 A 纯文本，最后运行 C 最终方案并解释策略列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598556f1e4720"/>
          <a:stretch xmlns:a="http://schemas.openxmlformats.org/drawingml/2006/main"/>
        </p:blipFill>
        <p:spPr>
          <a:xfrm xmlns:a="http://schemas.openxmlformats.org/drawingml/2006/main">
            <a:off x="400050" y="2104567"/>
            <a:ext cx="5810250" cy="3106066"/>
          </a:xfrm>
          <a:prstGeom xmlns:a="http://schemas.openxmlformats.org/drawingml/2006/main" prst="roundRect">
            <a:avLst>
              <a:gd name="adj" fmla="val 17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C2A6C-90BA-4245-AEF7-FBA9D25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97"/>
                </a:solidFill>
              </a:defRPr>
            </a:pPr>
            <a:r>
              <a:rPr sz="1800" b="1">
                <a:solidFill>
                  <a:srgbClr val="1F4D97"/>
                </a:solidFill>
              </a:rPr>
              <a:t>实时截图口径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6C32F-C681-4338-8E6D-E0DE08A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53D83-50DF-470F-BCDF-130DE0ED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当前阶段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AB29C-6CC3-495E-BABD-9948DC0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19C8"/>
                </a:solidFill>
              </a:defRPr>
            </a:pPr>
            <a:r>
              <a:rPr sz="2550" b="1">
                <a:solidFill>
                  <a:srgbClr val="0019C8"/>
                </a:solidFill>
              </a:rPr>
              <a:t>C (24/24)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D98AE-A2CD-4A55-B93B-7664A112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337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截图中 C 模式完成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9A90C-A261-4652-B494-2ED31230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C9161-EC62-430D-A83D-A1CD4F92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累计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4E4C2-6D00-419B-BE9A-7CC3C823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A46"/>
                </a:solidFill>
              </a:defRPr>
            </a:pPr>
            <a:r>
              <a:rPr sz="2550" b="1">
                <a:solidFill>
                  <a:srgbClr val="168A46"/>
                </a:solidFill>
              </a:rPr>
              <a:t>39,880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80B6F-D756-4DF2-B9CB-795E2B3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DeepSeek usage 实时累计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873CE-87BA-42C1-9B30-F197F26D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1ED40-DE49-46D8-9E2D-D0060BB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累计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B2FCC-B74E-4D20-BCBB-966938B4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6B00"/>
                </a:solidFill>
              </a:defRPr>
            </a:pPr>
            <a:r>
              <a:rPr sz="2550" b="1">
                <a:solidFill>
                  <a:srgbClr val="C76B00"/>
                </a:solidFill>
              </a:rPr>
              <a:t>64 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5E066-9E0E-405E-A189-136D0206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291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截图中的单次运行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CC747-9815-4AEE-8E58-8785AAF0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29025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FC9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51F9E-2C4E-41C7-B562-D23A4FCA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528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568"/>
                </a:solidFill>
              </a:defRPr>
            </a:pPr>
            <a:r>
              <a:rPr sz="1125" b="1">
                <a:solidFill>
                  <a:srgbClr val="4A5568"/>
                </a:solidFill>
              </a:rPr>
              <a:t>C 相比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CB51C-892D-4A75-9616-F9334AD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A46"/>
                </a:solidFill>
              </a:defRPr>
            </a:pPr>
            <a:r>
              <a:rPr sz="2550" b="1">
                <a:solidFill>
                  <a:srgbClr val="168A46"/>
                </a:solidFill>
              </a:rPr>
              <a:t>54.8%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0094E-E39D-49B9-B108-4E7FAB0B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291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实时演示计算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5464A-6075-42C9-B4B6-9F53BB5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97"/>
                </a:solidFill>
              </a:defRPr>
            </a:pPr>
            <a:r>
              <a:rPr sz="1800" b="1">
                <a:solidFill>
                  <a:srgbClr val="1F4D97"/>
                </a:solidFill>
              </a:rPr>
              <a:t>正式实验主表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176CAB-9214-4FC1-9B01-817DACCB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33721-4447-4B42-863C-28DF5040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95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变体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3F187-FF69-41E0-9241-3FCD4B51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8DE35-15CF-4539-897E-9095EE3A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959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36208-64A8-4CC2-83D9-E7FB8230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38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85ADB-D67A-4088-BFA2-6446FBFB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95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8FCF4F-363A-4D3A-9228-BA6992A6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38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900DF1-1350-401B-8C88-6FD5F3E3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959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质量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5B199-7999-4D4F-BD0E-9A518A4B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2387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F75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6F1052-E9FB-4C08-9150-9155E33E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295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耗时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6BB9BF-79C1-45F8-8B4F-96899D2D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BF2932-0FAF-4363-9031-5D5EC47C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0D17"/>
                </a:solidFill>
              </a:defRPr>
            </a:pPr>
            <a:r>
              <a:rPr sz="1050" b="1">
                <a:solidFill>
                  <a:srgbClr val="070D17"/>
                </a:solidFill>
              </a:rPr>
              <a:t>A 纯文本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BB5418-5509-4B73-99CB-CFCC32F6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245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61E685-1616-4279-ACAC-9D38B515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81650"/>
            <a:ext cx="108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95,377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AB012-60DE-42B6-B79B-51975B45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2450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7748B3-52F6-4666-809F-43320AEC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8165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72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EB19C3-FC91-4534-B878-CC918CAC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52450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B01B91-7D00-4A67-902E-063711CD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8165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24/24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A02B7D-335B-486A-8BD9-30BF33C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24500"/>
            <a:ext cx="1104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9C3AA6-0944-4F9F-8530-C7682A33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8165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928.1s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AF8544-C4D5-4003-BA8F-F295C9B0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578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1F4456-A718-464A-BBF1-962136D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1502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0D17"/>
                </a:solidFill>
              </a:defRPr>
            </a:pPr>
            <a:r>
              <a:rPr sz="1050" b="1">
                <a:solidFill>
                  <a:srgbClr val="070D17"/>
                </a:solidFill>
              </a:rPr>
              <a:t>B 无缓存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A7B0F4-E106-4A56-A4D2-62A0E37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57875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98AB5A-1531-4AF8-A1F7-E74B5CA0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15025"/>
            <a:ext cx="108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49,540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5DCB7F-C80B-47EB-8856-2EA50BA8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57875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E34C74-FA95-4381-9A4D-39784BC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150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75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543ACD-1485-47C5-9478-626DE079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857875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DBB931-9EE1-4C41-91DD-6B8B338B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150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24/24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151023-B3F6-4205-964F-ADBBA0A8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857875"/>
            <a:ext cx="1104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402FCC-4826-4A77-A1C6-1BE23598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1502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292.1s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DF59FD-D500-46A5-9829-98B47B7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0C6AA3-AB90-4912-8047-5B75C1D5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2484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0D17"/>
                </a:solidFill>
              </a:defRPr>
            </a:pPr>
            <a:r>
              <a:rPr sz="1050" b="1">
                <a:solidFill>
                  <a:srgbClr val="070D17"/>
                </a:solidFill>
              </a:rPr>
              <a:t>C 最终方案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B5D39F-E7FC-42C6-B7DE-75E43834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912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297446-2DE5-41C4-A03F-58C94410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48400"/>
            <a:ext cx="108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30,221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73E539-63B7-4FF9-9AA0-11ECDBEA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19125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EC6290-0F17-45CA-BF09-6F88EC8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4840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52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A329C3-767B-44F6-8906-AD2DDFA7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191250"/>
            <a:ext cx="95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48EB29-441F-4B6F-ABD2-039248CC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48400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24/24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27B3C2-BDDA-4F67-9530-B5E53902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91250"/>
            <a:ext cx="1104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D163C1-54AC-4225-B26B-56841A8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70D17"/>
                </a:solidFill>
              </a:defRPr>
            </a:pPr>
            <a:r>
              <a:rPr sz="1050" b="0">
                <a:solidFill>
                  <a:srgbClr val="070D17"/>
                </a:solidFill>
              </a:rPr>
              <a:t>208.5s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42D7FE-5414-42AB-99BA-22757A0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6007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36375B-D95C-4D20-8A05-100D1378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D17"/>
                </a:solidFill>
              </a:defRPr>
            </a:pPr>
            <a:r>
              <a:rPr sz="1425" b="1">
                <a:solidFill>
                  <a:srgbClr val="070D17"/>
                </a:solidFill>
              </a:rPr>
              <a:t>正式结论：C vs A token 节省 68.31%；C vs B 节省 39.0%；Executor dropout 命中 16 次。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30CE8D-5FA4-4868-807A-899068E2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技术成果汇报  |  09</a:t>
            </a:r>
          </a:p>
        </p:txBody>
      </p:sp>
    </p:spTree>
    <p:extLst>
      <p:ext uri="{BB962C8B-B14F-4D97-AF65-F5344CB8AC3E}">
        <p14:creationId xmlns:p14="http://schemas.microsoft.com/office/powerpoint/2010/main" val="275197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2026-07-29T06:33:03.0460000Z</dcterms:created>
  <dcterms:modified xsi:type="dcterms:W3CDTF">2026-07-29T06:33:03.0460000Z</dcterms:modified>
</coreProperties>
</file>