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765d05b0924b24" /><Relationship Type="http://schemas.openxmlformats.org/officeDocument/2006/relationships/extended-properties" Target="/docProps/app.xml" Id="Rb714c1529c1347ea" /><Relationship Type="http://schemas.openxmlformats.org/officeDocument/2006/relationships/officeDocument" Target="/ppt/presentation.xml" Id="Rdf20ff13a7da45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a8e24ed96943c4"/>
  </p:sldMasterIdLst>
  <p:notesMasterIdLst>
    <p:notesMasterId xmlns:r="http://schemas.openxmlformats.org/officeDocument/2006/relationships" r:id="R99833e2a81ce43f4"/>
  </p:notesMasterIdLst>
  <p:sldIdLst>
    <p:sldId xmlns:r="http://schemas.openxmlformats.org/officeDocument/2006/relationships" id="256" r:id="R1818dc42f57c4783"/>
    <p:sldId xmlns:r="http://schemas.openxmlformats.org/officeDocument/2006/relationships" id="257" r:id="R3977a49bb33f424a"/>
    <p:sldId xmlns:r="http://schemas.openxmlformats.org/officeDocument/2006/relationships" id="258" r:id="R4962918e98384ce2"/>
    <p:sldId xmlns:r="http://schemas.openxmlformats.org/officeDocument/2006/relationships" id="259" r:id="R6133357901e44d7b"/>
    <p:sldId xmlns:r="http://schemas.openxmlformats.org/officeDocument/2006/relationships" id="260" r:id="R9c5fc3bcd6c249fb"/>
    <p:sldId xmlns:r="http://schemas.openxmlformats.org/officeDocument/2006/relationships" id="261" r:id="Rb80aad1999c54019"/>
    <p:sldId xmlns:r="http://schemas.openxmlformats.org/officeDocument/2006/relationships" id="262" r:id="R980ba323f48940b0"/>
    <p:sldId xmlns:r="http://schemas.openxmlformats.org/officeDocument/2006/relationships" id="263" r:id="R569c6f0c01df4e01"/>
    <p:sldId xmlns:r="http://schemas.openxmlformats.org/officeDocument/2006/relationships" id="264" r:id="R9e4fe3dcba2f48e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f771a218c241b0" /><Relationship Type="http://schemas.openxmlformats.org/officeDocument/2006/relationships/slideMaster" Target="/ppt/slideMasters/slideMaster1.xml" Id="R7ca8e24ed96943c4" /><Relationship Type="http://schemas.openxmlformats.org/officeDocument/2006/relationships/notesMaster" Target="/ppt/notesMasters/notesMaster1.xml" Id="R99833e2a81ce43f4" /><Relationship Type="http://schemas.openxmlformats.org/officeDocument/2006/relationships/presProps" Target="/ppt/presProps.xml" Id="R91a3e90710bb4b76" /><Relationship Type="http://schemas.openxmlformats.org/officeDocument/2006/relationships/tableStyles" Target="/ppt/tableStyles.xml" Id="R752f2a5574fb4d56" /><Relationship Type="http://schemas.openxmlformats.org/officeDocument/2006/relationships/slide" Target="/ppt/slides/slide1.xml" Id="R1818dc42f57c4783" /><Relationship Type="http://schemas.openxmlformats.org/officeDocument/2006/relationships/slide" Target="/ppt/slides/slide2.xml" Id="R3977a49bb33f424a" /><Relationship Type="http://schemas.openxmlformats.org/officeDocument/2006/relationships/slide" Target="/ppt/slides/slide3.xml" Id="R4962918e98384ce2" /><Relationship Type="http://schemas.openxmlformats.org/officeDocument/2006/relationships/slide" Target="/ppt/slides/slide4.xml" Id="R6133357901e44d7b" /><Relationship Type="http://schemas.openxmlformats.org/officeDocument/2006/relationships/slide" Target="/ppt/slides/slide5.xml" Id="R9c5fc3bcd6c249fb" /><Relationship Type="http://schemas.openxmlformats.org/officeDocument/2006/relationships/slide" Target="/ppt/slides/slide6.xml" Id="Rb80aad1999c54019" /><Relationship Type="http://schemas.openxmlformats.org/officeDocument/2006/relationships/slide" Target="/ppt/slides/slide7.xml" Id="R980ba323f48940b0" /><Relationship Type="http://schemas.openxmlformats.org/officeDocument/2006/relationships/slide" Target="/ppt/slides/slide8.xml" Id="R569c6f0c01df4e01" /><Relationship Type="http://schemas.openxmlformats.org/officeDocument/2006/relationships/slide" Target="/ppt/slides/slide9.xml" Id="R9e4fe3dcba2f48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708ae79ba84b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d65652f9a34cf8" /><Relationship Type="http://schemas.openxmlformats.org/officeDocument/2006/relationships/notesMaster" Target="/ppt/notesMasters/notesMaster1.xml" Id="R6bf1ba52e27a45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60b479285549ce" /><Relationship Type="http://schemas.openxmlformats.org/officeDocument/2006/relationships/notesMaster" Target="/ppt/notesMasters/notesMaster1.xml" Id="R291d40a692e84e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1b6e3dd2fb4fc1" /><Relationship Type="http://schemas.openxmlformats.org/officeDocument/2006/relationships/notesMaster" Target="/ppt/notesMasters/notesMaster1.xml" Id="R6334e17b4e4046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7c984923824b6a" /><Relationship Type="http://schemas.openxmlformats.org/officeDocument/2006/relationships/notesMaster" Target="/ppt/notesMasters/notesMaster1.xml" Id="R355e4792147548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a684d9d00a4f2c" /><Relationship Type="http://schemas.openxmlformats.org/officeDocument/2006/relationships/notesMaster" Target="/ppt/notesMasters/notesMaster1.xml" Id="R5e7e92c66f6449f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eeeeea4f5946fc" /><Relationship Type="http://schemas.openxmlformats.org/officeDocument/2006/relationships/notesMaster" Target="/ppt/notesMasters/notesMaster1.xml" Id="R0bcb3dbe67c543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77b4e827b84cd7" /><Relationship Type="http://schemas.openxmlformats.org/officeDocument/2006/relationships/notesMaster" Target="/ppt/notesMasters/notesMaster1.xml" Id="R576198b1a435489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b89edcb8e14a02" /><Relationship Type="http://schemas.openxmlformats.org/officeDocument/2006/relationships/notesMaster" Target="/ppt/notesMasters/notesMaster1.xml" Id="Radf4235af80148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bb9967fc7a04414" /><Relationship Type="http://schemas.openxmlformats.org/officeDocument/2006/relationships/notesMaster" Target="/ppt/notesMasters/notesMaster1.xml" Id="R1984f2d114954f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architecture and code index: Z:/home/chen/projects/702solver/AGENTS.md</a:t>
            </a:r>
          </a:p>
          <a:p xmlns:a="http://schemas.openxmlformats.org/drawingml/2006/main">
            <a:r>
              <a:t>Status summary: Z:/home/chen/projects/702solver/docs/STATUS_SUMMARY.md</a:t>
            </a:r>
          </a:p>
          <a:p xmlns:a="http://schemas.openxmlformats.org/drawingml/2006/main">
            <a:r>
              <a:t>Controlled full24 report: Z:/home/chen/projects/702solver/docs/full24_controlled_comparison.md</a:t>
            </a:r>
          </a:p>
          <a:p xmlns:a="http://schemas.openxmlformats.org/drawingml/2006/main">
            <a:r>
              <a:t>Machine-readable full24 result: Z:/home/chen/projects/702solver/output/results/full24_controlled_comparison.json</a:t>
            </a:r>
          </a:p>
          <a:p xmlns:a="http://schemas.openxmlformats.org/drawingml/2006/main">
            <a:r>
              <a:t>Shared memory design: Z:/home/chen/projects/702solver/docs/共享记忆模块设计说明.md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architecture and code index: Z:/home/chen/projects/702solver/AGENTS.md</a:t>
            </a:r>
          </a:p>
          <a:p xmlns:a="http://schemas.openxmlformats.org/drawingml/2006/main">
            <a:r>
              <a:t>Status summary: Z:/home/chen/projects/702solver/docs/STATUS_SUMMARY.md</a:t>
            </a:r>
          </a:p>
          <a:p xmlns:a="http://schemas.openxmlformats.org/drawingml/2006/main">
            <a:r>
              <a:t>Controlled full24 report: Z:/home/chen/projects/702solver/docs/full24_controlled_comparison.md</a:t>
            </a:r>
          </a:p>
          <a:p xmlns:a="http://schemas.openxmlformats.org/drawingml/2006/main">
            <a:r>
              <a:t>Machine-readable full24 result: Z:/home/chen/projects/702solver/output/results/full24_controlled_comparison.json</a:t>
            </a:r>
          </a:p>
          <a:p xmlns:a="http://schemas.openxmlformats.org/drawingml/2006/main">
            <a:r>
              <a:t>Shared memory design: Z:/home/chen/projects/702solver/docs/共享记忆模块设计说明.md</a:t>
            </a:r>
          </a:p>
          <a:p xmlns:a="http://schemas.openxmlformats.org/drawingml/2006/main">
            <a:r>
              <a:t>Demo source: Z:/home/chen/projects/702solver/demo_dashboard.py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architecture and code index: Z:/home/chen/projects/702solver/AGENTS.md</a:t>
            </a:r>
          </a:p>
          <a:p xmlns:a="http://schemas.openxmlformats.org/drawingml/2006/main">
            <a:r>
              <a:t>Status summary: Z:/home/chen/projects/702solver/docs/STATUS_SUMMARY.md</a:t>
            </a:r>
          </a:p>
          <a:p xmlns:a="http://schemas.openxmlformats.org/drawingml/2006/main">
            <a:r>
              <a:t>Controlled full24 report: Z:/home/chen/projects/702solver/docs/full24_controlled_comparison.md</a:t>
            </a:r>
          </a:p>
          <a:p xmlns:a="http://schemas.openxmlformats.org/drawingml/2006/main">
            <a:r>
              <a:t>Machine-readable full24 result: Z:/home/chen/projects/702solver/output/results/full24_controlled_comparison.json</a:t>
            </a:r>
          </a:p>
          <a:p xmlns:a="http://schemas.openxmlformats.org/drawingml/2006/main">
            <a:r>
              <a:t>Shared memory design: Z:/home/chen/projects/702solver/docs/共享记忆模块设计说明.md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architecture and code index: Z:/home/chen/projects/702solver/AGENTS.md</a:t>
            </a:r>
          </a:p>
          <a:p xmlns:a="http://schemas.openxmlformats.org/drawingml/2006/main">
            <a:r>
              <a:t>Status summary: Z:/home/chen/projects/702solver/docs/STATUS_SUMMARY.md</a:t>
            </a:r>
          </a:p>
          <a:p xmlns:a="http://schemas.openxmlformats.org/drawingml/2006/main">
            <a:r>
              <a:t>Controlled full24 report: Z:/home/chen/projects/702solver/docs/full24_controlled_comparison.md</a:t>
            </a:r>
          </a:p>
          <a:p xmlns:a="http://schemas.openxmlformats.org/drawingml/2006/main">
            <a:r>
              <a:t>Machine-readable full24 result: Z:/home/chen/projects/702solver/output/results/full24_controlled_comparison.json</a:t>
            </a:r>
          </a:p>
          <a:p xmlns:a="http://schemas.openxmlformats.org/drawingml/2006/main">
            <a:r>
              <a:t>Shared memory design: Z:/home/chen/projects/702solver/docs/共享记忆模块设计说明.md</a:t>
            </a:r>
          </a:p>
          <a:p xmlns:a="http://schemas.openxmlformats.org/drawingml/2006/main">
            <a:r>
              <a:t>Task definitions: Z:/home/chen/projects/702solver/experiments/benchmark_tasks.py</a:t>
            </a:r>
          </a:p>
          <a:p xmlns:a="http://schemas.openxmlformats.org/drawingml/2006/main">
            <a:r>
              <a:t>Suite definitions: Z:/home/chen/projects/702solver/experiments/benchmark_suites.py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architecture and code index: Z:/home/chen/projects/702solver/AGENTS.md</a:t>
            </a:r>
          </a:p>
          <a:p xmlns:a="http://schemas.openxmlformats.org/drawingml/2006/main">
            <a:r>
              <a:t>Status summary: Z:/home/chen/projects/702solver/docs/STATUS_SUMMARY.md</a:t>
            </a:r>
          </a:p>
          <a:p xmlns:a="http://schemas.openxmlformats.org/drawingml/2006/main">
            <a:r>
              <a:t>Controlled full24 report: Z:/home/chen/projects/702solver/docs/full24_controlled_comparison.md</a:t>
            </a:r>
          </a:p>
          <a:p xmlns:a="http://schemas.openxmlformats.org/drawingml/2006/main">
            <a:r>
              <a:t>Machine-readable full24 result: Z:/home/chen/projects/702solver/output/results/full24_controlled_comparison.json</a:t>
            </a:r>
          </a:p>
          <a:p xmlns:a="http://schemas.openxmlformats.org/drawingml/2006/main">
            <a:r>
              <a:t>Shared memory design: Z:/home/chen/projects/702solver/docs/共享记忆模块设计说明.md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architecture and code index: Z:/home/chen/projects/702solver/AGENTS.md</a:t>
            </a:r>
          </a:p>
          <a:p xmlns:a="http://schemas.openxmlformats.org/drawingml/2006/main">
            <a:r>
              <a:t>Status summary: Z:/home/chen/projects/702solver/docs/STATUS_SUMMARY.md</a:t>
            </a:r>
          </a:p>
          <a:p xmlns:a="http://schemas.openxmlformats.org/drawingml/2006/main">
            <a:r>
              <a:t>Controlled full24 report: Z:/home/chen/projects/702solver/docs/full24_controlled_comparison.md</a:t>
            </a:r>
          </a:p>
          <a:p xmlns:a="http://schemas.openxmlformats.org/drawingml/2006/main">
            <a:r>
              <a:t>Machine-readable full24 result: Z:/home/chen/projects/702solver/output/results/full24_controlled_comparison.json</a:t>
            </a:r>
          </a:p>
          <a:p xmlns:a="http://schemas.openxmlformats.org/drawingml/2006/main">
            <a:r>
              <a:t>Shared memory design: Z:/home/chen/projects/702solver/docs/共享记忆模块设计说明.md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architecture and code index: Z:/home/chen/projects/702solver/AGENTS.md</a:t>
            </a:r>
          </a:p>
          <a:p xmlns:a="http://schemas.openxmlformats.org/drawingml/2006/main">
            <a:r>
              <a:t>Status summary: Z:/home/chen/projects/702solver/docs/STATUS_SUMMARY.md</a:t>
            </a:r>
          </a:p>
          <a:p xmlns:a="http://schemas.openxmlformats.org/drawingml/2006/main">
            <a:r>
              <a:t>Controlled full24 report: Z:/home/chen/projects/702solver/docs/full24_controlled_comparison.md</a:t>
            </a:r>
          </a:p>
          <a:p xmlns:a="http://schemas.openxmlformats.org/drawingml/2006/main">
            <a:r>
              <a:t>Machine-readable full24 result: Z:/home/chen/projects/702solver/output/results/full24_controlled_comparison.json</a:t>
            </a:r>
          </a:p>
          <a:p xmlns:a="http://schemas.openxmlformats.org/drawingml/2006/main">
            <a:r>
              <a:t>Shared memory design: Z:/home/chen/projects/702solver/docs/共享记忆模块设计说明.md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architecture and code index: Z:/home/chen/projects/702solver/AGENTS.md</a:t>
            </a:r>
          </a:p>
          <a:p xmlns:a="http://schemas.openxmlformats.org/drawingml/2006/main">
            <a:r>
              <a:t>Status summary: Z:/home/chen/projects/702solver/docs/STATUS_SUMMARY.md</a:t>
            </a:r>
          </a:p>
          <a:p xmlns:a="http://schemas.openxmlformats.org/drawingml/2006/main">
            <a:r>
              <a:t>Controlled full24 report: Z:/home/chen/projects/702solver/docs/full24_controlled_comparison.md</a:t>
            </a:r>
          </a:p>
          <a:p xmlns:a="http://schemas.openxmlformats.org/drawingml/2006/main">
            <a:r>
              <a:t>Machine-readable full24 result: Z:/home/chen/projects/702solver/output/results/full24_controlled_comparison.json</a:t>
            </a:r>
          </a:p>
          <a:p xmlns:a="http://schemas.openxmlformats.org/drawingml/2006/main">
            <a:r>
              <a:t>Shared memory design: Z:/home/chen/projects/702solver/docs/共享记忆模块设计说明.md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architecture and code index: Z:/home/chen/projects/702solver/AGENTS.md</a:t>
            </a:r>
          </a:p>
          <a:p xmlns:a="http://schemas.openxmlformats.org/drawingml/2006/main">
            <a:r>
              <a:t>Status summary: Z:/home/chen/projects/702solver/docs/STATUS_SUMMARY.md</a:t>
            </a:r>
          </a:p>
          <a:p xmlns:a="http://schemas.openxmlformats.org/drawingml/2006/main">
            <a:r>
              <a:t>Controlled full24 report: Z:/home/chen/projects/702solver/docs/full24_controlled_comparison.md</a:t>
            </a:r>
          </a:p>
          <a:p xmlns:a="http://schemas.openxmlformats.org/drawingml/2006/main">
            <a:r>
              <a:t>Machine-readable full24 result: Z:/home/chen/projects/702solver/output/results/full24_controlled_comparison.json</a:t>
            </a:r>
          </a:p>
          <a:p xmlns:a="http://schemas.openxmlformats.org/drawingml/2006/main">
            <a:r>
              <a:t>Shared memory design: Z:/home/chen/projects/702solver/docs/共享记忆模块设计说明.md</a:t>
            </a:r>
          </a:p>
          <a:p xmlns:a="http://schemas.openxmlformats.org/drawingml/2006/main">
            <a:r>
              <a:t>Live screenshot: C:/Users/chen/AppData/Local/Temp/codex-clipboard-74bb79b7-811f-4fbb-99fc-28e9963d9f29.png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4058ded13b4e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bfa08fbb444958" /><Relationship Type="http://schemas.openxmlformats.org/officeDocument/2006/relationships/slideLayout" Target="/ppt/slideLayouts/slideLayout1.xml" Id="Rfee5d3d482db4a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e5d3d482db4a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acd417da14849" /><Relationship Type="http://schemas.openxmlformats.org/officeDocument/2006/relationships/notesSlide" Target="/ppt/notesSlides/notesSlide1.xml" Id="Rb5266b204da749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6b8b86057f4025" /><Relationship Type="http://schemas.openxmlformats.org/officeDocument/2006/relationships/notesSlide" Target="/ppt/notesSlides/notesSlide2.xml" Id="R2123afe3847c47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2d83759ea4782" /><Relationship Type="http://schemas.openxmlformats.org/officeDocument/2006/relationships/notesSlide" Target="/ppt/notesSlides/notesSlide3.xml" Id="R59b19680c28a4e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2f1914a0b4694" /><Relationship Type="http://schemas.openxmlformats.org/officeDocument/2006/relationships/notesSlide" Target="/ppt/notesSlides/notesSlide4.xml" Id="R7b168d6b54a143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3cab85949a4c9a" /><Relationship Type="http://schemas.openxmlformats.org/officeDocument/2006/relationships/notesSlide" Target="/ppt/notesSlides/notesSlide5.xml" Id="R4b8b9dd2c24f48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897b60e7044b5" /><Relationship Type="http://schemas.openxmlformats.org/officeDocument/2006/relationships/notesSlide" Target="/ppt/notesSlides/notesSlide6.xml" Id="R4c52102ec82b43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06e81ee8e64e1d" /><Relationship Type="http://schemas.openxmlformats.org/officeDocument/2006/relationships/notesSlide" Target="/ppt/notesSlides/notesSlide7.xml" Id="R83fbd9ae95954a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3dfedbaa248fe" /><Relationship Type="http://schemas.openxmlformats.org/officeDocument/2006/relationships/notesSlide" Target="/ppt/notesSlides/notesSlide8.xml" Id="R07cac2a3b4fc4b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3dcc21006d4f19" /><Relationship Type="http://schemas.openxmlformats.org/officeDocument/2006/relationships/image" Target="/ppt/media/image.png" Id="R72fa3670aaff493d" /><Relationship Type="http://schemas.openxmlformats.org/officeDocument/2006/relationships/notesSlide" Target="/ppt/notesSlides/notesSlide9.xml" Id="R34d3d0151eb14cc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15F275-8A74-4C65-919F-A17A50A9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22C8"/>
                </a:solidFill>
              </a:defRPr>
            </a:pPr>
            <a:r>
              <a:rPr sz="3000" b="1">
                <a:solidFill>
                  <a:srgbClr val="0022C8"/>
                </a:solidFill>
              </a:rPr>
              <a:t>702solver：已完成的多 Agent 共享记忆诊断系统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EBFE35-B193-43EA-BA75-C7E976F6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85850"/>
            <a:ext cx="11049000" cy="4381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0944E-066A-4F44-A8C5-B9AFBB9F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71575"/>
            <a:ext cx="10429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1F"/>
                </a:solidFill>
              </a:defRPr>
            </a:pPr>
            <a:r>
              <a:rPr sz="1650" b="1">
                <a:solidFill>
                  <a:srgbClr val="07101F"/>
                </a:solidFill>
              </a:rPr>
              <a:t>比赛作品成果展示：用实测数据证明方法有效，而不是停留在方案设想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F1CA58-C8FF-4F80-95EF-3A45A1A0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06680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58465-CDF4-42DE-801A-1D91A8BF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525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1EE50-4849-443B-B5F5-6D8977BC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52625"/>
            <a:ext cx="11239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DC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5CC8F9-B251-43CB-84EA-126748E1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381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E314B2-BC40-4136-9D0D-0B957EC0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336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Token 节省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30014B-A989-43A4-833D-68AEC03C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8130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8A43"/>
                </a:solidFill>
              </a:defRPr>
            </a:pPr>
            <a:r>
              <a:rPr sz="2550" b="1">
                <a:solidFill>
                  <a:srgbClr val="138A43"/>
                </a:solidFill>
              </a:rPr>
              <a:t>68.31%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CEDE30-BBB0-4965-9884-98F47D4B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09925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C 相比纯文本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50048C-3DA2-4894-B03D-A6C51EE7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19350"/>
            <a:ext cx="2381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1D7B2-BBEE-405B-8B54-348922EC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336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质量通过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D35B4-0F71-451B-B2D0-CBA9B7D0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8130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22C8"/>
                </a:solidFill>
              </a:defRPr>
            </a:pPr>
            <a:r>
              <a:rPr sz="2550" b="1">
                <a:solidFill>
                  <a:srgbClr val="0022C8"/>
                </a:solidFill>
              </a:rPr>
              <a:t>24/24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86C296-56A1-4605-ADB4-FF9636AD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09925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full24 同题集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8B92F5-8208-4986-BF43-46284307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19350"/>
            <a:ext cx="2381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083546-437C-44D8-A784-CF0DA259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336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API 调用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C622A5-CE5D-4E3C-BE0E-6F32668F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8130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76B00"/>
                </a:solidFill>
              </a:defRPr>
            </a:pPr>
            <a:r>
              <a:rPr sz="2550" b="1">
                <a:solidFill>
                  <a:srgbClr val="C76B00"/>
                </a:solidFill>
              </a:rPr>
              <a:t>52 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6839DA-1178-4BCC-BC26-B892AAB5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9925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A 为 72 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360D26-4FC6-4B20-BA22-3807687B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419350"/>
            <a:ext cx="2381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5D9DA2-6BBC-4021-9E50-E60978CE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336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总耗时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7F7BC2-F5EA-40CE-B00D-63CF6AD7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8130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4477E"/>
                </a:solidFill>
              </a:defRPr>
            </a:pPr>
            <a:r>
              <a:rPr sz="2550" b="1">
                <a:solidFill>
                  <a:srgbClr val="24477E"/>
                </a:solidFill>
              </a:rPr>
              <a:t>208.5s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A6D47E-AD50-4510-909E-D47B4735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09925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A 为 928.1s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9AE939-DD7C-404A-A66A-91DBA97EB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1033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1F"/>
                </a:solidFill>
              </a:defRPr>
            </a:pPr>
            <a:r>
              <a:rPr sz="1650" b="1">
                <a:solidFill>
                  <a:srgbClr val="07101F"/>
                </a:solidFill>
              </a:rPr>
              <a:t>核心成果：结构化协议、向量状态传递、SQLite/FAISS 共享记忆和三级复用机制已经全部落地，并通过 24 题真 API 控制变量实验验证。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715EF9-C36A-4125-9B38-642A6B93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7150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4477E"/>
                </a:solidFill>
              </a:defRPr>
            </a:pPr>
            <a:r>
              <a:rPr sz="1800" b="1">
                <a:solidFill>
                  <a:srgbClr val="24477E"/>
                </a:solidFill>
              </a:rPr>
              <a:t>交付物：源码仓库 · Qt 实时演示 EXE · full24 实验报告 · 本成果展示 PPT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AC2EB6-50CA-415E-A460-26E1A0B6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5722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702solver 成果展示 | 01</a:t>
            </a:r>
          </a:p>
        </p:txBody>
      </p:sp>
    </p:spTree>
    <p:extLst>
      <p:ext uri="{BB962C8B-B14F-4D97-AF65-F5344CB8AC3E}">
        <p14:creationId xmlns:p14="http://schemas.microsoft.com/office/powerpoint/2010/main" val="15517426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8B6C522-ADE5-4548-BD4A-3C2F21CB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22C8"/>
                </a:solidFill>
              </a:defRPr>
            </a:pPr>
            <a:r>
              <a:rPr sz="3000" b="1">
                <a:solidFill>
                  <a:srgbClr val="0022C8"/>
                </a:solidFill>
              </a:rPr>
              <a:t>系统已经跑通：从任务输入到指标输出的完整闭环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5CE404-579F-4911-BA7C-B2B2088F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85850"/>
            <a:ext cx="11049000" cy="4381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AF3BBC-3B65-4BA7-912E-8B583378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71575"/>
            <a:ext cx="10429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1F"/>
                </a:solidFill>
              </a:defRPr>
            </a:pPr>
            <a:r>
              <a:rPr sz="1650" b="1">
                <a:solidFill>
                  <a:srgbClr val="07101F"/>
                </a:solidFill>
              </a:rPr>
              <a:t>实现结果：不是 Demo 静态页，而是可接 DeepSeek、可跑 full24、可逐题记录指标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759C3-B1C6-42E1-A647-82FA06B3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06680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D9D89-08AA-472F-A953-4B475CF0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525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E0B549-28DC-4A56-B25C-EF63DD61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2476500" cy="1905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47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BD9476-B371-49D1-BB02-665D9F8D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2476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8BBC3A-59AD-4BAB-9F44-A1B51F57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477E"/>
                </a:solidFill>
              </a:defRPr>
            </a:pPr>
            <a:r>
              <a:rPr sz="1875" b="1">
                <a:solidFill>
                  <a:srgbClr val="24477E"/>
                </a:solidFill>
              </a:rPr>
              <a:t>1. 输入任务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76A3FC-7C36-4689-8CFB-63E69DF5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full24 题库 / 单题任务 / 标签</a:t>
            </a:r>
          </a:p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DeepSeek API Key 接入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B95A7-AC34-45B3-BDC5-E2903FA5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87655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4477E"/>
                </a:solidFill>
              </a:defRPr>
            </a:pPr>
            <a:r>
              <a:rPr sz="2550" b="1">
                <a:solidFill>
                  <a:srgbClr val="24477E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68978C-BA09-42D8-9C76-82DD5E3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190750"/>
            <a:ext cx="2476500" cy="1905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17CE30-0C7E-4314-950C-61B29632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190750"/>
            <a:ext cx="2476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138A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960D64-44FD-4D72-A9EC-1E3C7C96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495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38A43"/>
                </a:solidFill>
              </a:defRPr>
            </a:pPr>
            <a:r>
              <a:rPr sz="1875" b="1">
                <a:solidFill>
                  <a:srgbClr val="138A43"/>
                </a:solidFill>
              </a:rPr>
              <a:t>2. Agent 协作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3874C1-E8A0-4D97-8C1B-039411D0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0289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Planner → Retriever → Executor → Summarizer</a:t>
            </a:r>
          </a:p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Orchestrator 统一调度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8DB599-AAF1-4883-A1E6-2F07C7E8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7655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4477E"/>
                </a:solidFill>
              </a:defRPr>
            </a:pPr>
            <a:r>
              <a:rPr sz="2550" b="1">
                <a:solidFill>
                  <a:srgbClr val="24477E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5D107A-777F-4200-AABF-B266BB3F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2476500" cy="1905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6B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A742F0-FD72-49DA-9FD7-D2D450FE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2476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B00"/>
          </a:solidFill>
          <a:ln xmlns:a="http://schemas.openxmlformats.org/drawingml/2006/main" w="0">
            <a:solidFill>
              <a:srgbClr val="C76B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1FCEB8-2E0A-448B-8BD8-1AC7D852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95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76B00"/>
                </a:solidFill>
              </a:defRPr>
            </a:pPr>
            <a:r>
              <a:rPr sz="1875" b="1">
                <a:solidFill>
                  <a:srgbClr val="C76B00"/>
                </a:solidFill>
              </a:rPr>
              <a:t>3. 共享记忆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C817D0-C263-4A47-BD05-81527C83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289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MemoryUnit 结构化沉淀</a:t>
            </a:r>
          </a:p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SQLite 元数据 + FAISS 向量检索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B205E-8EE2-491B-9A19-3306EFE2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876550"/>
            <a:ext cx="419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4477E"/>
                </a:solidFill>
              </a:defRPr>
            </a:pPr>
            <a:r>
              <a:rPr sz="2550" b="1">
                <a:solidFill>
                  <a:srgbClr val="24477E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44EF31-3E65-417D-8B61-AD556C67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90750"/>
            <a:ext cx="2476500" cy="1905000"/>
          </a:xfrm>
          <a:prstGeom xmlns:a="http://schemas.openxmlformats.org/drawingml/2006/main" prst="roundRect">
            <a:avLst>
              <a:gd name="adj" fmla="val 3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31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453B27-A50B-409B-ABCE-99551777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190750"/>
            <a:ext cx="2476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0">
            <a:solidFill>
              <a:srgbClr val="1731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14238C-DCA7-4190-986D-0293A46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495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15F"/>
                </a:solidFill>
              </a:defRPr>
            </a:pPr>
            <a:r>
              <a:rPr sz="1875" b="1">
                <a:solidFill>
                  <a:srgbClr val="17315F"/>
                </a:solidFill>
              </a:rPr>
              <a:t>4. 实验指标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6BCC5F-616C-4AD5-9E5F-F4621587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30289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token / API / 耗时 / 质量 / 策略</a:t>
            </a:r>
          </a:p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Qt 界面实时显示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E269FF-F364-432C-BEF6-B73A6F76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19650"/>
            <a:ext cx="2286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64C4A5-BA3C-4121-8CB4-8E7F1051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768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实现模块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18A337-417B-4042-AAB9-7DFB86A5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19650"/>
            <a:ext cx="2952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A311B6-6670-4702-ABED-9C4AAD25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76800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关键代码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129AA1-186D-494A-87A5-2684796A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19650"/>
            <a:ext cx="2952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7388D6-B54D-4DD7-B3A6-EC9F6BAB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76800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功能说明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3B0ACB-B820-4115-B387-E199D62D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196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378C16-3E9B-418E-8390-C51A1EE9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87680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展示证据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F18E14-D7D5-43F7-8A55-AF2F76B3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625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AF749E-EE2A-4B7A-8D3B-641FD72B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01F"/>
                </a:solidFill>
              </a:defRPr>
            </a:pPr>
            <a:r>
              <a:rPr sz="1125" b="1">
                <a:solidFill>
                  <a:srgbClr val="07101F"/>
                </a:solidFill>
              </a:rPr>
              <a:t>通信/状态/记忆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8CAA37-15BC-43A2-B9A5-9C6DF516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625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AF1385-DA4F-46BA-B48A-B929F0C9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21970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7101F"/>
                </a:solidFill>
              </a:defRPr>
            </a:pPr>
            <a:r>
              <a:rPr sz="1125" b="0">
                <a:solidFill>
                  <a:srgbClr val="07101F"/>
                </a:solidFill>
              </a:rPr>
              <a:t>src/protocol · src/state · src/memory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953B21-E34D-4CE6-B350-5CCA02BC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625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446AE9-0349-4530-AF79-5D9F604A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1970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7101F"/>
                </a:solidFill>
              </a:defRPr>
            </a:pPr>
            <a:r>
              <a:rPr sz="1125" b="0">
                <a:solidFill>
                  <a:srgbClr val="07101F"/>
                </a:solidFill>
              </a:rPr>
              <a:t>结构化消息、向量状态、共享记忆检索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6DD5DB-09D9-4E01-9A7B-3764020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162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3C7B18-2B97-4232-B775-B7BF8699F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219700"/>
            <a:ext cx="1943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7101F"/>
                </a:solidFill>
              </a:defRPr>
            </a:pPr>
            <a:r>
              <a:rPr sz="1125" b="0">
                <a:solidFill>
                  <a:srgbClr val="07101F"/>
                </a:solidFill>
              </a:rPr>
              <a:t>full24 指标下降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0AADF0-C79B-4157-9966-BCE66A11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197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C6F14A-4C60-470B-9E66-632D8F81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76900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7101F"/>
                </a:solidFill>
              </a:defRPr>
            </a:pPr>
            <a:r>
              <a:rPr sz="1125" b="1">
                <a:solidFill>
                  <a:srgbClr val="07101F"/>
                </a:solidFill>
              </a:rPr>
              <a:t>实时演示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61D2FA-5574-40CF-9960-0961AA5D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6197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67B689-9F1E-4AFC-8541-F13B765E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67690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7101F"/>
                </a:solidFill>
              </a:defRPr>
            </a:pPr>
            <a:r>
              <a:rPr sz="1125" b="0">
                <a:solidFill>
                  <a:srgbClr val="07101F"/>
                </a:solidFill>
              </a:rPr>
              <a:t>demo_dashboard.py · dist/*.exe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5D81C0-9CE1-4E42-ADF0-8BF047BF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7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3E88D55-9AEE-41E9-904A-7228AE54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67690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7101F"/>
                </a:solidFill>
              </a:defRPr>
            </a:pPr>
            <a:r>
              <a:rPr sz="1125" b="0">
                <a:solidFill>
                  <a:srgbClr val="07101F"/>
                </a:solidFill>
              </a:rPr>
              <a:t>24 题逐题运行、日志、指标和代码文件展示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7A1017-CC2B-4E93-9D12-FCFF7ADD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197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22899-09FA-44EF-8EC7-22D542F9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676900"/>
            <a:ext cx="1943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7101F"/>
                </a:solidFill>
              </a:defRPr>
            </a:pPr>
            <a:r>
              <a:rPr sz="1125" b="0">
                <a:solidFill>
                  <a:srgbClr val="07101F"/>
                </a:solidFill>
              </a:rPr>
              <a:t>录屏截图/EXE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6BE477D-2A82-4B50-86D6-A7B48842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5722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702solver 成果展示 | 02</a:t>
            </a:r>
          </a:p>
        </p:txBody>
      </p:sp>
    </p:spTree>
    <p:extLst>
      <p:ext uri="{BB962C8B-B14F-4D97-AF65-F5344CB8AC3E}">
        <p14:creationId xmlns:p14="http://schemas.microsoft.com/office/powerpoint/2010/main" val="16561675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63673E-BDE1-4C26-9D63-09C64DC9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22C8"/>
                </a:solidFill>
              </a:defRPr>
            </a:pPr>
            <a:r>
              <a:rPr sz="3000" b="1">
                <a:solidFill>
                  <a:srgbClr val="0022C8"/>
                </a:solidFill>
              </a:rPr>
              <a:t>方法创新：把多 Agent 成本从“多说话”改成“可复用状态”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3A408C-AB07-4EFC-BAD8-6DC9C47B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85850"/>
            <a:ext cx="11049000" cy="4381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08D72E-4A96-4A6E-B68C-BBC7606AF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71575"/>
            <a:ext cx="10429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1F"/>
                </a:solidFill>
              </a:defRPr>
            </a:pPr>
            <a:r>
              <a:rPr sz="1650" b="1">
                <a:solidFill>
                  <a:srgbClr val="07101F"/>
                </a:solidFill>
              </a:rPr>
              <a:t>创新点都对应代码实现和实验结果，避免只讲概念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3AD92-157C-4B45-A589-16A7D6A9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06680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FD47A2-E7D0-4C6D-8226-19D4BF22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525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8B4B61-D8AA-42B0-8494-C4768E62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108585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14A3C9-3A49-4CDB-AA67-F5CEF375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4477E"/>
                </a:solidFill>
              </a:defRPr>
            </a:pPr>
            <a:r>
              <a:rPr sz="1800" b="1">
                <a:solidFill>
                  <a:srgbClr val="24477E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C0F68A-4B24-4B2B-9BE9-4BF7693C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76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477E"/>
                </a:solidFill>
              </a:defRPr>
            </a:pPr>
            <a:r>
              <a:rPr sz="1800" b="1">
                <a:solidFill>
                  <a:srgbClr val="24477E"/>
                </a:solidFill>
              </a:rPr>
              <a:t>结构化协议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1DD242-FE73-4820-8E17-E8C4D057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47875"/>
            <a:ext cx="5476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MessagePack 短字段承载 action / params / result，减少自然语言转述。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2D177E-0FA0-4399-BA99-3C2D3596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085975"/>
            <a:ext cx="2000250" cy="3429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138A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30976C-6D2B-49B4-A043-10E249EB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52650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B vs A 节省 48.06%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814721-16EC-4738-9AC4-03C781CD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108585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7DABD6-BBDE-409B-A1A6-2707A771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4477E"/>
                </a:solidFill>
              </a:defRPr>
            </a:pPr>
            <a:r>
              <a:rPr sz="1800" b="1">
                <a:solidFill>
                  <a:srgbClr val="24477E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C0C1D9-4F79-46CA-AE04-9022E2A5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52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477E"/>
                </a:solidFill>
              </a:defRPr>
            </a:pPr>
            <a:r>
              <a:rPr sz="1800" b="1">
                <a:solidFill>
                  <a:srgbClr val="24477E"/>
                </a:solidFill>
              </a:rPr>
              <a:t>向量状态传递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15A85-0C50-426C-9000-460F1629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24175"/>
            <a:ext cx="5476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Agent 中间状态编码为 384 维向量包，下游直接用于 FAISS 检索。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F98EC5-3CF9-417B-987B-E6B5C441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62275"/>
            <a:ext cx="2000250" cy="3429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138A4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E0FF1B-3E71-48D6-ABBA-EB642140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28950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减少重复“文本→编码”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AAE896-2FD9-4833-BC5F-4DE9BD10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76650"/>
            <a:ext cx="108585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413637-E353-4591-B7C2-BE868875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4477E"/>
                </a:solidFill>
              </a:defRPr>
            </a:pPr>
            <a:r>
              <a:rPr sz="1800" b="1">
                <a:solidFill>
                  <a:srgbClr val="24477E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67EE3E-36AF-40CC-9EAF-ABDFD1DF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829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477E"/>
                </a:solidFill>
              </a:defRPr>
            </a:pPr>
            <a:r>
              <a:rPr sz="1800" b="1">
                <a:solidFill>
                  <a:srgbClr val="24477E"/>
                </a:solidFill>
              </a:rPr>
              <a:t>共享记忆复用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A85645-4040-4956-B93E-B3E00CB0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00475"/>
            <a:ext cx="5476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计划、证据、结果沉淀为 MemoryUnit，支持 E2E、计划注入、模板填空。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C8AD1F-2F6D-4C84-B039-55B17DD3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38575"/>
            <a:ext cx="2000250" cy="3429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138A4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CF5FC1-3381-42C6-B384-EFC92D58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 vs B 再节省 39.0%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E90107-E7D7-416E-9DA0-FCC53178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0"/>
            <a:ext cx="108585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D550C4-C909-49EE-9833-918013B2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2440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4477E"/>
                </a:solidFill>
              </a:defRPr>
            </a:pPr>
            <a:r>
              <a:rPr sz="1800" b="1">
                <a:solidFill>
                  <a:srgbClr val="24477E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E303C2-4257-4DA4-9709-11290C26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705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477E"/>
                </a:solidFill>
              </a:defRPr>
            </a:pPr>
            <a:r>
              <a:rPr sz="1800" b="1">
                <a:solidFill>
                  <a:srgbClr val="24477E"/>
                </a:solidFill>
              </a:rPr>
              <a:t>安全复用门控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B64983-4C2F-43C1-A294-5AB21050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76775"/>
            <a:ext cx="5476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意图门控 + no-e2e-cache + SafeSieve 反馈，避免套错历史答案。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169268-E3EC-4522-A915-CD2AEA4E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714875"/>
            <a:ext cx="2000250" cy="3429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C76B00"/>
          </a:solidFill>
          <a:ln xmlns:a="http://schemas.openxmlformats.org/drawingml/2006/main" w="0">
            <a:solidFill>
              <a:srgbClr val="C76B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FB72F0-5231-4767-A003-38436B755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781550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对抗误用 0/6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4226C4-4D87-455C-BD12-E452C54D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2930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477E"/>
                </a:solidFill>
              </a:defRPr>
            </a:pPr>
            <a:r>
              <a:rPr sz="1650" b="1">
                <a:solidFill>
                  <a:srgbClr val="24477E"/>
                </a:solidFill>
              </a:rPr>
              <a:t>结论：创新不是换 prompt，而是把 Agent 协作过程拆成可编码、可检索、可复用、可验证的工程机制。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ECAE81-5CB9-4C3C-AD92-DC659CD0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5722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702solver 成果展示 | 03</a:t>
            </a:r>
          </a:p>
        </p:txBody>
      </p:sp>
    </p:spTree>
    <p:extLst>
      <p:ext uri="{BB962C8B-B14F-4D97-AF65-F5344CB8AC3E}">
        <p14:creationId xmlns:p14="http://schemas.microsoft.com/office/powerpoint/2010/main" val="10136501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3DF4EBE2-ADB6-412A-8648-AE2F7890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22C8"/>
                </a:solidFill>
              </a:defRPr>
            </a:pPr>
            <a:r>
              <a:rPr sz="3000" b="1">
                <a:solidFill>
                  <a:srgbClr val="0022C8"/>
                </a:solidFill>
              </a:rPr>
              <a:t>full24 任务集：用同一组题验证方法效果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275E44-A3E8-4F8F-AEB9-068CFB1B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85850"/>
            <a:ext cx="11049000" cy="4381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35AEDD-71FF-411C-A204-39C5CE1B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71575"/>
            <a:ext cx="10429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1F"/>
                </a:solidFill>
              </a:defRPr>
            </a:pPr>
            <a:r>
              <a:rPr sz="1650" b="1">
                <a:solidFill>
                  <a:srgbClr val="07101F"/>
                </a:solidFill>
              </a:rPr>
              <a:t>三领域 × 三层题型：既测常规能力，也测复用收益和错误复用防护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90231-25BA-4106-A185-6D5B4ADC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06680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862A3C-467A-4EE0-8FED-261F8754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525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B10129-2A2E-4DE2-855C-B6387586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95450"/>
            <a:ext cx="11049000" cy="4381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47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B8396-96FE-43E6-8134-C88E2945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81175"/>
            <a:ext cx="10763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4477E"/>
                </a:solidFill>
              </a:defRPr>
            </a:pPr>
            <a:r>
              <a:rPr sz="1800" b="1">
                <a:solidFill>
                  <a:srgbClr val="24477E"/>
                </a:solidFill>
              </a:rPr>
              <a:t>core12 基础题 + extended6 扩展题 + adversarial6 对抗题 = 24 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5371E-89CB-48D9-8A13-D3B27A33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00300"/>
            <a:ext cx="3638550" cy="3676650"/>
          </a:xfrm>
          <a:prstGeom xmlns:a="http://schemas.openxmlformats.org/drawingml/2006/main" prst="roundRect">
            <a:avLst>
              <a:gd name="adj" fmla="val 1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38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592FC4-9DD0-4A18-8058-EFA71E9F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00300"/>
            <a:ext cx="3638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138A4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0AF7B3-0620-433F-A2DD-43200E8A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03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38A43"/>
                </a:solidFill>
              </a:defRPr>
            </a:pPr>
            <a:r>
              <a:rPr sz="1650" b="1">
                <a:solidFill>
                  <a:srgbClr val="138A43"/>
                </a:solidFill>
              </a:rPr>
              <a:t>能源 Energy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FAB617-A81D-4B62-807A-427CA53F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2275"/>
            <a:ext cx="329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E6"/>
          </a:solidFill>
          <a:ln xmlns:a="http://schemas.openxmlformats.org/drawingml/2006/main" w="0">
            <a:solidFill>
              <a:srgbClr val="C9D3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71D630-F593-4C75-8DDC-885AC374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3847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895339-998F-4526-905D-E90BE81E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978AAD-FA40-4FFD-A8CB-92124C76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DDE19D-D328-472E-9BFB-0A2BB180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861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8A43"/>
                </a:solidFill>
              </a:defRPr>
            </a:pPr>
            <a:r>
              <a:rPr sz="1050" b="1">
                <a:solidFill>
                  <a:srgbClr val="138A43"/>
                </a:solidFill>
              </a:rPr>
              <a:t>e1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155315-1D82-4CFC-BC26-B63ADE74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07657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光伏基础：类型/效率/成本/环境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D4A6AD-EA80-4533-A7A5-CA32B8F2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36545A-012B-42AC-8652-F7A366F4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97820C-8E37-4631-A880-0F509CF3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89BF71-F6BB-46CC-8B7C-29A532E5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385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8A43"/>
                </a:solidFill>
              </a:defRPr>
            </a:pPr>
            <a:r>
              <a:rPr sz="1050" b="1">
                <a:solidFill>
                  <a:srgbClr val="138A43"/>
                </a:solidFill>
              </a:rPr>
              <a:t>e2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ABC6F3-5FB0-438E-9980-D07BDD6C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42900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先进光伏：钙钛矿/双面/CSP/BIPV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1AB7C6-DEA3-4F62-BAA7-C635ACFB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4332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EAC785-6ADC-4096-AB29-63BC6931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DC9B6A-DF89-4C2C-BE7A-FFC90B3C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7F44F6-7175-4981-BB05-9861D3B2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8A43"/>
                </a:solidFill>
              </a:defRPr>
            </a:pPr>
            <a:r>
              <a:rPr sz="1050" b="1">
                <a:solidFill>
                  <a:srgbClr val="138A43"/>
                </a:solidFill>
              </a:rPr>
              <a:t>e3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B5B90F-B5A1-4838-828D-78D5FDF8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8142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风电技术：陆上/海上/叶片/机型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4A9099-654F-4F99-AEE3-052BC40F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BD16C7-58DF-4D38-ABF5-C48AADB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F350EA-DAD2-430B-A231-CD4936A1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F5B5C0-3D92-46E4-BBFA-25A59291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433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8A43"/>
                </a:solidFill>
              </a:defRPr>
            </a:pPr>
            <a:r>
              <a:rPr sz="1050" b="1">
                <a:solidFill>
                  <a:srgbClr val="138A43"/>
                </a:solidFill>
              </a:rPr>
              <a:t>e4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A59927-361E-46FD-8EDD-368A7D43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3385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光伏 vs 风电：LCOE/土地/并网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EB722D-5C02-4E0B-9EE7-8058A73A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4817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2F72E0-1997-4089-948C-08892DFC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667085"/>
          </a:solidFill>
          <a:ln xmlns:a="http://schemas.openxmlformats.org/drawingml/2006/main" w="0">
            <a:solidFill>
              <a:srgbClr val="66708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3C486E-1332-43CA-B434-523A24FC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Ext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2609EF-E289-4FC6-AFEF-D7764DF0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95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8A43"/>
                </a:solidFill>
              </a:defRPr>
            </a:pPr>
            <a:r>
              <a:rPr sz="1050" b="1">
                <a:solidFill>
                  <a:srgbClr val="138A43"/>
                </a:solidFill>
              </a:rPr>
              <a:t>e5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D60656-A0CF-4AEF-A7E4-1F02770A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8627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水电与抽蓄：调峰/效率/环境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761BD6-D943-4215-9820-4E4DA79C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0060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8AEBE60-0B34-4CA2-86CF-B2DDCADE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667085"/>
          </a:solidFill>
          <a:ln xmlns:a="http://schemas.openxmlformats.org/drawingml/2006/main" w="0">
            <a:solidFill>
              <a:srgbClr val="667085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65CB59-830F-4D44-A579-E3D4034B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Ext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3043E9-DF65-4498-9E9A-B5E470C1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482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8A43"/>
                </a:solidFill>
              </a:defRPr>
            </a:pPr>
            <a:r>
              <a:rPr sz="1050" b="1">
                <a:solidFill>
                  <a:srgbClr val="138A43"/>
                </a:solidFill>
              </a:rPr>
              <a:t>e6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F235B67-C1CC-4282-B6FA-5C7F77BF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3870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高比例新能源并网：弃电/频率/储能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8CD6BB6-9C7C-4480-8E87-A775D456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5302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A1F833-6718-40D8-BAD9-15A39EE6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2410C"/>
          </a:solidFill>
          <a:ln xmlns:a="http://schemas.openxmlformats.org/drawingml/2006/main" w="0">
            <a:solidFill>
              <a:srgbClr val="C2410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85FBD10-94F4-4648-BBB3-C1B3D656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Adv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B3642B-DA2B-45FA-AAEB-92D36AC1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00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8A43"/>
                </a:solidFill>
              </a:defRPr>
            </a:pPr>
            <a:r>
              <a:rPr sz="1050" b="1">
                <a:solidFill>
                  <a:srgbClr val="138A43"/>
                </a:solidFill>
              </a:rPr>
              <a:t>x1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F182824-481E-4025-8C59-C28BCB44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19112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只谈光伏政策，禁止技术细节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1207F5-43B2-4AC6-B414-941D26EF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0545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2C4CCA-BA0A-4FA7-885F-7FBAF76B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2410C"/>
          </a:solidFill>
          <a:ln xmlns:a="http://schemas.openxmlformats.org/drawingml/2006/main" w="0">
            <a:solidFill>
              <a:srgbClr val="C2410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8931310-7633-44CF-8F44-E509F14F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Adv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157F540-D7AE-4A50-B873-3334C47B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5530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38A43"/>
                </a:solidFill>
              </a:defRPr>
            </a:pPr>
            <a:r>
              <a:rPr sz="1050" b="1">
                <a:solidFill>
                  <a:srgbClr val="138A43"/>
                </a:solidFill>
              </a:rPr>
              <a:t>x2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1A8B76-BC98-438D-9916-39EADEA1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54355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只谈海风经济，禁止发电机技术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931E53-1287-4200-AE41-490F3221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400300"/>
            <a:ext cx="3638550" cy="3676650"/>
          </a:xfrm>
          <a:prstGeom xmlns:a="http://schemas.openxmlformats.org/drawingml/2006/main" prst="roundRect">
            <a:avLst>
              <a:gd name="adj" fmla="val 1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6B0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93AA491-5A92-41E6-9E7B-74A0EFAE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2400300"/>
            <a:ext cx="3638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B00"/>
          </a:solidFill>
          <a:ln xmlns:a="http://schemas.openxmlformats.org/drawingml/2006/main" w="0">
            <a:solidFill>
              <a:srgbClr val="C76B00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5389704-DF17-49DD-B9A7-BF18ECFB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003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76B00"/>
                </a:solidFill>
              </a:defRPr>
            </a:pPr>
            <a:r>
              <a:rPr sz="1650" b="1">
                <a:solidFill>
                  <a:srgbClr val="C76B00"/>
                </a:solidFill>
              </a:rPr>
              <a:t>安全 Security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3FCCF09-ABCF-4478-A3D1-2E386AEE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962275"/>
            <a:ext cx="329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E6"/>
          </a:solidFill>
          <a:ln xmlns:a="http://schemas.openxmlformats.org/drawingml/2006/main" w="0">
            <a:solidFill>
              <a:srgbClr val="C9D3E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2F881A1-8AE2-4B99-82FA-930183B3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03847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8964E4D-ABD5-44A8-9C22-04F23EFD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11467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0F87CAB-138C-4755-95EF-65009B9C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13372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3EDD3CC-62FE-4F9A-B010-15BD0E21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861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6B00"/>
                </a:solidFill>
              </a:defRPr>
            </a:pPr>
            <a:r>
              <a:rPr sz="1050" b="1">
                <a:solidFill>
                  <a:srgbClr val="C76B00"/>
                </a:solidFill>
              </a:rPr>
              <a:t>s1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B68D285-C223-4CA0-BB34-48FECA32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07657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Python 漏洞：注入/凭据/路径/反序列化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8487049-3889-4EA5-AB7C-B90122F7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39090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9F4A2E3-E672-4F92-BA92-DDF0F01D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46710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C22303D-F7BB-43F3-85A3-D1D13FB6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48615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726FBE7-0A09-4734-9835-47ED048C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4385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6B00"/>
                </a:solidFill>
              </a:defRPr>
            </a:pPr>
            <a:r>
              <a:rPr sz="1050" b="1">
                <a:solidFill>
                  <a:srgbClr val="C76B00"/>
                </a:solidFill>
              </a:rPr>
              <a:t>s2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9FA4419-AB83-48AB-9AB1-549DFFD6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42900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Web 安全审计：CSRF/JWT/CORS/OAuth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9C4147D-9D01-43FE-8F94-FC7E1332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74332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939C54E-EDBD-4F9D-B144-7D16AC31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81952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560C690-03A7-4AF2-B77B-3A226D9E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83857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689DDA0-F3BB-4FAC-811A-1E3D3CA2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790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6B00"/>
                </a:solidFill>
              </a:defRPr>
            </a:pPr>
            <a:r>
              <a:rPr sz="1050" b="1">
                <a:solidFill>
                  <a:srgbClr val="C76B00"/>
                </a:solidFill>
              </a:rPr>
              <a:t>s3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50C3037-8222-40E9-B32B-920B574B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78142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Python 漏洞变体：检验整题复用能力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B8B6B3-43AF-4237-9E61-210218D3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09575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EB95982-5ABC-413D-8C6C-C38AC64C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17195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D580DE8-C562-44F9-9689-DFA22769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19100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9025EB1-7B60-4A2B-88CF-E9013D20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1433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6B00"/>
                </a:solidFill>
              </a:defRPr>
            </a:pPr>
            <a:r>
              <a:rPr sz="1050" b="1">
                <a:solidFill>
                  <a:srgbClr val="C76B00"/>
                </a:solidFill>
              </a:rPr>
              <a:t>s4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CCBE403-34D4-42EF-8127-5D580197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13385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代码审查清单：认证/会话/上传/依赖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CE415DA-9DBE-4BE5-BF11-EA33FD82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44817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CEAE64C-952B-43A9-82AD-A4D06417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52437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667085"/>
          </a:solidFill>
          <a:ln xmlns:a="http://schemas.openxmlformats.org/drawingml/2006/main" w="0">
            <a:solidFill>
              <a:srgbClr val="667085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150E346-809A-4186-8E09-D81BBDE2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54342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Ext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41D1836-CCEF-4D68-94CE-5B34872E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495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6B00"/>
                </a:solidFill>
              </a:defRPr>
            </a:pPr>
            <a:r>
              <a:rPr sz="1050" b="1">
                <a:solidFill>
                  <a:srgbClr val="C76B00"/>
                </a:solidFill>
              </a:rPr>
              <a:t>s5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C5D86E1-9B6A-440C-9A40-FE50912F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48627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密钥管理：Vault/轮换/CI 泄漏防护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0C3C100-DB70-4724-AB92-6DF5CE22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80060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CADE38-D45A-4850-B880-3793970E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87680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667085"/>
          </a:solidFill>
          <a:ln xmlns:a="http://schemas.openxmlformats.org/drawingml/2006/main" w="0">
            <a:solidFill>
              <a:srgbClr val="667085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63BF044-57B6-4581-91DF-5547B2D1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89585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Ext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35026CC-2B53-4283-B12B-1879F098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8482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6B00"/>
                </a:solidFill>
              </a:defRPr>
            </a:pPr>
            <a:r>
              <a:rPr sz="1050" b="1">
                <a:solidFill>
                  <a:srgbClr val="C76B00"/>
                </a:solidFill>
              </a:rPr>
              <a:t>s6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77744FC-651B-456F-A57B-7FCCE7DF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3870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供应链安全：SBOM/签名/投毒包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BDA2A75-57B9-4342-B0E7-C9CDC2B9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515302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A7D1815-DA98-46E0-B452-F6EEF50C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22922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2410C"/>
          </a:solidFill>
          <a:ln xmlns:a="http://schemas.openxmlformats.org/drawingml/2006/main" w="0">
            <a:solidFill>
              <a:srgbClr val="C2410C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8EB4CF7-7075-4502-BF22-FAECE0F8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24827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Adv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50FBDE4-EA5E-4215-9D52-8DE19BBD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5200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6B00"/>
                </a:solidFill>
              </a:defRPr>
            </a:pPr>
            <a:r>
              <a:rPr sz="1050" b="1">
                <a:solidFill>
                  <a:srgbClr val="C76B00"/>
                </a:solidFill>
              </a:rPr>
              <a:t>x3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2A4D637-C811-485F-BC7E-EC0C7AEA9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19112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只谈 SOC2/ISO27001，禁止漏洞修复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3458EF9-1BDF-43C9-879F-CC689AB1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550545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2D2460A-9FEA-44A4-9A79-D7E8C9C7F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58165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2410C"/>
          </a:solidFill>
          <a:ln xmlns:a="http://schemas.openxmlformats.org/drawingml/2006/main" w="0">
            <a:solidFill>
              <a:srgbClr val="C2410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F901448-6DEB-46AE-944A-81505112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60070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Adv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4D5CFED-1B1B-4748-ABA6-F205E5B8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55530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76B00"/>
                </a:solidFill>
              </a:defRPr>
            </a:pPr>
            <a:r>
              <a:rPr sz="1050" b="1">
                <a:solidFill>
                  <a:srgbClr val="C76B00"/>
                </a:solidFill>
              </a:rPr>
              <a:t>x4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8CF14F6-70A8-4E27-B1E8-00ECD40A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54355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只谈 TLS 加固，禁止 CSRF/JWT/OAuth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FDC1F96-1C99-49EC-A79E-6E75ECCD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00300"/>
            <a:ext cx="3638550" cy="3676650"/>
          </a:xfrm>
          <a:prstGeom xmlns:a="http://schemas.openxmlformats.org/drawingml/2006/main" prst="roundRect">
            <a:avLst>
              <a:gd name="adj" fmla="val 1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4477E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C4F9E2D-F6C2-4745-8158-1B9B6605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00300"/>
            <a:ext cx="3638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DD94DB7-6E54-49ED-B02B-CACF5147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00325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4477E"/>
                </a:solidFill>
              </a:defRPr>
            </a:pPr>
            <a:r>
              <a:rPr sz="1650" b="1">
                <a:solidFill>
                  <a:srgbClr val="24477E"/>
                </a:solidFill>
              </a:rPr>
              <a:t>数据库 Database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FF28921-B491-48FB-9A4D-7A550EBB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62275"/>
            <a:ext cx="3295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E6"/>
          </a:solidFill>
          <a:ln xmlns:a="http://schemas.openxmlformats.org/drawingml/2006/main" w="0">
            <a:solidFill>
              <a:srgbClr val="C9D3E6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51F817F-9419-4306-9079-60BFC481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3847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A10C183-43B4-4771-9100-9F085AD9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1467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7161EEC-7DCD-49D3-80ED-D39A7373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3372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BD60154-E3DE-4A0A-8A97-D34E5509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861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477E"/>
                </a:solidFill>
              </a:defRPr>
            </a:pPr>
            <a:r>
              <a:rPr sz="1050" b="1">
                <a:solidFill>
                  <a:srgbClr val="24477E"/>
                </a:solidFill>
              </a:rPr>
              <a:t>d1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81036BD-0CF4-46A3-8702-EE3DAB88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7657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SQL 优化：索引/执行计划/JOIN/物化视图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4E8F95D-56F3-4F32-8FF4-1CDDADA6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9090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A971722-0638-4B93-848C-5E0CBBC2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6710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080B9DA3-C229-4DB3-9359-BE1D9ADA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8615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74C5849-71C9-4CAA-A668-65E67226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4385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477E"/>
                </a:solidFill>
              </a:defRPr>
            </a:pPr>
            <a:r>
              <a:rPr sz="1050" b="1">
                <a:solidFill>
                  <a:srgbClr val="24477E"/>
                </a:solidFill>
              </a:rPr>
              <a:t>d2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3B4B97A2-0A24-4A9B-85FD-71AA8908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2900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NoSQL 对比：Redis/MongoDB/Cassandra/Neo4j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18BD4C74-F111-4DF5-BE1B-1B0B050F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4332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4700634-8A7F-466A-80F5-5FA006EF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1952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ED04756-A0ED-416A-814C-2220DE40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3857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FE8E977-DFD5-405D-B417-C730233A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790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477E"/>
                </a:solidFill>
              </a:defRPr>
            </a:pPr>
            <a:r>
              <a:rPr sz="1050" b="1">
                <a:solidFill>
                  <a:srgbClr val="24477E"/>
                </a:solidFill>
              </a:rPr>
              <a:t>d3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6304874-AE08-41DF-BC10-EFC9C740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8142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性能调优：连接池/缓存/WAL/分片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5835090-C3A5-4D8D-BCE9-76CD3C34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9575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4E9AAD3-9C7A-4BC7-9582-9D851E5B5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7195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58AC50A-9EB8-4D56-B3A9-334D5052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9100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5A5C6F8-AECC-447E-99E7-C6AB1BCD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1433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477E"/>
                </a:solidFill>
              </a:defRPr>
            </a:pPr>
            <a:r>
              <a:rPr sz="1050" b="1">
                <a:solidFill>
                  <a:srgbClr val="24477E"/>
                </a:solidFill>
              </a:rPr>
              <a:t>d4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2544C14-B718-49D9-8AA9-02F89DB0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13385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数据建模：范式/星型/层级/多模型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5BE2E84-1D38-4FC6-B0AC-3141C962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4817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88416BB-DAD5-47A9-883E-46BD0C9C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2437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667085"/>
          </a:solidFill>
          <a:ln xmlns:a="http://schemas.openxmlformats.org/drawingml/2006/main" w="0">
            <a:solidFill>
              <a:srgbClr val="667085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E036892-6CCE-4A3E-ACF0-5B3C323D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4342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Ext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6CEB1130-434C-45B8-9407-D94D00855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495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477E"/>
                </a:solidFill>
              </a:defRPr>
            </a:pPr>
            <a:r>
              <a:rPr sz="1050" b="1">
                <a:solidFill>
                  <a:srgbClr val="24477E"/>
                </a:solidFill>
              </a:rPr>
              <a:t>d5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B77D033-4FE3-40F0-B30D-85E7FFCD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48627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事务隔离：异常/性能/PostgreSQL/MySQL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1CDBBEC8-7BF0-427A-91E2-777906B4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0060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FBCA9BF6-BD8E-4122-BBCB-D7FB4777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87680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667085"/>
          </a:solidFill>
          <a:ln xmlns:a="http://schemas.openxmlformats.org/drawingml/2006/main" w="0">
            <a:solidFill>
              <a:srgbClr val="667085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74366C1-9970-4A2F-962B-E9D526DD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89585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Ext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D56D65E-BEDA-4263-90C0-B0D6B72D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8482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477E"/>
                </a:solidFill>
              </a:defRPr>
            </a:pPr>
            <a:r>
              <a:rPr sz="1050" b="1">
                <a:solidFill>
                  <a:srgbClr val="24477E"/>
                </a:solidFill>
              </a:rPr>
              <a:t>d6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B06B9C2-34FF-4D6E-B31B-65551170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83870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备份恢复：PITR/WAL/RPO/RTO/故障切换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D79C37D-6731-492E-AF9C-AF25B18B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153025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F384BEC-CC33-4B8E-AAC7-1D6C1E48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229225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2410C"/>
          </a:solidFill>
          <a:ln xmlns:a="http://schemas.openxmlformats.org/drawingml/2006/main" w="0">
            <a:solidFill>
              <a:srgbClr val="C2410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5CF1CC5-5F25-440D-898E-FCA3531A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248275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Adv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FEF33B8-99B1-4710-9FEA-75B3A600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200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477E"/>
                </a:solidFill>
              </a:defRPr>
            </a:pPr>
            <a:r>
              <a:rPr sz="1050" b="1">
                <a:solidFill>
                  <a:srgbClr val="24477E"/>
                </a:solidFill>
              </a:rPr>
              <a:t>x5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AF25CC7F-751C-49E2-B6C2-83D51E8D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91125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只谈零停机迁移，禁止索引选型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23116698-48F1-443C-B535-68CB2F82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05450"/>
            <a:ext cx="337185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1E7F2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2CF5C3A-2FFB-491C-AFF4-D8348CD7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581650"/>
            <a:ext cx="4000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2410C"/>
          </a:solidFill>
          <a:ln xmlns:a="http://schemas.openxmlformats.org/drawingml/2006/main" w="0">
            <a:solidFill>
              <a:srgbClr val="C2410C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57C58A0C-E0A5-4E87-8FF4-FB1CD07C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600700"/>
            <a:ext cx="40005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Adv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4C3A45DE-AEE0-400F-B681-0CF1DA59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5530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4477E"/>
                </a:solidFill>
              </a:defRPr>
            </a:pPr>
            <a:r>
              <a:rPr sz="1050" b="1">
                <a:solidFill>
                  <a:srgbClr val="24477E"/>
                </a:solidFill>
              </a:rPr>
              <a:t>x6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B9EFF90-E148-46A3-BD20-1602F856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54355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7101F"/>
                </a:solidFill>
              </a:defRPr>
            </a:pPr>
            <a:r>
              <a:rPr sz="975" b="0">
                <a:solidFill>
                  <a:srgbClr val="07101F"/>
                </a:solidFill>
              </a:rPr>
              <a:t>只谈 CAP/PACELC，禁止产品对比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86F05D54-EFDF-4FC5-B8CD-7840B443E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43650"/>
            <a:ext cx="1076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477E"/>
                </a:solidFill>
              </a:defRPr>
            </a:pPr>
            <a:r>
              <a:rPr sz="1200" b="1">
                <a:solidFill>
                  <a:srgbClr val="24477E"/>
                </a:solidFill>
              </a:rPr>
              <a:t>Core：常规能力与跨题记忆复用；Ext：覆盖面扩展；Adv：相似表述但限定不同意图，要求不能误用 E2E 缓存。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5305D09-DEEA-40F4-B2AB-CBF87884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5722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702solver 成果展示 | 04</a:t>
            </a:r>
          </a:p>
        </p:txBody>
      </p:sp>
    </p:spTree>
    <p:extLst>
      <p:ext uri="{BB962C8B-B14F-4D97-AF65-F5344CB8AC3E}">
        <p14:creationId xmlns:p14="http://schemas.microsoft.com/office/powerpoint/2010/main" val="14424627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FB8DBFD-D122-4FA1-938C-B7C65989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22C8"/>
                </a:solidFill>
              </a:defRPr>
            </a:pPr>
            <a:r>
              <a:rPr sz="3000" b="1">
                <a:solidFill>
                  <a:srgbClr val="0022C8"/>
                </a:solidFill>
              </a:rPr>
              <a:t>总体效果：A/B/C 控制变量对比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E4CA97-9F57-4187-A2CF-8B1DBA86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85850"/>
            <a:ext cx="11049000" cy="4381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A5E74-9DA6-4DEE-96D1-AA946651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71575"/>
            <a:ext cx="10429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1F"/>
                </a:solidFill>
              </a:defRPr>
            </a:pPr>
            <a:r>
              <a:rPr sz="1650" b="1">
                <a:solidFill>
                  <a:srgbClr val="07101F"/>
                </a:solidFill>
              </a:rPr>
              <a:t>同一 full24、同一 deepseek-chat、真 API；主结论看 C 相比 A 的实测下降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FC718-6DEA-4731-9A46-37C123AEE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06680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7E3389-49CF-428C-98F8-9A1F15D3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525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4F6EF2-9E94-4CDF-9680-4D57ECC8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85950"/>
            <a:ext cx="5429250" cy="371475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B5F257-AA4F-4DAE-9D32-3399A555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4477E"/>
                </a:solidFill>
              </a:defRPr>
            </a:pPr>
            <a:r>
              <a:rPr sz="1950" b="1">
                <a:solidFill>
                  <a:srgbClr val="24477E"/>
                </a:solidFill>
              </a:rPr>
              <a:t>Token 消耗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07740-6DE8-474A-B769-3569ADA1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A 纯文本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2B756C-E2E4-4416-A614-BA52DE62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24150"/>
            <a:ext cx="31432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3EEEFB-2C6E-4A9D-958D-4638A38C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724150"/>
            <a:ext cx="31432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4DA2CF-3FF1-49FA-8468-7AD272A3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765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24477E"/>
                </a:solidFill>
              </a:defRPr>
            </a:pPr>
            <a:r>
              <a:rPr sz="1125" b="1">
                <a:solidFill>
                  <a:srgbClr val="24477E"/>
                </a:solidFill>
              </a:rPr>
              <a:t>95,377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0C61EF-D0B7-4FC0-965E-6D0ED591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B 无缓存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18A29-DB6D-4D1D-8F64-D317C34C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95650"/>
            <a:ext cx="31432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313590-5EE1-4B9D-AB71-80995A83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295650"/>
            <a:ext cx="1632643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76B00"/>
          </a:solidFill>
          <a:ln xmlns:a="http://schemas.openxmlformats.org/drawingml/2006/main" w="0">
            <a:solidFill>
              <a:srgbClr val="C76B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7BBC5-7332-464A-B509-C9941512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2480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C76B00"/>
                </a:solidFill>
              </a:defRPr>
            </a:pPr>
            <a:r>
              <a:rPr sz="1125" b="1">
                <a:solidFill>
                  <a:srgbClr val="C76B00"/>
                </a:solidFill>
              </a:rPr>
              <a:t>49,540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90D9F0-A6DC-4DF6-824A-567F1C25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C 最终方案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CFA886-C1E5-45A5-8660-35F67D826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67150"/>
            <a:ext cx="31432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BF935-2FB2-47D0-A95E-40C5A766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67150"/>
            <a:ext cx="995965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138A4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A2D75C-15D3-4B12-8EEF-8F1735E6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8195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38A43"/>
                </a:solidFill>
              </a:defRPr>
            </a:pPr>
            <a:r>
              <a:rPr sz="1125" b="1">
                <a:solidFill>
                  <a:srgbClr val="138A43"/>
                </a:solidFill>
              </a:rPr>
              <a:t>30,221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C5D9B-6847-4F3E-AE89-D75AAD0C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38A43"/>
                </a:solidFill>
              </a:defRPr>
            </a:pPr>
            <a:r>
              <a:rPr sz="1950" b="1">
                <a:solidFill>
                  <a:srgbClr val="138A43"/>
                </a:solidFill>
              </a:rPr>
              <a:t>C vs A：节省 68.31%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EF92DA-AD75-4997-8C20-700FB3E4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85950"/>
            <a:ext cx="5334000" cy="371475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9C42C1-BB6F-440B-A252-E3106D94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95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4477E"/>
                </a:solidFill>
              </a:defRPr>
            </a:pPr>
            <a:r>
              <a:rPr sz="1950" b="1">
                <a:solidFill>
                  <a:srgbClr val="24477E"/>
                </a:solidFill>
              </a:rPr>
              <a:t>API 调用与总耗时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C25576-4B93-4548-BA6F-C5A86BB9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A API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70D13D-B015-4403-A4A8-C309B7F1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24150"/>
            <a:ext cx="266700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DDAF03-0C2F-4526-AC9F-72F71649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24150"/>
            <a:ext cx="256032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0270B6-8DFF-4451-AF59-DDAB5F5A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6765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24477E"/>
                </a:solidFill>
              </a:defRPr>
            </a:pPr>
            <a:r>
              <a:rPr sz="1125" b="1">
                <a:solidFill>
                  <a:srgbClr val="24477E"/>
                </a:solidFill>
              </a:rPr>
              <a:t>72 次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ABEE6A-5903-4AF4-87A6-D023D453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623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B API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7B9807-5CF8-44F5-96F5-FC40E261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00400"/>
            <a:ext cx="266700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A2A7A4-EE10-48FA-B549-B5C297FE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00400"/>
            <a:ext cx="266700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76B00"/>
          </a:solidFill>
          <a:ln xmlns:a="http://schemas.openxmlformats.org/drawingml/2006/main" w="0">
            <a:solidFill>
              <a:srgbClr val="C76B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D7E1CA-7B94-415C-94DD-D08DD5D3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315277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C76B00"/>
                </a:solidFill>
              </a:defRPr>
            </a:pPr>
            <a:r>
              <a:rPr sz="1125" b="1">
                <a:solidFill>
                  <a:srgbClr val="C76B00"/>
                </a:solidFill>
              </a:rPr>
              <a:t>75 次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21A336-56FB-4DC0-AE15-90C56CF1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385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C API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73F719-FB8B-4087-88C6-8846AC2A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76650"/>
            <a:ext cx="266700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8749BA-197A-4B8B-92E2-2FB9F05D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76650"/>
            <a:ext cx="184912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138A4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D3F87B-AF8C-4DA5-A84C-2905591D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36290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38A43"/>
                </a:solidFill>
              </a:defRPr>
            </a:pPr>
            <a:r>
              <a:rPr sz="1125" b="1">
                <a:solidFill>
                  <a:srgbClr val="138A43"/>
                </a:solidFill>
              </a:rPr>
              <a:t>52 次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3B135C-89AD-4F26-B132-3FBA22F4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243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A 耗时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536805-1F24-4FBD-80E9-732CE46A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62450"/>
            <a:ext cx="266700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EC5100-BE17-4138-85AB-7865DB4D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62450"/>
            <a:ext cx="2666713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EFA16C-6D1E-4072-933C-81CA9DA3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3148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24477E"/>
                </a:solidFill>
              </a:defRPr>
            </a:pPr>
            <a:r>
              <a:rPr sz="1125" b="1">
                <a:solidFill>
                  <a:srgbClr val="24477E"/>
                </a:solidFill>
              </a:rPr>
              <a:t>928s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13D119-1DAE-42D2-87F1-9D795C74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006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C 耗时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2198CF-5D30-4E01-BA34-38454E7C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38700"/>
            <a:ext cx="266700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1F290B-4BCD-4448-9BBF-C16075E8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38700"/>
            <a:ext cx="600585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138A4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3F4478-1373-4E68-B1CA-85338813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79107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38A43"/>
                </a:solidFill>
              </a:defRPr>
            </a:pPr>
            <a:r>
              <a:rPr sz="1125" b="1">
                <a:solidFill>
                  <a:srgbClr val="138A43"/>
                </a:solidFill>
              </a:rPr>
              <a:t>209s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31AAAA8-DDA0-4FF2-BC5E-EFBF425F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864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D6A11D7-7031-43C7-BA2A-EFF605ED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质量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53B0CF7-BC7F-47BC-B985-A80914C8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88645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AA2701B-A937-4F4F-91F5-0B03B932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943600"/>
            <a:ext cx="1181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190D28-6009-4F15-8099-B79616AC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88645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65518F3-2860-4840-98D0-9C771D42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94360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B81AC9B-47DB-42B7-8A58-322CB525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88645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290493-A55C-4852-A1C2-3841CC8B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943600"/>
            <a:ext cx="108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3A6E6A-0F04-4411-9152-7F864453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8864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E5B3B8C-7BCC-43D3-A618-39EBE1DC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94360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 E2E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3FFD12B-4A5B-4348-BA64-AD17F6F3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8864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9D7E926-4805-4668-9BAE-8612BA5A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94360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Dropout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2EBA4AA-0B47-4CC8-AC83-2D04EDCC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210300"/>
            <a:ext cx="1428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B8FD5F5-1A27-4C89-B837-B825A884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674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通过率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A3EA1CC-D0AA-493D-8BBF-603D06E5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6210300"/>
            <a:ext cx="1333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541ED11-8FFB-4215-8C86-793F87BA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267450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24/24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6AD1A99-D824-4EE3-B3AC-C4B50D91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6210300"/>
            <a:ext cx="1238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3B6331E-72D8-4A2C-9FED-BAE420C1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626745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24/24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46EF3FD-D0D5-40F0-998E-EDCFB821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6210300"/>
            <a:ext cx="1238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EBBAC2D-DADD-4044-BE80-6DF0B6F1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267450"/>
            <a:ext cx="1085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24/24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BA50A52-55E4-48BF-B5B9-C8218153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62103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2BC73D4-4686-4129-94FE-1E5CF148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62674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1 次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31821B8-F981-44ED-9D79-31B2649D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62103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B104BF5-A430-421A-8EC1-D4C27C29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62674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16 次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5A30460-0174-495B-AD71-A6DFBECC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5722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702solver 成果展示 | 05</a:t>
            </a:r>
          </a:p>
        </p:txBody>
      </p:sp>
    </p:spTree>
    <p:extLst>
      <p:ext uri="{BB962C8B-B14F-4D97-AF65-F5344CB8AC3E}">
        <p14:creationId xmlns:p14="http://schemas.microsoft.com/office/powerpoint/2010/main" val="17059484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9BA7CA-AA33-415A-8C36-0130BE69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22C8"/>
                </a:solidFill>
              </a:defRPr>
            </a:pPr>
            <a:r>
              <a:rPr sz="3000" b="1">
                <a:solidFill>
                  <a:srgbClr val="0022C8"/>
                </a:solidFill>
              </a:rPr>
              <a:t>消融结果：能看到每个机制的实际贡献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67929D-8CE5-48D3-B333-2608646E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85850"/>
            <a:ext cx="11049000" cy="4381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602EA7-1829-40A7-8C4E-3940887E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71575"/>
            <a:ext cx="10429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1F"/>
                </a:solidFill>
              </a:defRPr>
            </a:pPr>
            <a:r>
              <a:rPr sz="1650" b="1">
                <a:solidFill>
                  <a:srgbClr val="07101F"/>
                </a:solidFill>
              </a:rPr>
              <a:t>不是只给最终数字，而是把“结构化协议”和“记忆/剪枝”的贡献拆开看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6CA475-5D1B-402B-A1A0-E5FEFF57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06680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04DDB-7611-4502-AAE4-6156597E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525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2396E-E298-47A9-AD91-019B9F97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14325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510D16-E97C-42DD-97DF-CDF7C3932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A 纯文本基线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7F4914-E41D-49D2-8CBD-5606206E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95,377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98282-754E-4BFE-8083-65D19DC6A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长 prompt / 无协议 / 无记忆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A3C0BB-D513-4C66-8967-2D4BC4D5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050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8A43"/>
                </a:solidFill>
              </a:defRPr>
            </a:pPr>
            <a:r>
              <a:rPr sz="1800" b="1">
                <a:solidFill>
                  <a:srgbClr val="138A43"/>
                </a:solidFill>
              </a:rPr>
              <a:t>结构化协议贡献</a:t>
            </a:r>
          </a:p>
          <a:p xmlns:a="http://schemas.openxmlformats.org/drawingml/2006/main">
            <a:pPr algn="ctr">
              <a:defRPr sz="1800" b="1">
                <a:solidFill>
                  <a:srgbClr val="138A43"/>
                </a:solidFill>
              </a:defRPr>
            </a:pPr>
            <a:r>
              <a:rPr sz="1800" b="1">
                <a:solidFill>
                  <a:srgbClr val="138A43"/>
                </a:solidFill>
              </a:rPr>
              <a:t>节省 48.06%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511CC8-A59F-445A-9D3D-7F99067F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5717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24477E"/>
                </a:solidFill>
              </a:defRPr>
            </a:pPr>
            <a:r>
              <a:rPr sz="2850" b="1">
                <a:solidFill>
                  <a:srgbClr val="24477E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2A4EF-CE27-453C-9C1F-4C25DC9C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4765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C76B00"/>
          </a:solidFill>
          <a:ln xmlns:a="http://schemas.openxmlformats.org/drawingml/2006/main" w="0">
            <a:solidFill>
              <a:srgbClr val="C76B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5DA70B-F119-4F0F-BA0E-BCB03447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622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B 结构化无缓存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FBC7CA-BD8E-4634-AF1C-9697E9EC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49,540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BAF694-0AB2-4078-8D85-9B352119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有协议 / 无记忆复用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7B854-BBA0-449C-9E4A-6068C7FF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050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8A43"/>
                </a:solidFill>
              </a:defRPr>
            </a:pPr>
            <a:r>
              <a:rPr sz="1800" b="1">
                <a:solidFill>
                  <a:srgbClr val="138A43"/>
                </a:solidFill>
              </a:rPr>
              <a:t>共享记忆 + 剪枝贡献</a:t>
            </a:r>
          </a:p>
          <a:p xmlns:a="http://schemas.openxmlformats.org/drawingml/2006/main">
            <a:pPr algn="ctr">
              <a:defRPr sz="1800" b="1">
                <a:solidFill>
                  <a:srgbClr val="138A43"/>
                </a:solidFill>
              </a:defRPr>
            </a:pPr>
            <a:r>
              <a:rPr sz="1800" b="1">
                <a:solidFill>
                  <a:srgbClr val="138A43"/>
                </a:solidFill>
              </a:rPr>
              <a:t>再节省 39.0%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C9B507-5059-471F-A25C-E3506588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004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24477E"/>
                </a:solidFill>
              </a:defRPr>
            </a:pPr>
            <a:r>
              <a:rPr sz="3000" b="1">
                <a:solidFill>
                  <a:srgbClr val="24477E"/>
                </a:solidFill>
              </a:rPr>
              <a:t>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9277DD-C2C7-434A-86E3-7BD2B645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86250"/>
            <a:ext cx="295275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138A4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D44C3A-2F57-461C-928D-F1FD1883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9580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C 最终方案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590BC1-6827-42FB-8375-F7C3B70D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7680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30,221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FF59E6-D539-45E3-86AE-5D6363D0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267325"/>
            <a:ext cx="2619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FFFFFF"/>
                </a:solidFill>
              </a:defRPr>
            </a:pPr>
            <a:r>
              <a:rPr sz="1050" b="0">
                <a:solidFill>
                  <a:srgbClr val="FFFFFF"/>
                </a:solidFill>
              </a:rPr>
              <a:t>结构化 + 共享记忆 + 模板/Dropout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04E7EF-40FC-4130-9345-3581CF5D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0007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4477E"/>
                </a:solidFill>
              </a:defRPr>
            </a:pPr>
            <a:r>
              <a:rPr sz="1500" b="1">
                <a:solidFill>
                  <a:srgbClr val="24477E"/>
                </a:solidFill>
              </a:rPr>
              <a:t>这页的意义：证明效果不是“偶然变短”，而是结构化协议和共享记忆两类机制都产生了可量化收益。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74B3B7-27BD-469D-B6B7-552675296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5722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702solver 成果展示 | 06</a:t>
            </a:r>
          </a:p>
        </p:txBody>
      </p:sp>
    </p:spTree>
    <p:extLst>
      <p:ext uri="{BB962C8B-B14F-4D97-AF65-F5344CB8AC3E}">
        <p14:creationId xmlns:p14="http://schemas.microsoft.com/office/powerpoint/2010/main" val="15948254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452E591-125D-4CF3-BB5E-68472D5E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22C8"/>
                </a:solidFill>
              </a:defRPr>
            </a:pPr>
            <a:r>
              <a:rPr sz="3000" b="1">
                <a:solidFill>
                  <a:srgbClr val="0022C8"/>
                </a:solidFill>
              </a:rPr>
              <a:t>逐题与分领域结果：效果不是靠单题凑出来的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28FD7-A880-4426-A269-78C6C44C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85850"/>
            <a:ext cx="11049000" cy="4381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9C574-D118-48EA-8519-9AACD12E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71575"/>
            <a:ext cx="10429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1F"/>
                </a:solidFill>
              </a:defRPr>
            </a:pPr>
            <a:r>
              <a:rPr sz="1650" b="1">
                <a:solidFill>
                  <a:srgbClr val="07101F"/>
                </a:solidFill>
              </a:rPr>
              <a:t>24 题全部通过，节省覆盖能源、安全、数据库三个领域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194D5E-9351-44FB-976C-3EA7B6C6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06680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475FB-FD03-45BC-A8F4-34E1F168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525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702525-1F27-49F5-9B9B-EB0D641F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4953000" cy="3429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A6D1FE-6002-4DF1-B903-0138D00C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477E"/>
                </a:solidFill>
              </a:defRPr>
            </a:pPr>
            <a:r>
              <a:rPr sz="1875" b="1">
                <a:solidFill>
                  <a:srgbClr val="24477E"/>
                </a:solidFill>
              </a:rPr>
              <a:t>分领域 Token 节省率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CE1D9-3BBC-4B59-8043-0FC9C5A9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01F"/>
                </a:solidFill>
              </a:defRPr>
            </a:pPr>
            <a:r>
              <a:rPr sz="1425" b="1">
                <a:solidFill>
                  <a:srgbClr val="07101F"/>
                </a:solidFill>
              </a:rPr>
              <a:t>能源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BEA842-F87B-4B6A-A4A0-5CD19EBC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781300"/>
            <a:ext cx="2571750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ABA71F-24A6-422C-B311-9AC8F8D7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781300"/>
            <a:ext cx="2020332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138A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79E2FC-CE93-4F3E-8E6D-DEC0FA77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432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38A43"/>
                </a:solidFill>
              </a:defRPr>
            </a:pPr>
            <a:r>
              <a:rPr sz="1350" b="1">
                <a:solidFill>
                  <a:srgbClr val="138A43"/>
                </a:solidFill>
              </a:rPr>
              <a:t>62.8%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44758E-DC4F-4A90-9B79-0B4F3740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0480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B73"/>
                </a:solidFill>
              </a:defRPr>
            </a:pPr>
            <a:r>
              <a:rPr sz="975" b="0">
                <a:solidFill>
                  <a:srgbClr val="4B5B73"/>
                </a:solidFill>
              </a:rPr>
              <a:t>31,276 → 11,620 token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161FB6-3AC3-4DCB-92C2-92EAB229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01F"/>
                </a:solidFill>
              </a:defRPr>
            </a:pPr>
            <a:r>
              <a:rPr sz="1425" b="1">
                <a:solidFill>
                  <a:srgbClr val="07101F"/>
                </a:solidFill>
              </a:rPr>
              <a:t>安全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4E0427-810D-4350-AA9A-FD7A37B3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43300"/>
            <a:ext cx="2571750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E2C13-772A-4797-BF84-C726712A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43300"/>
            <a:ext cx="2246113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C76B00"/>
          </a:solidFill>
          <a:ln xmlns:a="http://schemas.openxmlformats.org/drawingml/2006/main" w="0">
            <a:solidFill>
              <a:srgbClr val="C76B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9C4B29-60A1-4785-A9EF-0984D18E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052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76B00"/>
                </a:solidFill>
              </a:defRPr>
            </a:pPr>
            <a:r>
              <a:rPr sz="1350" b="1">
                <a:solidFill>
                  <a:srgbClr val="C76B00"/>
                </a:solidFill>
              </a:rPr>
              <a:t>69.9%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6244EC-A657-41FF-B24D-C8E8DB61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8100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B73"/>
                </a:solidFill>
              </a:defRPr>
            </a:pPr>
            <a:r>
              <a:rPr sz="975" b="0">
                <a:solidFill>
                  <a:srgbClr val="4B5B73"/>
                </a:solidFill>
              </a:rPr>
              <a:t>32,234 → 9,712 token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3A4782-D0A2-42FD-AF15-EFC2DDA1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7101F"/>
                </a:solidFill>
              </a:defRPr>
            </a:pPr>
            <a:r>
              <a:rPr sz="1425" b="1">
                <a:solidFill>
                  <a:srgbClr val="07101F"/>
                </a:solidFill>
              </a:rPr>
              <a:t>数据库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0A19FF-FEBE-424B-9C58-DF8BD20A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05300"/>
            <a:ext cx="2571750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E5397F-ED3B-4FCF-B871-7F721267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05300"/>
            <a:ext cx="2317981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57C07F-459E-4D7B-A307-26F33F4D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2672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4477E"/>
                </a:solidFill>
              </a:defRPr>
            </a:pPr>
            <a:r>
              <a:rPr sz="1350" b="1">
                <a:solidFill>
                  <a:srgbClr val="24477E"/>
                </a:solidFill>
              </a:rPr>
              <a:t>72.1%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167183-4050-4CD0-82E6-72542976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720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B73"/>
                </a:solidFill>
              </a:defRPr>
            </a:pPr>
            <a:r>
              <a:rPr sz="975" b="0">
                <a:solidFill>
                  <a:srgbClr val="4B5B73"/>
                </a:solidFill>
              </a:rPr>
              <a:t>31,867 → 8,889 token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41073D-26F1-4D75-A801-E5C4A0D6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943100"/>
            <a:ext cx="5105400" cy="3429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DBC154-50BF-47E4-A50C-F5A86138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477E"/>
                </a:solidFill>
              </a:defRPr>
            </a:pPr>
            <a:r>
              <a:rPr sz="1875" b="1">
                <a:solidFill>
                  <a:srgbClr val="24477E"/>
                </a:solidFill>
              </a:rPr>
              <a:t>C 模式策略分布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473210-5D48-4595-8E82-B5EC84C6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194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01F"/>
                </a:solidFill>
              </a:defRPr>
            </a:pPr>
            <a:r>
              <a:rPr sz="1350" b="1">
                <a:solidFill>
                  <a:srgbClr val="07101F"/>
                </a:solidFill>
              </a:rPr>
              <a:t>模板/跳过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ACBA45-E8BE-481B-AA5B-5E821BF8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857500"/>
            <a:ext cx="2381250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46F7CE-E8A5-4E38-934A-21519EA0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857500"/>
            <a:ext cx="1587500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38A43"/>
          </a:solidFill>
          <a:ln xmlns:a="http://schemas.openxmlformats.org/drawingml/2006/main" w="0">
            <a:solidFill>
              <a:srgbClr val="138A4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BE0C8E-8510-4BC0-BD06-B9F06378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8194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38A43"/>
                </a:solidFill>
              </a:defRPr>
            </a:pPr>
            <a:r>
              <a:rPr sz="1350" b="1">
                <a:solidFill>
                  <a:srgbClr val="138A43"/>
                </a:solidFill>
              </a:rPr>
              <a:t>16 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D21F62-8F08-4E9B-BC80-46218F03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242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B73"/>
                </a:solidFill>
              </a:defRPr>
            </a:pPr>
            <a:r>
              <a:rPr sz="975" b="0">
                <a:solidFill>
                  <a:srgbClr val="4B5B73"/>
                </a:solidFill>
              </a:rPr>
              <a:t>TEMPLATE_FILL_DROP / P1_TEMPLATE_DROP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56FDDF-E8DE-4C66-A370-765F26CF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433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01F"/>
                </a:solidFill>
              </a:defRPr>
            </a:pPr>
            <a:r>
              <a:rPr sz="1350" b="1">
                <a:solidFill>
                  <a:srgbClr val="07101F"/>
                </a:solidFill>
              </a:rPr>
              <a:t>完整生成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02C19D-DAD1-4002-A775-E1DD0BBD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581400"/>
            <a:ext cx="2381250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319088-F4A0-449E-BEE5-86FA4B76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581400"/>
            <a:ext cx="694531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D85239-BC36-46FB-85E5-35B08591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5433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4477E"/>
                </a:solidFill>
              </a:defRPr>
            </a:pPr>
            <a:r>
              <a:rPr sz="1350" b="1">
                <a:solidFill>
                  <a:srgbClr val="24477E"/>
                </a:solidFill>
              </a:rPr>
              <a:t>7 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48CC61-C254-47BD-8498-F6F64295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8481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B73"/>
                </a:solidFill>
              </a:defRPr>
            </a:pPr>
            <a:r>
              <a:rPr sz="975" b="0">
                <a:solidFill>
                  <a:srgbClr val="4B5B73"/>
                </a:solidFill>
              </a:rPr>
              <a:t>需要全新综合的任务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221AFC-32E2-4DF9-8619-96F63903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672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01F"/>
                </a:solidFill>
              </a:defRPr>
            </a:pPr>
            <a:r>
              <a:rPr sz="1350" b="1">
                <a:solidFill>
                  <a:srgbClr val="07101F"/>
                </a:solidFill>
              </a:rPr>
              <a:t>整题复用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6ADC13-9791-4250-BD3B-536108DD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05300"/>
            <a:ext cx="2381250" cy="2095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ECF4"/>
          </a:solidFill>
          <a:ln xmlns:a="http://schemas.openxmlformats.org/drawingml/2006/main" w="0">
            <a:solidFill>
              <a:srgbClr val="E7ECF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E16685-C335-4F51-9789-3D8C2D4F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05300"/>
            <a:ext cx="99219" cy="209550"/>
          </a:xfrm>
          <a:prstGeom xmlns:a="http://schemas.openxmlformats.org/drawingml/2006/main" prst="roundRect">
            <a:avLst>
              <a:gd name="adj" fmla="val 19200"/>
            </a:avLst>
          </a:prstGeom>
          <a:solidFill xmlns:a="http://schemas.openxmlformats.org/drawingml/2006/main">
            <a:srgbClr val="C76B00"/>
          </a:solidFill>
          <a:ln xmlns:a="http://schemas.openxmlformats.org/drawingml/2006/main" w="0">
            <a:solidFill>
              <a:srgbClr val="C76B0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A7E95E-ABC2-4D66-AF40-A9A1A829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2672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76B00"/>
                </a:solidFill>
              </a:defRPr>
            </a:pPr>
            <a:r>
              <a:rPr sz="1350" b="1">
                <a:solidFill>
                  <a:srgbClr val="C76B00"/>
                </a:solidFill>
              </a:rPr>
              <a:t>1 题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2949AF6-3F55-43E1-A233-15DA9A68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720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B5B73"/>
                </a:solidFill>
              </a:defRPr>
            </a:pPr>
            <a:r>
              <a:rPr sz="975" b="0">
                <a:solidFill>
                  <a:srgbClr val="4B5B73"/>
                </a:solidFill>
              </a:rPr>
              <a:t>E2E_EXACT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9581EB-8116-405C-91DE-A1614C7F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7340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8EC8EF-54D5-4B3B-867C-91A8AE01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791200"/>
            <a:ext cx="1847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代表现象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81D4F9-21C3-4D9D-AE42-19D69BEA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7340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2366D2-2D95-4DC2-BA57-2F7F7E4E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791200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最高节省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BF6E175-A8DF-4915-931A-D54630B4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7340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EB847EB-2340-4C70-B6FA-5846254A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791200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常见节省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C5D493A-9A57-4CF5-A1B5-2C71AE0F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73405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4A43473-751B-4781-A9D9-90D5F14B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912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策略说明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08F820B-945F-47CF-8017-7AB384A1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73405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C57FE5F-519C-40CE-9699-BC363BD9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791200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质量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F2FFDB8-524A-4766-9E74-068F74B1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60579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4A6FB8-7CC4-47BC-97D6-7C8ED15B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611505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s3 Python漏洞变体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4C2DA03-200A-4055-9C9A-FA20BBBF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0579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30EE4F1-73AC-497A-AA73-4A2F7C75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6115050"/>
            <a:ext cx="1466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100.0%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DC1A7BE-32DB-447E-9634-B593E1EA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0579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46A620D-F076-4525-B2BF-D234FF64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6115050"/>
            <a:ext cx="1466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70% 左右多题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5EDB430-64CC-4C49-BF1B-0F9C488F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60579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36C0D42-481D-4807-B2A4-72C1D3A9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6115050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整题/模板/跳过混合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113F0AE-5097-4F98-BBFD-4941BD5B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60579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2EF7788-6410-4E0E-91AF-FF1E4AA1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6115050"/>
            <a:ext cx="1466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24/24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43ABFF9-D73D-408E-BD45-1E40E0F7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5722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702solver 成果展示 | 07</a:t>
            </a:r>
          </a:p>
        </p:txBody>
      </p:sp>
    </p:spTree>
    <p:extLst>
      <p:ext uri="{BB962C8B-B14F-4D97-AF65-F5344CB8AC3E}">
        <p14:creationId xmlns:p14="http://schemas.microsoft.com/office/powerpoint/2010/main" val="20033179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71D9EF3-D9D3-43E4-8BF8-C544C5AB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22C8"/>
                </a:solidFill>
              </a:defRPr>
            </a:pPr>
            <a:r>
              <a:rPr sz="3000" b="1">
                <a:solidFill>
                  <a:srgbClr val="0022C8"/>
                </a:solidFill>
              </a:rPr>
              <a:t>质量与安全：节省 token 的同时不能套错答案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880ACD-0339-4A93-86A4-CA6AE7097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85850"/>
            <a:ext cx="11049000" cy="4381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04FB1E-4EAD-4BD7-9105-332E1AA8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71575"/>
            <a:ext cx="10429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1F"/>
                </a:solidFill>
              </a:defRPr>
            </a:pPr>
            <a:r>
              <a:rPr sz="1650" b="1">
                <a:solidFill>
                  <a:srgbClr val="07101F"/>
                </a:solidFill>
              </a:rPr>
              <a:t>对抗题专门设计成“看起来像旧题，但要求不同”，用来验证缓存安全边界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2C6890-A1B4-48E8-A327-698723CF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06680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6A64E9-9BB2-4C29-BC2A-E70FB17B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525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B596B-AE6A-436B-924C-0607203B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2381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0358D-8053-4F5A-BB14-EE7F7AF0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质量通过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82ED48-4D4E-41A8-9571-AA5A63FF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8A43"/>
                </a:solidFill>
              </a:defRPr>
            </a:pPr>
            <a:r>
              <a:rPr sz="2550" b="1">
                <a:solidFill>
                  <a:srgbClr val="138A43"/>
                </a:solidFill>
              </a:rPr>
              <a:t>24/24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54157F-E7B6-4D62-AEB1-39A0F626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A/B/C 均通过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7563F8-69F2-4958-8A25-D94E27E2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81200"/>
            <a:ext cx="2381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7FB8C3-17A5-4F39-AFCB-49E0A19B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0955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对抗误用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DA9B56-1363-4A99-A4AB-5F318F8E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431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76B00"/>
                </a:solidFill>
              </a:defRPr>
            </a:pPr>
            <a:r>
              <a:rPr sz="2550" b="1">
                <a:solidFill>
                  <a:srgbClr val="C76B00"/>
                </a:solidFill>
              </a:rPr>
              <a:t>0/6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66C1D9-0996-43B7-84A8-9C84F233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71775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错误 E2E 命中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8C9C49-F3B7-4D83-ACDB-937790A1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81200"/>
            <a:ext cx="2381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DDA25F-E92D-4192-B8E2-B9A5B379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对抗质量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37675A-C5B4-4F87-8585-1B909D90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431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8A43"/>
                </a:solidFill>
              </a:defRPr>
            </a:pPr>
            <a:r>
              <a:rPr sz="2550" b="1">
                <a:solidFill>
                  <a:srgbClr val="138A43"/>
                </a:solidFill>
              </a:rPr>
              <a:t>6/6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79FAB0-BC04-4C62-9E3D-E018FE26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71775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对抗题通过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DE99F0-C716-4869-BF0C-303C1670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981200"/>
            <a:ext cx="2381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15326E-714A-413A-A364-160CFF7F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0955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平均相关度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F2714D-F6CB-498C-928C-17E050B7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43150"/>
            <a:ext cx="207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4477E"/>
                </a:solidFill>
              </a:defRPr>
            </a:pPr>
            <a:r>
              <a:rPr sz="2550" b="1">
                <a:solidFill>
                  <a:srgbClr val="24477E"/>
                </a:solidFill>
              </a:rPr>
              <a:t>0.841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9CBF4A-8913-4853-9816-6AEF8C09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771775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C 模式结果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842E67-342B-41AD-B041-BF432441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5716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456AA5-9F77-41B8-BA7D-D5E8F486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76650"/>
            <a:ext cx="14192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对抗题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B59B23-A53B-4577-9B1F-79D6C891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619500"/>
            <a:ext cx="2647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B1FC3C-2213-4AAC-835F-0410AF2E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676650"/>
            <a:ext cx="249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看起来像什么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6C6857-A8DE-4DB8-8BC3-1F2BA17A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619500"/>
            <a:ext cx="2647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8F929D-27A5-4076-AF62-70591079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676650"/>
            <a:ext cx="249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真实要求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35EBA8-17AC-49E6-ABB7-9ABCF28C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9500"/>
            <a:ext cx="304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15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1DA629-596A-40E7-8388-3390D968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676650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系统防护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FF6EB8-DF23-4104-A63D-2FF6B053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1571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73A149-63E6-440F-8EFA-3285B44A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9550"/>
            <a:ext cx="1419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x1/x2 能源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AE07D6-0D8C-4207-A0B9-D7162AA5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962400"/>
            <a:ext cx="2647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D03D05-4F7E-4B3C-81C0-EC195D43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019550"/>
            <a:ext cx="2495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光伏/风电旧题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3EF969-8322-47B7-AE99-B7FC0050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62400"/>
            <a:ext cx="2647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7430E8-7291-4BA3-B516-587CA12C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19550"/>
            <a:ext cx="2495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只谈政策或经济，不谈技术细节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C90ACB-E9A9-412E-92E3-2BD08610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62400"/>
            <a:ext cx="3048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EFB0DB-9FEF-41C2-BD43-3DFD1175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019550"/>
            <a:ext cx="289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no-e2e-cache + 意图门控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987E4D2-73DC-4AB8-9797-5303AC25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571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15A862-F951-41E9-9F00-29EECC26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1419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x3/x4 安全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CB2F9B-9D4D-4A47-80D0-21F3CC2A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457700"/>
            <a:ext cx="2647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569FF3-926E-4461-9C49-89FBA4D7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514850"/>
            <a:ext cx="2495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Web/Python 安全旧题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5192B51-395D-470F-B933-E048C347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457700"/>
            <a:ext cx="2647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5E7D61A-004F-4980-936D-E6889C7B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14850"/>
            <a:ext cx="2495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只谈合规或 TLS，不谈漏洞修复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D6C2CD-9A08-45E0-B9EA-1EE709B4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457700"/>
            <a:ext cx="3048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44E6BA-6E32-4DEA-8A4B-91477D92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514850"/>
            <a:ext cx="289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严格意图不可跨类复用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F6C75B1-AC59-4C9B-9553-6E4E6A62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571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55E072-9603-4EF7-89AA-1D9A223D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14192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7101F"/>
                </a:solidFill>
              </a:defRPr>
            </a:pPr>
            <a:r>
              <a:rPr sz="1200" b="1">
                <a:solidFill>
                  <a:srgbClr val="07101F"/>
                </a:solidFill>
              </a:rPr>
              <a:t>x5/x6 数据库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A9ED5FE-ECC2-4154-8BAB-D2678643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953000"/>
            <a:ext cx="2647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8F40791-C70F-4929-8AD5-9CAB9A1F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010150"/>
            <a:ext cx="2495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数据库优化/NoSQL 旧题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F31782-0BBC-4B1D-829E-29F44DE9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953000"/>
            <a:ext cx="2647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4E7AE33-2941-4A5A-A6AC-A41BF926B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010150"/>
            <a:ext cx="2495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只谈迁移或 CAP，不谈产品/索引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7693BD0-C32B-4885-868A-D5F299F0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953000"/>
            <a:ext cx="3048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747B87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1B72D40-3F0C-42F8-B439-0274AE36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010150"/>
            <a:ext cx="289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7101F"/>
                </a:solidFill>
              </a:defRPr>
            </a:pPr>
            <a:r>
              <a:rPr sz="1200" b="0">
                <a:solidFill>
                  <a:srgbClr val="07101F"/>
                </a:solidFill>
              </a:rPr>
              <a:t>缓存候选需标签与意图兼容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5C3644-35AD-48B6-8DD4-89B028C5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8170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4477E"/>
                </a:solidFill>
              </a:defRPr>
            </a:pPr>
            <a:r>
              <a:rPr sz="1575" b="1">
                <a:solidFill>
                  <a:srgbClr val="24477E"/>
                </a:solidFill>
              </a:rPr>
              <a:t>结论：系统不是无脑复用历史答案，而是在相似度、标签、意图和模板成功率四个层面做安全过滤。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AB02050-EDF4-4703-834C-BF4841CF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5722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702solver 成果展示 | 08</a:t>
            </a:r>
          </a:p>
        </p:txBody>
      </p:sp>
    </p:spTree>
    <p:extLst>
      <p:ext uri="{BB962C8B-B14F-4D97-AF65-F5344CB8AC3E}">
        <p14:creationId xmlns:p14="http://schemas.microsoft.com/office/powerpoint/2010/main" val="11571476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16D4EE-FD50-4B0E-8966-C45EBE51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22C8"/>
                </a:solidFill>
              </a:defRPr>
            </a:pPr>
            <a:r>
              <a:rPr sz="3000" b="1">
                <a:solidFill>
                  <a:srgbClr val="0022C8"/>
                </a:solidFill>
              </a:rPr>
              <a:t>实时演示效果：同一界面展示题目、指标、日志和代码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DCAAF-0907-42D9-9920-99735146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85850"/>
            <a:ext cx="11049000" cy="4381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AAFD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0107F-C617-4D18-8351-B4F7AEF3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171575"/>
            <a:ext cx="10429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1F"/>
                </a:solidFill>
              </a:defRPr>
            </a:pPr>
            <a:r>
              <a:rPr sz="1650" b="1">
                <a:solidFill>
                  <a:srgbClr val="07101F"/>
                </a:solidFill>
              </a:rPr>
              <a:t>录屏时可以直接展示 24 题清单、A/C 对比过程，以及 token/API 的实时刷新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776109-286C-4974-A982-2A83540C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06680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4477E"/>
          </a:solidFill>
          <a:ln xmlns:a="http://schemas.openxmlformats.org/drawingml/2006/main" w="0">
            <a:solidFill>
              <a:srgbClr val="24477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0FC06-B987-440D-A1B9-DAFBCF31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525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▶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a3670aaff493d"/>
          <a:stretch xmlns:a="http://schemas.openxmlformats.org/drawingml/2006/main"/>
        </p:blipFill>
        <p:spPr>
          <a:xfrm xmlns:a="http://schemas.openxmlformats.org/drawingml/2006/main">
            <a:off x="457200" y="1964629"/>
            <a:ext cx="6191250" cy="3309742"/>
          </a:xfrm>
          <a:prstGeom xmlns:a="http://schemas.openxmlformats.org/drawingml/2006/main" prst="roundRect">
            <a:avLst>
              <a:gd name="adj" fmla="val 166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CB1B2-D579-4BC0-A2E8-206ABC19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4325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35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1D430C-0B6F-4BC1-A9C2-BC3A72DA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05175"/>
            <a:ext cx="438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23EABE-8698-4F24-B463-E079B62C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3860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4477E"/>
                </a:solidFill>
              </a:defRPr>
            </a:pPr>
            <a:r>
              <a:rPr sz="1200" b="1">
                <a:solidFill>
                  <a:srgbClr val="24477E"/>
                </a:solidFill>
              </a:rPr>
              <a:t>演示视频位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AC5E1A-B9A1-4116-B875-519EEEED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2000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A54AC6-8BC5-4EE0-ADA6-E5D17E46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截图阶段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35CA64-5EBB-489A-AA41-1FD173DD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1460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22C8"/>
                </a:solidFill>
              </a:defRPr>
            </a:pPr>
            <a:r>
              <a:rPr sz="2550" b="1">
                <a:solidFill>
                  <a:srgbClr val="0022C8"/>
                </a:solidFill>
              </a:rPr>
              <a:t>C (24/24)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B09204-9D5B-4309-ADCE-A7B0FFE0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43225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C 模式完成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7ABD7-FD10-45A6-B47E-B1FD1669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152650"/>
            <a:ext cx="2000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50134C-241A-4366-A185-CF39FCB3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66950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实时 token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B4F932-E106-4956-B49F-CDF5D44E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51460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8A43"/>
                </a:solidFill>
              </a:defRPr>
            </a:pPr>
            <a:r>
              <a:rPr sz="2550" b="1">
                <a:solidFill>
                  <a:srgbClr val="138A43"/>
                </a:solidFill>
              </a:rPr>
              <a:t>39,880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19799A-13F8-41B0-8E70-6900504D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943225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DeepSeek usage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E97B8A-9154-494C-B4F3-546C3D7A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524250"/>
            <a:ext cx="2000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8D8670-067A-4643-93FF-AC8D6BE8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38550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实时 API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EB5BBB-9BF2-4C22-B298-9F229F9B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76B00"/>
                </a:solidFill>
              </a:defRPr>
            </a:pPr>
            <a:r>
              <a:rPr sz="2550" b="1">
                <a:solidFill>
                  <a:srgbClr val="C76B00"/>
                </a:solidFill>
              </a:rPr>
              <a:t>64 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83981E-EA51-47CE-B509-EB928DD8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14825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截图单次运行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0C494C-EE9B-41AA-B995-74B17E7A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524250"/>
            <a:ext cx="2000250" cy="1123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3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D73C90-B11C-4373-A050-CE81BFCA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638550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B73"/>
                </a:solidFill>
              </a:defRPr>
            </a:pPr>
            <a:r>
              <a:rPr sz="1125" b="1">
                <a:solidFill>
                  <a:srgbClr val="4B5B73"/>
                </a:solidFill>
              </a:rPr>
              <a:t>实时节省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35202-7795-45C6-90C4-803896DD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86200"/>
            <a:ext cx="1695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8A43"/>
                </a:solidFill>
              </a:defRPr>
            </a:pPr>
            <a:r>
              <a:rPr sz="2550" b="1">
                <a:solidFill>
                  <a:srgbClr val="138A43"/>
                </a:solidFill>
              </a:rPr>
              <a:t>54.8%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FA3B89-5677-469B-BFDE-BFF67B89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314825"/>
            <a:ext cx="1695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B73"/>
                </a:solidFill>
              </a:defRPr>
            </a:pPr>
            <a:r>
              <a:rPr sz="1050" b="0">
                <a:solidFill>
                  <a:srgbClr val="4B5B73"/>
                </a:solidFill>
              </a:rPr>
              <a:t>C 相比 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6C0241-278D-4D34-818B-A4B6FFF0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04825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477E"/>
                </a:solidFill>
              </a:defRPr>
            </a:pPr>
            <a:r>
              <a:rPr sz="1350" b="1">
                <a:solidFill>
                  <a:srgbClr val="24477E"/>
                </a:solidFill>
              </a:rPr>
              <a:t>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6C4C86-91D0-4A39-80E2-27F05E2C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038725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打开界面后先展示 24 题列表，说明实验不是单题演示。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D06B4F-A616-4309-AE75-88834BD7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37210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477E"/>
                </a:solidFill>
              </a:defRPr>
            </a:pPr>
            <a:r>
              <a:rPr sz="1350" b="1">
                <a:solidFill>
                  <a:srgbClr val="24477E"/>
                </a:solidFill>
              </a:rPr>
              <a:t>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2465DF-3A90-48C8-BD89-1CCA315A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362575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先运行 A 纯文本，再运行 C 最终方案，让表格逐题填充。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A422E9-5D80-4CA1-BC89-463CFDA44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695950"/>
            <a:ext cx="209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477E"/>
                </a:solidFill>
              </a:defRPr>
            </a:pPr>
            <a:r>
              <a:rPr sz="1350" b="1">
                <a:solidFill>
                  <a:srgbClr val="24477E"/>
                </a:solidFill>
              </a:rPr>
              <a:t>■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373EA3-49F9-4565-AC83-DC83834F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686425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7101F"/>
                </a:solidFill>
              </a:defRPr>
            </a:pPr>
            <a:r>
              <a:rPr sz="1350" b="0">
                <a:solidFill>
                  <a:srgbClr val="07101F"/>
                </a:solidFill>
              </a:rPr>
              <a:t>讲解策略列：FULL_GEN、TEMPLATE、E2E、Dropout 对应不同节省来源。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B9BE56-EA32-426E-973B-BFBAF4EF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5722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B7280"/>
                </a:solidFill>
              </a:defRPr>
            </a:pPr>
            <a:r>
              <a:rPr sz="825" b="0">
                <a:solidFill>
                  <a:srgbClr val="6B7280"/>
                </a:solidFill>
              </a:rPr>
              <a:t>702solver 成果展示 | 09</a:t>
            </a:r>
          </a:p>
        </p:txBody>
      </p:sp>
    </p:spTree>
    <p:extLst>
      <p:ext uri="{BB962C8B-B14F-4D97-AF65-F5344CB8AC3E}">
        <p14:creationId xmlns:p14="http://schemas.microsoft.com/office/powerpoint/2010/main" val="18420947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2026-07-29T07:07:30.7760000Z</dcterms:created>
  <dcterms:modified xsi:type="dcterms:W3CDTF">2026-07-29T07:07:30.7760000Z</dcterms:modified>
</coreProperties>
</file>