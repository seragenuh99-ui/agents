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847c7312ed74f24" /><Relationship Type="http://schemas.openxmlformats.org/officeDocument/2006/relationships/extended-properties" Target="/docProps/app.xml" Id="R0d8571c0f8a042e6" /><Relationship Type="http://schemas.openxmlformats.org/officeDocument/2006/relationships/officeDocument" Target="/ppt/presentation.xml" Id="R1497fb64c5314a3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a9729ec67744dfb"/>
  </p:sldMasterIdLst>
  <p:notesMasterIdLst>
    <p:notesMasterId xmlns:r="http://schemas.openxmlformats.org/officeDocument/2006/relationships" r:id="R6355b15c476545d2"/>
  </p:notesMasterIdLst>
  <p:sldIdLst>
    <p:sldId xmlns:r="http://schemas.openxmlformats.org/officeDocument/2006/relationships" id="256" r:id="Rbc119c4361064238"/>
    <p:sldId xmlns:r="http://schemas.openxmlformats.org/officeDocument/2006/relationships" id="257" r:id="R9b24ed9f94554879"/>
    <p:sldId xmlns:r="http://schemas.openxmlformats.org/officeDocument/2006/relationships" id="258" r:id="R893db6f2e35e4785"/>
    <p:sldId xmlns:r="http://schemas.openxmlformats.org/officeDocument/2006/relationships" id="259" r:id="R8b2de1e094504c36"/>
    <p:sldId xmlns:r="http://schemas.openxmlformats.org/officeDocument/2006/relationships" id="260" r:id="Rfba21578014d42bf"/>
    <p:sldId xmlns:r="http://schemas.openxmlformats.org/officeDocument/2006/relationships" id="261" r:id="R64c27bad7d0c41a6"/>
    <p:sldId xmlns:r="http://schemas.openxmlformats.org/officeDocument/2006/relationships" id="262" r:id="Ra73ae0ff908c4043"/>
    <p:sldId xmlns:r="http://schemas.openxmlformats.org/officeDocument/2006/relationships" id="263" r:id="R0f8069ee2b4b4149"/>
    <p:sldId xmlns:r="http://schemas.openxmlformats.org/officeDocument/2006/relationships" id="264" r:id="Re2914592b0d04e63"/>
    <p:sldId xmlns:r="http://schemas.openxmlformats.org/officeDocument/2006/relationships" id="265" r:id="Rf16d51810152465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7aa0d3c41224e0e" /><Relationship Type="http://schemas.openxmlformats.org/officeDocument/2006/relationships/slideMaster" Target="/ppt/slideMasters/slideMaster1.xml" Id="R8a9729ec67744dfb" /><Relationship Type="http://schemas.openxmlformats.org/officeDocument/2006/relationships/notesMaster" Target="/ppt/notesMasters/notesMaster1.xml" Id="R6355b15c476545d2" /><Relationship Type="http://schemas.openxmlformats.org/officeDocument/2006/relationships/presProps" Target="/ppt/presProps.xml" Id="Rfdc4ea6ebd214c35" /><Relationship Type="http://schemas.openxmlformats.org/officeDocument/2006/relationships/tableStyles" Target="/ppt/tableStyles.xml" Id="R666cb01ad52c406d" /><Relationship Type="http://schemas.openxmlformats.org/officeDocument/2006/relationships/slide" Target="/ppt/slides/slide1.xml" Id="Rbc119c4361064238" /><Relationship Type="http://schemas.openxmlformats.org/officeDocument/2006/relationships/slide" Target="/ppt/slides/slide2.xml" Id="R9b24ed9f94554879" /><Relationship Type="http://schemas.openxmlformats.org/officeDocument/2006/relationships/slide" Target="/ppt/slides/slide3.xml" Id="R893db6f2e35e4785" /><Relationship Type="http://schemas.openxmlformats.org/officeDocument/2006/relationships/slide" Target="/ppt/slides/slide4.xml" Id="R8b2de1e094504c36" /><Relationship Type="http://schemas.openxmlformats.org/officeDocument/2006/relationships/slide" Target="/ppt/slides/slide5.xml" Id="Rfba21578014d42bf" /><Relationship Type="http://schemas.openxmlformats.org/officeDocument/2006/relationships/slide" Target="/ppt/slides/slide6.xml" Id="R64c27bad7d0c41a6" /><Relationship Type="http://schemas.openxmlformats.org/officeDocument/2006/relationships/slide" Target="/ppt/slides/slide7.xml" Id="Ra73ae0ff908c4043" /><Relationship Type="http://schemas.openxmlformats.org/officeDocument/2006/relationships/slide" Target="/ppt/slides/slide8.xml" Id="R0f8069ee2b4b4149" /><Relationship Type="http://schemas.openxmlformats.org/officeDocument/2006/relationships/slide" Target="/ppt/slides/slide9.xml" Id="Re2914592b0d04e63" /><Relationship Type="http://schemas.openxmlformats.org/officeDocument/2006/relationships/slide" Target="/ppt/slides/slide10.xml" Id="Rf16d51810152465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1e4674e58bc408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56ee83b38df466e" /><Relationship Type="http://schemas.openxmlformats.org/officeDocument/2006/relationships/notesMaster" Target="/ppt/notesMasters/notesMaster1.xml" Id="R252e8c5255fe4b5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145344e5cb54b88" /><Relationship Type="http://schemas.openxmlformats.org/officeDocument/2006/relationships/notesMaster" Target="/ppt/notesMasters/notesMaster1.xml" Id="R4a73638e974b4cf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249dcc88faa4327" /><Relationship Type="http://schemas.openxmlformats.org/officeDocument/2006/relationships/notesMaster" Target="/ppt/notesMasters/notesMaster1.xml" Id="R19f9383cc2fa410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16363d965fd45a4" /><Relationship Type="http://schemas.openxmlformats.org/officeDocument/2006/relationships/notesMaster" Target="/ppt/notesMasters/notesMaster1.xml" Id="R606cabd0731b42c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f29cf02ac904b69" /><Relationship Type="http://schemas.openxmlformats.org/officeDocument/2006/relationships/notesMaster" Target="/ppt/notesMasters/notesMaster1.xml" Id="R14e6694dd712494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86dc9cafad44cb5" /><Relationship Type="http://schemas.openxmlformats.org/officeDocument/2006/relationships/notesMaster" Target="/ppt/notesMasters/notesMaster1.xml" Id="Ra5062b1965ed405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fbeb1a1b9ea417a" /><Relationship Type="http://schemas.openxmlformats.org/officeDocument/2006/relationships/notesMaster" Target="/ppt/notesMasters/notesMaster1.xml" Id="R7af84eec5d044db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1495f06fd364173" /><Relationship Type="http://schemas.openxmlformats.org/officeDocument/2006/relationships/notesMaster" Target="/ppt/notesMasters/notesMaster1.xml" Id="R950342bf523b4e3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97162b730774f66" /><Relationship Type="http://schemas.openxmlformats.org/officeDocument/2006/relationships/notesMaster" Target="/ppt/notesMasters/notesMaster1.xml" Id="Rb35ebb8cfc7e46f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29e7c29283a4bc6" /><Relationship Type="http://schemas.openxmlformats.org/officeDocument/2006/relationships/notesMaster" Target="/ppt/notesMasters/notesMaster1.xml" Id="R5f98bbd52a22418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Project architecture and code index: Z:/home/chen/projects/702solver/AGENTS.md</a:t>
            </a:r>
          </a:p>
          <a:p xmlns:a="http://schemas.openxmlformats.org/drawingml/2006/main">
            <a:r>
              <a:t>Status summary: Z:/home/chen/projects/702solver/docs/STATUS_SUMMARY.md</a:t>
            </a:r>
          </a:p>
          <a:p xmlns:a="http://schemas.openxmlformats.org/drawingml/2006/main">
            <a:r>
              <a:t>Controlled full24 report: Z:/home/chen/projects/702solver/docs/full24_controlled_comparison.md</a:t>
            </a:r>
          </a:p>
          <a:p xmlns:a="http://schemas.openxmlformats.org/drawingml/2006/main">
            <a:r>
              <a:t>Machine-readable full24 result: Z:/home/chen/projects/702solver/output/results/full24_controlled_comparison.json</a:t>
            </a:r>
          </a:p>
          <a:p xmlns:a="http://schemas.openxmlformats.org/drawingml/2006/main">
            <a:r>
              <a:t>Shared memory design: Z:/home/chen/projects/702solver/docs/共享记忆模块设计说明.md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Project architecture and code index: Z:/home/chen/projects/702solver/AGENTS.md</a:t>
            </a:r>
          </a:p>
          <a:p xmlns:a="http://schemas.openxmlformats.org/drawingml/2006/main">
            <a:r>
              <a:t>Status summary: Z:/home/chen/projects/702solver/docs/STATUS_SUMMARY.md</a:t>
            </a:r>
          </a:p>
          <a:p xmlns:a="http://schemas.openxmlformats.org/drawingml/2006/main">
            <a:r>
              <a:t>Controlled full24 report: Z:/home/chen/projects/702solver/docs/full24_controlled_comparison.md</a:t>
            </a:r>
          </a:p>
          <a:p xmlns:a="http://schemas.openxmlformats.org/drawingml/2006/main">
            <a:r>
              <a:t>Machine-readable full24 result: Z:/home/chen/projects/702solver/output/results/full24_controlled_comparison.json</a:t>
            </a:r>
          </a:p>
          <a:p xmlns:a="http://schemas.openxmlformats.org/drawingml/2006/main">
            <a:r>
              <a:t>Shared memory design: Z:/home/chen/projects/702solver/docs/共享记忆模块设计说明.md</a:t>
            </a:r>
          </a:p>
          <a:p xmlns:a="http://schemas.openxmlformats.org/drawingml/2006/main">
            <a:r>
              <a:t>Demo source: Z:/home/chen/projects/702solver/demo_dashboard.py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Project architecture and code index: Z:/home/chen/projects/702solver/AGENTS.md</a:t>
            </a:r>
          </a:p>
          <a:p xmlns:a="http://schemas.openxmlformats.org/drawingml/2006/main">
            <a:r>
              <a:t>Status summary: Z:/home/chen/projects/702solver/docs/STATUS_SUMMARY.md</a:t>
            </a:r>
          </a:p>
          <a:p xmlns:a="http://schemas.openxmlformats.org/drawingml/2006/main">
            <a:r>
              <a:t>Controlled full24 report: Z:/home/chen/projects/702solver/docs/full24_controlled_comparison.md</a:t>
            </a:r>
          </a:p>
          <a:p xmlns:a="http://schemas.openxmlformats.org/drawingml/2006/main">
            <a:r>
              <a:t>Machine-readable full24 result: Z:/home/chen/projects/702solver/output/results/full24_controlled_comparison.json</a:t>
            </a:r>
          </a:p>
          <a:p xmlns:a="http://schemas.openxmlformats.org/drawingml/2006/main">
            <a:r>
              <a:t>Shared memory design: Z:/home/chen/projects/702solver/docs/共享记忆模块设计说明.md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Project architecture and code index: Z:/home/chen/projects/702solver/AGENTS.md</a:t>
            </a:r>
          </a:p>
          <a:p xmlns:a="http://schemas.openxmlformats.org/drawingml/2006/main">
            <a:r>
              <a:t>Status summary: Z:/home/chen/projects/702solver/docs/STATUS_SUMMARY.md</a:t>
            </a:r>
          </a:p>
          <a:p xmlns:a="http://schemas.openxmlformats.org/drawingml/2006/main">
            <a:r>
              <a:t>Controlled full24 report: Z:/home/chen/projects/702solver/docs/full24_controlled_comparison.md</a:t>
            </a:r>
          </a:p>
          <a:p xmlns:a="http://schemas.openxmlformats.org/drawingml/2006/main">
            <a:r>
              <a:t>Machine-readable full24 result: Z:/home/chen/projects/702solver/output/results/full24_controlled_comparison.json</a:t>
            </a:r>
          </a:p>
          <a:p xmlns:a="http://schemas.openxmlformats.org/drawingml/2006/main">
            <a:r>
              <a:t>Shared memory design: Z:/home/chen/projects/702solver/docs/共享记忆模块设计说明.md</a:t>
            </a:r>
          </a:p>
          <a:p xmlns:a="http://schemas.openxmlformats.org/drawingml/2006/main">
            <a:r>
              <a:t>Code refs: src/protocol/__init__.py; src/protocol/scheduler.py</a:t>
            </a:r>
          </a:p>
          <a:p xmlns:a="http://schemas.openxmlformats.org/drawingml/2006/main">
            <a:r>
              <a:t>Code refs: src/state/embeddings.py; src/state/exchange.py</a:t>
            </a:r>
          </a:p>
          <a:p xmlns:a="http://schemas.openxmlformats.org/drawingml/2006/main">
            <a:r>
              <a:t>Code refs: src/memory/models.py; src/memory/store.py</a:t>
            </a:r>
          </a:p>
          <a:p xmlns:a="http://schemas.openxmlformats.org/drawingml/2006/main">
            <a:r>
              <a:t>Code refs: src/orchestrator.py; src/task_intent.py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Project architecture and code index: Z:/home/chen/projects/702solver/AGENTS.md</a:t>
            </a:r>
          </a:p>
          <a:p xmlns:a="http://schemas.openxmlformats.org/drawingml/2006/main">
            <a:r>
              <a:t>Status summary: Z:/home/chen/projects/702solver/docs/STATUS_SUMMARY.md</a:t>
            </a:r>
          </a:p>
          <a:p xmlns:a="http://schemas.openxmlformats.org/drawingml/2006/main">
            <a:r>
              <a:t>Controlled full24 report: Z:/home/chen/projects/702solver/docs/full24_controlled_comparison.md</a:t>
            </a:r>
          </a:p>
          <a:p xmlns:a="http://schemas.openxmlformats.org/drawingml/2006/main">
            <a:r>
              <a:t>Machine-readable full24 result: Z:/home/chen/projects/702solver/output/results/full24_controlled_comparison.json</a:t>
            </a:r>
          </a:p>
          <a:p xmlns:a="http://schemas.openxmlformats.org/drawingml/2006/main">
            <a:r>
              <a:t>Shared memory design: Z:/home/chen/projects/702solver/docs/共享记忆模块设计说明.md</a:t>
            </a:r>
          </a:p>
          <a:p xmlns:a="http://schemas.openxmlformats.org/drawingml/2006/main">
            <a:r>
              <a:t>Task definitions: Z:/home/chen/projects/702solver/experiments/benchmark_tasks.py</a:t>
            </a:r>
          </a:p>
          <a:p xmlns:a="http://schemas.openxmlformats.org/drawingml/2006/main">
            <a:r>
              <a:t>Suite definitions: Z:/home/chen/projects/702solver/experiments/benchmark_suites.py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Project architecture and code index: Z:/home/chen/projects/702solver/AGENTS.md</a:t>
            </a:r>
          </a:p>
          <a:p xmlns:a="http://schemas.openxmlformats.org/drawingml/2006/main">
            <a:r>
              <a:t>Status summary: Z:/home/chen/projects/702solver/docs/STATUS_SUMMARY.md</a:t>
            </a:r>
          </a:p>
          <a:p xmlns:a="http://schemas.openxmlformats.org/drawingml/2006/main">
            <a:r>
              <a:t>Controlled full24 report: Z:/home/chen/projects/702solver/docs/full24_controlled_comparison.md</a:t>
            </a:r>
          </a:p>
          <a:p xmlns:a="http://schemas.openxmlformats.org/drawingml/2006/main">
            <a:r>
              <a:t>Machine-readable full24 result: Z:/home/chen/projects/702solver/output/results/full24_controlled_comparison.json</a:t>
            </a:r>
          </a:p>
          <a:p xmlns:a="http://schemas.openxmlformats.org/drawingml/2006/main">
            <a:r>
              <a:t>Shared memory design: Z:/home/chen/projects/702solver/docs/共享记忆模块设计说明.md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Project architecture and code index: Z:/home/chen/projects/702solver/AGENTS.md</a:t>
            </a:r>
          </a:p>
          <a:p xmlns:a="http://schemas.openxmlformats.org/drawingml/2006/main">
            <a:r>
              <a:t>Status summary: Z:/home/chen/projects/702solver/docs/STATUS_SUMMARY.md</a:t>
            </a:r>
          </a:p>
          <a:p xmlns:a="http://schemas.openxmlformats.org/drawingml/2006/main">
            <a:r>
              <a:t>Controlled full24 report: Z:/home/chen/projects/702solver/docs/full24_controlled_comparison.md</a:t>
            </a:r>
          </a:p>
          <a:p xmlns:a="http://schemas.openxmlformats.org/drawingml/2006/main">
            <a:r>
              <a:t>Machine-readable full24 result: Z:/home/chen/projects/702solver/output/results/full24_controlled_comparison.json</a:t>
            </a:r>
          </a:p>
          <a:p xmlns:a="http://schemas.openxmlformats.org/drawingml/2006/main">
            <a:r>
              <a:t>Shared memory design: Z:/home/chen/projects/702solver/docs/共享记忆模块设计说明.md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Project architecture and code index: Z:/home/chen/projects/702solver/AGENTS.md</a:t>
            </a:r>
          </a:p>
          <a:p xmlns:a="http://schemas.openxmlformats.org/drawingml/2006/main">
            <a:r>
              <a:t>Status summary: Z:/home/chen/projects/702solver/docs/STATUS_SUMMARY.md</a:t>
            </a:r>
          </a:p>
          <a:p xmlns:a="http://schemas.openxmlformats.org/drawingml/2006/main">
            <a:r>
              <a:t>Controlled full24 report: Z:/home/chen/projects/702solver/docs/full24_controlled_comparison.md</a:t>
            </a:r>
          </a:p>
          <a:p xmlns:a="http://schemas.openxmlformats.org/drawingml/2006/main">
            <a:r>
              <a:t>Machine-readable full24 result: Z:/home/chen/projects/702solver/output/results/full24_controlled_comparison.json</a:t>
            </a:r>
          </a:p>
          <a:p xmlns:a="http://schemas.openxmlformats.org/drawingml/2006/main">
            <a:r>
              <a:t>Shared memory design: Z:/home/chen/projects/702solver/docs/共享记忆模块设计说明.md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Project architecture and code index: Z:/home/chen/projects/702solver/AGENTS.md</a:t>
            </a:r>
          </a:p>
          <a:p xmlns:a="http://schemas.openxmlformats.org/drawingml/2006/main">
            <a:r>
              <a:t>Status summary: Z:/home/chen/projects/702solver/docs/STATUS_SUMMARY.md</a:t>
            </a:r>
          </a:p>
          <a:p xmlns:a="http://schemas.openxmlformats.org/drawingml/2006/main">
            <a:r>
              <a:t>Controlled full24 report: Z:/home/chen/projects/702solver/docs/full24_controlled_comparison.md</a:t>
            </a:r>
          </a:p>
          <a:p xmlns:a="http://schemas.openxmlformats.org/drawingml/2006/main">
            <a:r>
              <a:t>Machine-readable full24 result: Z:/home/chen/projects/702solver/output/results/full24_controlled_comparison.json</a:t>
            </a:r>
          </a:p>
          <a:p xmlns:a="http://schemas.openxmlformats.org/drawingml/2006/main">
            <a:r>
              <a:t>Shared memory design: Z:/home/chen/projects/702solver/docs/共享记忆模块设计说明.md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Project architecture and code index: Z:/home/chen/projects/702solver/AGENTS.md</a:t>
            </a:r>
          </a:p>
          <a:p xmlns:a="http://schemas.openxmlformats.org/drawingml/2006/main">
            <a:r>
              <a:t>Status summary: Z:/home/chen/projects/702solver/docs/STATUS_SUMMARY.md</a:t>
            </a:r>
          </a:p>
          <a:p xmlns:a="http://schemas.openxmlformats.org/drawingml/2006/main">
            <a:r>
              <a:t>Controlled full24 report: Z:/home/chen/projects/702solver/docs/full24_controlled_comparison.md</a:t>
            </a:r>
          </a:p>
          <a:p xmlns:a="http://schemas.openxmlformats.org/drawingml/2006/main">
            <a:r>
              <a:t>Machine-readable full24 result: Z:/home/chen/projects/702solver/output/results/full24_controlled_comparison.json</a:t>
            </a:r>
          </a:p>
          <a:p xmlns:a="http://schemas.openxmlformats.org/drawingml/2006/main">
            <a:r>
              <a:t>Shared memory design: Z:/home/chen/projects/702solver/docs/共享记忆模块设计说明.md</a:t>
            </a:r>
          </a:p>
          <a:p xmlns:a="http://schemas.openxmlformats.org/drawingml/2006/main">
            <a:r>
              <a:t>Live screenshot: C:/Users/chen/AppData/Local/Temp/codex-clipboard-74bb79b7-811f-4fbb-99fc-28e9963d9f29.png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1321f280334ab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12c4767d9884bce" /><Relationship Type="http://schemas.openxmlformats.org/officeDocument/2006/relationships/slideLayout" Target="/ppt/slideLayouts/slideLayout1.xml" Id="R31b60c688150416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1b60c688150416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2d3e3215d7467d" /><Relationship Type="http://schemas.openxmlformats.org/officeDocument/2006/relationships/notesSlide" Target="/ppt/notesSlides/notesSlide1.xml" Id="Re4768670036e4a4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19673c2e4842b8" /><Relationship Type="http://schemas.openxmlformats.org/officeDocument/2006/relationships/notesSlide" Target="/ppt/notesSlides/notesSlide2.xml" Id="R98331ff0fa154b8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6e34ef6c164875" /><Relationship Type="http://schemas.openxmlformats.org/officeDocument/2006/relationships/notesSlide" Target="/ppt/notesSlides/notesSlide3.xml" Id="R58edf646d50441c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fbbde7ce0c4cc3" /><Relationship Type="http://schemas.openxmlformats.org/officeDocument/2006/relationships/notesSlide" Target="/ppt/notesSlides/notesSlide4.xml" Id="Rb31ed581701f489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0fd983bbbb4f03" /><Relationship Type="http://schemas.openxmlformats.org/officeDocument/2006/relationships/notesSlide" Target="/ppt/notesSlides/notesSlide5.xml" Id="R06b8912adc98403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4574af37674ad3" /><Relationship Type="http://schemas.openxmlformats.org/officeDocument/2006/relationships/notesSlide" Target="/ppt/notesSlides/notesSlide6.xml" Id="R385108e35cad41e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235a30f2114b33" /><Relationship Type="http://schemas.openxmlformats.org/officeDocument/2006/relationships/notesSlide" Target="/ppt/notesSlides/notesSlide7.xml" Id="Rc34176df14ad4e2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54a7dbaafc4198" /><Relationship Type="http://schemas.openxmlformats.org/officeDocument/2006/relationships/notesSlide" Target="/ppt/notesSlides/notesSlide8.xml" Id="Rcebcd067bed7480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c67051e1004a1e" /><Relationship Type="http://schemas.openxmlformats.org/officeDocument/2006/relationships/notesSlide" Target="/ppt/notesSlides/notesSlide9.xml" Id="Rd7ac0ae4492e4e5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a6c3a89e8c4e01" /><Relationship Type="http://schemas.openxmlformats.org/officeDocument/2006/relationships/image" Target="/ppt/media/image.png" Id="R38ce7f53066b4fa2" /><Relationship Type="http://schemas.openxmlformats.org/officeDocument/2006/relationships/notesSlide" Target="/ppt/notesSlides/notesSlide10.xml" Id="Rc4a2c088acd2475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C460B0D-D078-4E98-AF41-A0D688EEF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0480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22C8"/>
                </a:solidFill>
              </a:defRPr>
            </a:pPr>
            <a:r>
              <a:rPr sz="3000" b="1">
                <a:solidFill>
                  <a:srgbClr val="0022C8"/>
                </a:solidFill>
              </a:rPr>
              <a:t>702solver：已完成的多 Agent 共享记忆诊断系统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0867B8-A5AC-4A53-ABF7-9B75B253C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085850"/>
            <a:ext cx="11049000" cy="43815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AAFD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FF5BE8-4900-40DC-8FD7-9BB9226CE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71575"/>
            <a:ext cx="10429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7101F"/>
                </a:solidFill>
              </a:defRPr>
            </a:pPr>
            <a:r>
              <a:rPr sz="1650" b="1">
                <a:solidFill>
                  <a:srgbClr val="07101F"/>
                </a:solidFill>
              </a:rPr>
              <a:t>比赛作品成果展示：用实测数据证明方法有效，而不是停留在方案设想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715907-FCB5-4AF1-B2B3-D058DAE49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066800"/>
            <a:ext cx="12573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24477E"/>
          </a:solidFill>
          <a:ln xmlns:a="http://schemas.openxmlformats.org/drawingml/2006/main" w="0">
            <a:solidFill>
              <a:srgbClr val="24477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C6014E-5A60-4D6B-89FE-6DA12DF5A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5252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8B509B-F331-4DEE-92CF-6AD76D545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52625"/>
            <a:ext cx="112395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EEF2F7"/>
          </a:solidFill>
          <a:ln xmlns:a="http://schemas.openxmlformats.org/drawingml/2006/main" w="9525">
            <a:solidFill>
              <a:srgbClr val="DCE3E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14CC2D-4AC0-4D80-ACD3-DF0F606C8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19350"/>
            <a:ext cx="2381250" cy="112395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3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FAC589-0083-40CD-9D65-EBE294F7A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33650"/>
            <a:ext cx="2076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B5B73"/>
                </a:solidFill>
              </a:defRPr>
            </a:pPr>
            <a:r>
              <a:rPr sz="1125" b="1">
                <a:solidFill>
                  <a:srgbClr val="4B5B73"/>
                </a:solidFill>
              </a:rPr>
              <a:t>Token 节省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6C7721-C51C-44A9-8052-D73D91AD9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81300"/>
            <a:ext cx="2076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38A43"/>
                </a:solidFill>
              </a:defRPr>
            </a:pPr>
            <a:r>
              <a:rPr sz="2550" b="1">
                <a:solidFill>
                  <a:srgbClr val="138A43"/>
                </a:solidFill>
              </a:rPr>
              <a:t>68.31%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238229-A57C-4AE5-A994-9CACD6474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09925"/>
            <a:ext cx="2076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B5B73"/>
                </a:solidFill>
              </a:defRPr>
            </a:pPr>
            <a:r>
              <a:rPr sz="1050" b="0">
                <a:solidFill>
                  <a:srgbClr val="4B5B73"/>
                </a:solidFill>
              </a:rPr>
              <a:t>C 相比纯文本 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E6AA37-D71B-4FAF-B70A-8C115A7C2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419350"/>
            <a:ext cx="2381250" cy="112395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3E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B3AB37-42CD-4E6A-8DE7-A0F555524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533650"/>
            <a:ext cx="2076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B5B73"/>
                </a:solidFill>
              </a:defRPr>
            </a:pPr>
            <a:r>
              <a:rPr sz="1125" b="1">
                <a:solidFill>
                  <a:srgbClr val="4B5B73"/>
                </a:solidFill>
              </a:rPr>
              <a:t>质量通过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866283-2DF7-4F93-9E16-91996DCFC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781300"/>
            <a:ext cx="2076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22C8"/>
                </a:solidFill>
              </a:defRPr>
            </a:pPr>
            <a:r>
              <a:rPr sz="2550" b="1">
                <a:solidFill>
                  <a:srgbClr val="0022C8"/>
                </a:solidFill>
              </a:rPr>
              <a:t>24/24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B4D912-3F84-4C05-ACFA-65E9C533C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209925"/>
            <a:ext cx="2076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B5B73"/>
                </a:solidFill>
              </a:defRPr>
            </a:pPr>
            <a:r>
              <a:rPr sz="1050" b="0">
                <a:solidFill>
                  <a:srgbClr val="4B5B73"/>
                </a:solidFill>
              </a:rPr>
              <a:t>full24 同题集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9B1E48-F906-42C4-960F-CDA0C4839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419350"/>
            <a:ext cx="2381250" cy="112395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3E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6A1C05-4596-43EA-8622-79DECD8E5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533650"/>
            <a:ext cx="2076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B5B73"/>
                </a:solidFill>
              </a:defRPr>
            </a:pPr>
            <a:r>
              <a:rPr sz="1125" b="1">
                <a:solidFill>
                  <a:srgbClr val="4B5B73"/>
                </a:solidFill>
              </a:rPr>
              <a:t>API 调用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0FB0AD-FF93-4B42-87C7-C885620BB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781300"/>
            <a:ext cx="2076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C76B00"/>
                </a:solidFill>
              </a:defRPr>
            </a:pPr>
            <a:r>
              <a:rPr sz="2550" b="1">
                <a:solidFill>
                  <a:srgbClr val="C76B00"/>
                </a:solidFill>
              </a:rPr>
              <a:t>52 次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05B754-EC28-42EF-A855-07CE35BFC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209925"/>
            <a:ext cx="2076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B5B73"/>
                </a:solidFill>
              </a:defRPr>
            </a:pPr>
            <a:r>
              <a:rPr sz="1050" b="0">
                <a:solidFill>
                  <a:srgbClr val="4B5B73"/>
                </a:solidFill>
              </a:rPr>
              <a:t>A 为 72 次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77559E-088B-46E1-9BCB-A4204F5C8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419350"/>
            <a:ext cx="2381250" cy="112395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3E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A41530-7291-4486-A87C-808FFC8E3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533650"/>
            <a:ext cx="2076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B5B73"/>
                </a:solidFill>
              </a:defRPr>
            </a:pPr>
            <a:r>
              <a:rPr sz="1125" b="1">
                <a:solidFill>
                  <a:srgbClr val="4B5B73"/>
                </a:solidFill>
              </a:rPr>
              <a:t>总耗时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C77EA5-03C0-46BC-8198-032989664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781300"/>
            <a:ext cx="2076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4477E"/>
                </a:solidFill>
              </a:defRPr>
            </a:pPr>
            <a:r>
              <a:rPr sz="2550" b="1">
                <a:solidFill>
                  <a:srgbClr val="24477E"/>
                </a:solidFill>
              </a:rPr>
              <a:t>208.5s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A993B85-F05C-47FD-8DB2-E4C859D1E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209925"/>
            <a:ext cx="2076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B5B73"/>
                </a:solidFill>
              </a:defRPr>
            </a:pPr>
            <a:r>
              <a:rPr sz="1050" b="0">
                <a:solidFill>
                  <a:srgbClr val="4B5B73"/>
                </a:solidFill>
              </a:rPr>
              <a:t>A 为 928.1s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97C3B79-921E-4332-BF62-62EBF94FB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14800"/>
            <a:ext cx="10334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7101F"/>
                </a:solidFill>
              </a:defRPr>
            </a:pPr>
            <a:r>
              <a:rPr sz="1650" b="1">
                <a:solidFill>
                  <a:srgbClr val="07101F"/>
                </a:solidFill>
              </a:rPr>
              <a:t>核心成果：结构化协议、向量状态传递、SQLite/FAISS 共享记忆和三级复用机制已经全部落地，并通过 24 题真 API 控制变量实验验证。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F0F5A5B-016B-4BEC-94C8-B8B40D3A9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715000"/>
            <a:ext cx="914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4477E"/>
                </a:solidFill>
              </a:defRPr>
            </a:pPr>
            <a:r>
              <a:rPr sz="1800" b="1">
                <a:solidFill>
                  <a:srgbClr val="24477E"/>
                </a:solidFill>
              </a:rPr>
              <a:t>交付物：源码仓库 · Qt 实时演示 EXE · full24 实验报告 · 本成果展示 PPT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5B96A20-E184-4DA6-802B-4941627C3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5722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B7280"/>
                </a:solidFill>
              </a:defRPr>
            </a:pPr>
            <a:r>
              <a:rPr sz="825" b="0">
                <a:solidFill>
                  <a:srgbClr val="6B7280"/>
                </a:solidFill>
              </a:rPr>
              <a:t>702solver 成果展示 | 01</a:t>
            </a:r>
          </a:p>
        </p:txBody>
      </p:sp>
    </p:spTree>
    <p:extLst>
      <p:ext uri="{BB962C8B-B14F-4D97-AF65-F5344CB8AC3E}">
        <p14:creationId xmlns:p14="http://schemas.microsoft.com/office/powerpoint/2010/main" val="4099016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B928B46-D264-4100-96D6-ECE89DCC6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0480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22C8"/>
                </a:solidFill>
              </a:defRPr>
            </a:pPr>
            <a:r>
              <a:rPr sz="3000" b="1">
                <a:solidFill>
                  <a:srgbClr val="0022C8"/>
                </a:solidFill>
              </a:rPr>
              <a:t>系统已经跑通：从任务输入到指标输出的完整闭环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CB20F4-9D5B-4613-B0B3-C8600B2BC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085850"/>
            <a:ext cx="11049000" cy="43815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AAFD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28C5F1-56EC-4822-84E7-FC945CC91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71575"/>
            <a:ext cx="10429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7101F"/>
                </a:solidFill>
              </a:defRPr>
            </a:pPr>
            <a:r>
              <a:rPr sz="1650" b="1">
                <a:solidFill>
                  <a:srgbClr val="07101F"/>
                </a:solidFill>
              </a:rPr>
              <a:t>实现结果：不是 Demo 静态页，而是可接 DeepSeek、可跑 full24、可逐题记录指标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D9D59E-7D06-40D2-A4DA-D8A10D4ED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066800"/>
            <a:ext cx="12573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24477E"/>
          </a:solidFill>
          <a:ln xmlns:a="http://schemas.openxmlformats.org/drawingml/2006/main" w="0">
            <a:solidFill>
              <a:srgbClr val="24477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54A930-3232-42ED-94D4-A66A4BDA2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5252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6DCC7D-D915-4A2C-ACDA-E656A6975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90750"/>
            <a:ext cx="2476500" cy="1905000"/>
          </a:xfrm>
          <a:prstGeom xmlns:a="http://schemas.openxmlformats.org/drawingml/2006/main" prst="roundRect">
            <a:avLst>
              <a:gd name="adj" fmla="val 3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4477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CF3241-AF34-4075-9569-B61C6418D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90750"/>
            <a:ext cx="2476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77E"/>
          </a:solidFill>
          <a:ln xmlns:a="http://schemas.openxmlformats.org/drawingml/2006/main" w="0">
            <a:solidFill>
              <a:srgbClr val="24477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387592-5D6F-46DD-BE21-F5E8A96C1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955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4477E"/>
                </a:solidFill>
              </a:defRPr>
            </a:pPr>
            <a:r>
              <a:rPr sz="1875" b="1">
                <a:solidFill>
                  <a:srgbClr val="24477E"/>
                </a:solidFill>
              </a:rPr>
              <a:t>1. 输入任务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131422-4885-4FCB-A25D-948CD8B87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28950"/>
            <a:ext cx="209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7101F"/>
                </a:solidFill>
              </a:defRPr>
            </a:pPr>
            <a:r>
              <a:rPr sz="1350" b="0">
                <a:solidFill>
                  <a:srgbClr val="07101F"/>
                </a:solidFill>
              </a:rPr>
              <a:t>full24 题库 / 单题任务 / 标签</a:t>
            </a:r>
          </a:p>
          <a:p xmlns:a="http://schemas.openxmlformats.org/drawingml/2006/main">
            <a:pPr algn="l">
              <a:defRPr sz="1350" b="0">
                <a:solidFill>
                  <a:srgbClr val="07101F"/>
                </a:solidFill>
              </a:defRPr>
            </a:pPr>
            <a:r>
              <a:rPr sz="1350" b="0">
                <a:solidFill>
                  <a:srgbClr val="07101F"/>
                </a:solidFill>
              </a:rPr>
              <a:t>DeepSeek API Key 接入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7B4BBB-A29A-4A95-84B1-120F8EA7C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876550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4477E"/>
                </a:solidFill>
              </a:defRPr>
            </a:pPr>
            <a:r>
              <a:rPr sz="2550" b="1">
                <a:solidFill>
                  <a:srgbClr val="24477E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3D01CF-A825-4E6A-9FA7-E33584774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2190750"/>
            <a:ext cx="2476500" cy="1905000"/>
          </a:xfrm>
          <a:prstGeom xmlns:a="http://schemas.openxmlformats.org/drawingml/2006/main" prst="roundRect">
            <a:avLst>
              <a:gd name="adj" fmla="val 3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38A4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0C64FD-0B5E-4E22-8ED6-563C24B36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2190750"/>
            <a:ext cx="2476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8A43"/>
          </a:solidFill>
          <a:ln xmlns:a="http://schemas.openxmlformats.org/drawingml/2006/main" w="0">
            <a:solidFill>
              <a:srgbClr val="138A4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CC86F0-02DC-4C35-8A26-5627FB061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4955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38A43"/>
                </a:solidFill>
              </a:defRPr>
            </a:pPr>
            <a:r>
              <a:rPr sz="1875" b="1">
                <a:solidFill>
                  <a:srgbClr val="138A43"/>
                </a:solidFill>
              </a:rPr>
              <a:t>2. Agent 协作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CE4580-F197-44C3-8AF7-28BE9C50A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028950"/>
            <a:ext cx="209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7101F"/>
                </a:solidFill>
              </a:defRPr>
            </a:pPr>
            <a:r>
              <a:rPr sz="1350" b="0">
                <a:solidFill>
                  <a:srgbClr val="07101F"/>
                </a:solidFill>
              </a:rPr>
              <a:t>Planner → Retriever → Executor → Summarizer</a:t>
            </a:r>
          </a:p>
          <a:p xmlns:a="http://schemas.openxmlformats.org/drawingml/2006/main">
            <a:pPr algn="l">
              <a:defRPr sz="1350" b="0">
                <a:solidFill>
                  <a:srgbClr val="07101F"/>
                </a:solidFill>
              </a:defRPr>
            </a:pPr>
            <a:r>
              <a:rPr sz="1350" b="0">
                <a:solidFill>
                  <a:srgbClr val="07101F"/>
                </a:solidFill>
              </a:rPr>
              <a:t>Orchestrator 统一调度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69E49A-A591-49EA-A8D6-56E3D4FC5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2876550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4477E"/>
                </a:solidFill>
              </a:defRPr>
            </a:pPr>
            <a:r>
              <a:rPr sz="2550" b="1">
                <a:solidFill>
                  <a:srgbClr val="24477E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EA69FD-1A7F-49F9-B61A-7E26359EF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90750"/>
            <a:ext cx="2476500" cy="1905000"/>
          </a:xfrm>
          <a:prstGeom xmlns:a="http://schemas.openxmlformats.org/drawingml/2006/main" prst="roundRect">
            <a:avLst>
              <a:gd name="adj" fmla="val 3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6B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CFA56C-9790-4986-9BD6-044D9B752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90750"/>
            <a:ext cx="2476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6B00"/>
          </a:solidFill>
          <a:ln xmlns:a="http://schemas.openxmlformats.org/drawingml/2006/main" w="0">
            <a:solidFill>
              <a:srgbClr val="C76B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898906-2D70-4539-BCAF-6B417C131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4955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C76B00"/>
                </a:solidFill>
              </a:defRPr>
            </a:pPr>
            <a:r>
              <a:rPr sz="1875" b="1">
                <a:solidFill>
                  <a:srgbClr val="C76B00"/>
                </a:solidFill>
              </a:rPr>
              <a:t>3. 共享记忆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A6DA39-2E54-44C3-9A55-6EA767D57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028950"/>
            <a:ext cx="209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7101F"/>
                </a:solidFill>
              </a:defRPr>
            </a:pPr>
            <a:r>
              <a:rPr sz="1350" b="0">
                <a:solidFill>
                  <a:srgbClr val="07101F"/>
                </a:solidFill>
              </a:rPr>
              <a:t>MemoryUnit 结构化沉淀</a:t>
            </a:r>
          </a:p>
          <a:p xmlns:a="http://schemas.openxmlformats.org/drawingml/2006/main">
            <a:pPr algn="l">
              <a:defRPr sz="1350" b="0">
                <a:solidFill>
                  <a:srgbClr val="07101F"/>
                </a:solidFill>
              </a:defRPr>
            </a:pPr>
            <a:r>
              <a:rPr sz="1350" b="0">
                <a:solidFill>
                  <a:srgbClr val="07101F"/>
                </a:solidFill>
              </a:rPr>
              <a:t>SQLite 元数据 + FAISS 向量检索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3732AE-E9E8-4F08-A590-518CD4B46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876550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4477E"/>
                </a:solidFill>
              </a:defRPr>
            </a:pPr>
            <a:r>
              <a:rPr sz="2550" b="1">
                <a:solidFill>
                  <a:srgbClr val="24477E"/>
                </a:solidFill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0AE1922-93C1-428E-9EA5-6F4627238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2190750"/>
            <a:ext cx="2476500" cy="1905000"/>
          </a:xfrm>
          <a:prstGeom xmlns:a="http://schemas.openxmlformats.org/drawingml/2006/main" prst="roundRect">
            <a:avLst>
              <a:gd name="adj" fmla="val 3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7315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0066D6B-3BE0-44B2-86C9-0240FDF25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2190750"/>
            <a:ext cx="2476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5F"/>
          </a:solidFill>
          <a:ln xmlns:a="http://schemas.openxmlformats.org/drawingml/2006/main" w="0">
            <a:solidFill>
              <a:srgbClr val="17315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EE7075E-D048-4D84-996A-73FC0875A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24955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315F"/>
                </a:solidFill>
              </a:defRPr>
            </a:pPr>
            <a:r>
              <a:rPr sz="1875" b="1">
                <a:solidFill>
                  <a:srgbClr val="17315F"/>
                </a:solidFill>
              </a:rPr>
              <a:t>4. 实验指标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9DDA702-4992-4F97-BAC5-B31C885F8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3028950"/>
            <a:ext cx="209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7101F"/>
                </a:solidFill>
              </a:defRPr>
            </a:pPr>
            <a:r>
              <a:rPr sz="1350" b="0">
                <a:solidFill>
                  <a:srgbClr val="07101F"/>
                </a:solidFill>
              </a:rPr>
              <a:t>token / API / 耗时 / 质量 / 策略</a:t>
            </a:r>
          </a:p>
          <a:p xmlns:a="http://schemas.openxmlformats.org/drawingml/2006/main">
            <a:pPr algn="l">
              <a:defRPr sz="1350" b="0">
                <a:solidFill>
                  <a:srgbClr val="07101F"/>
                </a:solidFill>
              </a:defRPr>
            </a:pPr>
            <a:r>
              <a:rPr sz="1350" b="0">
                <a:solidFill>
                  <a:srgbClr val="07101F"/>
                </a:solidFill>
              </a:rPr>
              <a:t>Qt 界面实时显示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34C097B-70B1-46BA-85DA-8B5225786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819650"/>
            <a:ext cx="2286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5F"/>
          </a:solidFill>
          <a:ln xmlns:a="http://schemas.openxmlformats.org/drawingml/2006/main" w="6668">
            <a:solidFill>
              <a:srgbClr val="747B8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6BDBD9F-4DAD-4101-9CE4-9B5C039B6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87680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实现模块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4DA7ADE-3443-40EF-9831-D22AF676B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819650"/>
            <a:ext cx="2952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5F"/>
          </a:solidFill>
          <a:ln xmlns:a="http://schemas.openxmlformats.org/drawingml/2006/main" w="6668">
            <a:solidFill>
              <a:srgbClr val="747B8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2F5EA06-7B5C-402C-8140-B0B4FAF37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876800"/>
            <a:ext cx="2800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关键代码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2705871-6955-4D6C-AC0D-FCDD69D05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819650"/>
            <a:ext cx="2952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5F"/>
          </a:solidFill>
          <a:ln xmlns:a="http://schemas.openxmlformats.org/drawingml/2006/main" w="6668">
            <a:solidFill>
              <a:srgbClr val="747B8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8568F99-5183-4E0F-A25B-D1AE6CC05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876800"/>
            <a:ext cx="2800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功能说明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3E8C54D-E2A0-4EAB-8908-7487402AE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819650"/>
            <a:ext cx="2095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5F"/>
          </a:solidFill>
          <a:ln xmlns:a="http://schemas.openxmlformats.org/drawingml/2006/main" w="6668">
            <a:solidFill>
              <a:srgbClr val="747B87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9A260F0-A953-459A-A6CC-BD2D9D7AB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876800"/>
            <a:ext cx="1943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展示证据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B481B1B-605B-440E-A969-4F0275BCE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162550"/>
            <a:ext cx="2286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747B87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14BB787-7E1E-4F16-9C22-BACF35EDE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219700"/>
            <a:ext cx="2133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7101F"/>
                </a:solidFill>
              </a:defRPr>
            </a:pPr>
            <a:r>
              <a:rPr sz="1125" b="1">
                <a:solidFill>
                  <a:srgbClr val="07101F"/>
                </a:solidFill>
              </a:rPr>
              <a:t>通信/状态/记忆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C9CB41C-00BD-47B8-9028-603C8D4EE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5162550"/>
            <a:ext cx="2952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747B87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45ED998-0EFA-47DD-8C49-4A424E295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5219700"/>
            <a:ext cx="2800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07101F"/>
                </a:solidFill>
              </a:defRPr>
            </a:pPr>
            <a:r>
              <a:rPr sz="1125" b="0">
                <a:solidFill>
                  <a:srgbClr val="07101F"/>
                </a:solidFill>
              </a:rPr>
              <a:t>src/protocol · src/state · src/memory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084074E-37A1-43DD-B2DE-3BBA3F30E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162550"/>
            <a:ext cx="2952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747B87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8B512EC-E3B8-4DA0-A46F-C271DDC51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219700"/>
            <a:ext cx="2800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07101F"/>
                </a:solidFill>
              </a:defRPr>
            </a:pPr>
            <a:r>
              <a:rPr sz="1125" b="0">
                <a:solidFill>
                  <a:srgbClr val="07101F"/>
                </a:solidFill>
              </a:rPr>
              <a:t>结构化消息、向量状态、共享记忆检索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6DC179F-8EB1-47FB-AE5F-33B584A4E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162550"/>
            <a:ext cx="2095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747B87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DE458BE-862B-4BCE-8B18-868DB2CCD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5219700"/>
            <a:ext cx="1943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07101F"/>
                </a:solidFill>
              </a:defRPr>
            </a:pPr>
            <a:r>
              <a:rPr sz="1125" b="0">
                <a:solidFill>
                  <a:srgbClr val="07101F"/>
                </a:solidFill>
              </a:rPr>
              <a:t>full24 指标下降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5B63F3B-CA10-4E55-B588-317789779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619750"/>
            <a:ext cx="2286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6668">
            <a:solidFill>
              <a:srgbClr val="747B87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4CF8456-614F-491C-9F0B-CE33251B9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676900"/>
            <a:ext cx="2133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7101F"/>
                </a:solidFill>
              </a:defRPr>
            </a:pPr>
            <a:r>
              <a:rPr sz="1125" b="1">
                <a:solidFill>
                  <a:srgbClr val="07101F"/>
                </a:solidFill>
              </a:rPr>
              <a:t>实时演示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6DF0775-AE2F-454B-B3EC-7298AA210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5619750"/>
            <a:ext cx="2952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6668">
            <a:solidFill>
              <a:srgbClr val="747B87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9353E16-C738-4435-8C5C-37B44B387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5676900"/>
            <a:ext cx="2800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07101F"/>
                </a:solidFill>
              </a:defRPr>
            </a:pPr>
            <a:r>
              <a:rPr sz="1125" b="0">
                <a:solidFill>
                  <a:srgbClr val="07101F"/>
                </a:solidFill>
              </a:rPr>
              <a:t>demo_dashboard.py · dist/*.exe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8652CF8-460C-47AC-9ED0-C2160BABE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619750"/>
            <a:ext cx="2952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6668">
            <a:solidFill>
              <a:srgbClr val="747B87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36C1C09-F482-49C5-90AA-BD75EB953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676900"/>
            <a:ext cx="2800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07101F"/>
                </a:solidFill>
              </a:defRPr>
            </a:pPr>
            <a:r>
              <a:rPr sz="1125" b="0">
                <a:solidFill>
                  <a:srgbClr val="07101F"/>
                </a:solidFill>
              </a:rPr>
              <a:t>full24 逐题运行、日志与指标刷新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0A12FD2-1E3C-492F-8B6D-16280AEB7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619750"/>
            <a:ext cx="2095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6668">
            <a:solidFill>
              <a:srgbClr val="747B87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AC22CBF-1E9A-47CB-8BF0-8F2A1948B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5676900"/>
            <a:ext cx="1943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07101F"/>
                </a:solidFill>
              </a:defRPr>
            </a:pPr>
            <a:r>
              <a:rPr sz="1125" b="0">
                <a:solidFill>
                  <a:srgbClr val="07101F"/>
                </a:solidFill>
              </a:rPr>
              <a:t>录屏截图/EXE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2435439-5D55-42EA-8AB9-567FB22EE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5722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B7280"/>
                </a:solidFill>
              </a:defRPr>
            </a:pPr>
            <a:r>
              <a:rPr sz="825" b="0">
                <a:solidFill>
                  <a:srgbClr val="6B7280"/>
                </a:solidFill>
              </a:rPr>
              <a:t>702solver 成果展示 | 02</a:t>
            </a:r>
          </a:p>
        </p:txBody>
      </p:sp>
    </p:spTree>
    <p:extLst>
      <p:ext uri="{BB962C8B-B14F-4D97-AF65-F5344CB8AC3E}">
        <p14:creationId xmlns:p14="http://schemas.microsoft.com/office/powerpoint/2010/main" val="117308367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B6BA674-D2D4-4952-A36D-EC4DD381E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0480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22C8"/>
                </a:solidFill>
              </a:defRPr>
            </a:pPr>
            <a:r>
              <a:rPr sz="3000" b="1">
                <a:solidFill>
                  <a:srgbClr val="0022C8"/>
                </a:solidFill>
              </a:rPr>
              <a:t>方法创新：把多 Agent 成本从“多说话”改成“可复用状态”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12FFD3-35FA-4846-BEDD-8FB15BCFA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085850"/>
            <a:ext cx="11049000" cy="43815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AAFD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3E5860-DFE6-44C4-A022-B3CC6C76C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71575"/>
            <a:ext cx="10429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7101F"/>
                </a:solidFill>
              </a:defRPr>
            </a:pPr>
            <a:r>
              <a:rPr sz="1650" b="1">
                <a:solidFill>
                  <a:srgbClr val="07101F"/>
                </a:solidFill>
              </a:rPr>
              <a:t>创新点都对应代码实现和实验结果，避免只讲概念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B739CA-5E56-4E0E-B723-633A82249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066800"/>
            <a:ext cx="12573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24477E"/>
          </a:solidFill>
          <a:ln xmlns:a="http://schemas.openxmlformats.org/drawingml/2006/main" w="0">
            <a:solidFill>
              <a:srgbClr val="24477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FA7C5C-D468-489B-88A2-0C5961AE4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5252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049AC5-21A8-4C47-BCC7-407CD8AED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24050"/>
            <a:ext cx="10858500" cy="685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9D3E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43695D-5EF0-4528-BDA1-786B1B120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9550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4477E"/>
                </a:solidFill>
              </a:defRPr>
            </a:pPr>
            <a:r>
              <a:rPr sz="1800" b="1">
                <a:solidFill>
                  <a:srgbClr val="24477E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E4EEA1-4578-407E-A442-D4FC1BBCC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0764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4477E"/>
                </a:solidFill>
              </a:defRPr>
            </a:pPr>
            <a:r>
              <a:rPr sz="1800" b="1">
                <a:solidFill>
                  <a:srgbClr val="24477E"/>
                </a:solidFill>
              </a:rPr>
              <a:t>结构化协议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992FD7-5F13-4473-97AF-9726D22AA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047875"/>
            <a:ext cx="5476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7101F"/>
                </a:solidFill>
              </a:defRPr>
            </a:pPr>
            <a:r>
              <a:rPr sz="1350" b="0">
                <a:solidFill>
                  <a:srgbClr val="07101F"/>
                </a:solidFill>
              </a:rPr>
              <a:t>MessagePack 短字段承载 action / params / result，减少自然语言转述。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B42A1C-3378-40B5-A364-7F03C837A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085975"/>
            <a:ext cx="2000250" cy="3429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138A43"/>
          </a:solidFill>
          <a:ln xmlns:a="http://schemas.openxmlformats.org/drawingml/2006/main" w="0">
            <a:solidFill>
              <a:srgbClr val="138A4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55AAA9-33C9-4538-9516-D3128335D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152650"/>
            <a:ext cx="1847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B vs A 节省 48.06%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94C177-0D55-41F3-9ED3-6C6A8239E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00350"/>
            <a:ext cx="10858500" cy="685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3E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C09D5F-4CFE-4F31-9A8F-F662F995D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7180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4477E"/>
                </a:solidFill>
              </a:defRPr>
            </a:pPr>
            <a:r>
              <a:rPr sz="1800" b="1">
                <a:solidFill>
                  <a:srgbClr val="24477E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AF1A7C-6101-4946-AFCE-9B273E535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9527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4477E"/>
                </a:solidFill>
              </a:defRPr>
            </a:pPr>
            <a:r>
              <a:rPr sz="1800" b="1">
                <a:solidFill>
                  <a:srgbClr val="24477E"/>
                </a:solidFill>
              </a:rPr>
              <a:t>向量状态传递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24FD7A-E0C2-496B-8B6E-389DC7605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924175"/>
            <a:ext cx="5476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7101F"/>
                </a:solidFill>
              </a:defRPr>
            </a:pPr>
            <a:r>
              <a:rPr sz="1350" b="0">
                <a:solidFill>
                  <a:srgbClr val="07101F"/>
                </a:solidFill>
              </a:rPr>
              <a:t>Agent 中间状态编码为 384 维向量包，下游直接用于 FAISS 检索。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2DEA51-5939-46EA-B89B-7C0C07BDE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962275"/>
            <a:ext cx="2000250" cy="3429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138A43"/>
          </a:solidFill>
          <a:ln xmlns:a="http://schemas.openxmlformats.org/drawingml/2006/main" w="0">
            <a:solidFill>
              <a:srgbClr val="138A4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E95371-961D-46DF-9B8D-2C930B167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028950"/>
            <a:ext cx="1847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减少重复“文本→编码”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ACDA80-05B4-4FAC-866F-271D33DA1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76650"/>
            <a:ext cx="10858500" cy="685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9D3E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B56665-2715-4EE0-8FAA-8C2A80D80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4810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4477E"/>
                </a:solidFill>
              </a:defRPr>
            </a:pPr>
            <a:r>
              <a:rPr sz="1800" b="1">
                <a:solidFill>
                  <a:srgbClr val="24477E"/>
                </a:solidFill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85E9C5-A514-4B5D-99C4-C0D617340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8290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4477E"/>
                </a:solidFill>
              </a:defRPr>
            </a:pPr>
            <a:r>
              <a:rPr sz="1800" b="1">
                <a:solidFill>
                  <a:srgbClr val="24477E"/>
                </a:solidFill>
              </a:rPr>
              <a:t>共享记忆复用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F82D7DA-9F1E-47F3-981B-071A397B9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800475"/>
            <a:ext cx="5476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7101F"/>
                </a:solidFill>
              </a:defRPr>
            </a:pPr>
            <a:r>
              <a:rPr sz="1350" b="0">
                <a:solidFill>
                  <a:srgbClr val="07101F"/>
                </a:solidFill>
              </a:rPr>
              <a:t>计划、证据、结果沉淀为 MemoryUnit，支持 E2E、计划注入、模板填空。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80DA5AF-30CC-4E24-A96F-ACF7DA013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838575"/>
            <a:ext cx="2000250" cy="3429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138A43"/>
          </a:solidFill>
          <a:ln xmlns:a="http://schemas.openxmlformats.org/drawingml/2006/main" w="0">
            <a:solidFill>
              <a:srgbClr val="138A4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F2EFCA0-40ED-4734-9BCB-26AA0797D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905250"/>
            <a:ext cx="1847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C vs B 再节省 39.0%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7E9F810-82D9-4BB3-B1EC-7076C1DF3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52950"/>
            <a:ext cx="10858500" cy="685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3E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E2BE4BB-B5E8-4663-B8F1-6E1C629BF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2440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4477E"/>
                </a:solidFill>
              </a:defRPr>
            </a:pPr>
            <a:r>
              <a:rPr sz="1800" b="1">
                <a:solidFill>
                  <a:srgbClr val="24477E"/>
                </a:solidFill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505FFDD-33E9-47CA-9A77-060E520A7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7053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4477E"/>
                </a:solidFill>
              </a:defRPr>
            </a:pPr>
            <a:r>
              <a:rPr sz="1800" b="1">
                <a:solidFill>
                  <a:srgbClr val="24477E"/>
                </a:solidFill>
              </a:rPr>
              <a:t>安全复用门控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0319B29-88CB-4C19-A78D-CB5EFE01B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676775"/>
            <a:ext cx="5476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7101F"/>
                </a:solidFill>
              </a:defRPr>
            </a:pPr>
            <a:r>
              <a:rPr sz="1350" b="0">
                <a:solidFill>
                  <a:srgbClr val="07101F"/>
                </a:solidFill>
              </a:rPr>
              <a:t>意图门控 + no-e2e-cache + SafeSieve 反馈，避免套错历史答案。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C47568A-D486-4768-88AC-947621F5C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714875"/>
            <a:ext cx="2000250" cy="3429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C76B00"/>
          </a:solidFill>
          <a:ln xmlns:a="http://schemas.openxmlformats.org/drawingml/2006/main" w="0">
            <a:solidFill>
              <a:srgbClr val="C76B0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F3B3D27-9670-4AA3-9DAB-76407E9A4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781550"/>
            <a:ext cx="1847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对抗误用 0/6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9755E23-BBB0-4B3B-9685-16D6143DB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829300"/>
            <a:ext cx="1019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4477E"/>
                </a:solidFill>
              </a:defRPr>
            </a:pPr>
            <a:r>
              <a:rPr sz="1650" b="1">
                <a:solidFill>
                  <a:srgbClr val="24477E"/>
                </a:solidFill>
              </a:rPr>
              <a:t>结论：创新不是换 prompt，而是把 Agent 协作过程拆成可编码、可检索、可复用、可验证的工程机制。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CCF16D1-2732-4BE9-8C7E-A8A89C3C4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5722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B7280"/>
                </a:solidFill>
              </a:defRPr>
            </a:pPr>
            <a:r>
              <a:rPr sz="825" b="0">
                <a:solidFill>
                  <a:srgbClr val="6B7280"/>
                </a:solidFill>
              </a:rPr>
              <a:t>702solver 成果展示 | 03</a:t>
            </a:r>
          </a:p>
        </p:txBody>
      </p:sp>
    </p:spTree>
    <p:extLst>
      <p:ext uri="{BB962C8B-B14F-4D97-AF65-F5344CB8AC3E}">
        <p14:creationId xmlns:p14="http://schemas.microsoft.com/office/powerpoint/2010/main" val="121687350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A4A5551-72A5-4F16-B0E9-D494EF02F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0480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22C8"/>
                </a:solidFill>
              </a:defRPr>
            </a:pPr>
            <a:r>
              <a:rPr sz="3000" b="1">
                <a:solidFill>
                  <a:srgbClr val="0022C8"/>
                </a:solidFill>
              </a:rPr>
              <a:t>关键技术：四个已经落地的工程模块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8A3028-3D1F-4A3D-85FA-4B01675E3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085850"/>
            <a:ext cx="11049000" cy="43815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AAFD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E88FAA-804A-4622-89C7-DFF432828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71575"/>
            <a:ext cx="10429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7101F"/>
                </a:solidFill>
              </a:defRPr>
            </a:pPr>
            <a:r>
              <a:rPr sz="1650" b="1">
                <a:solidFill>
                  <a:srgbClr val="07101F"/>
                </a:solidFill>
              </a:rPr>
              <a:t>只讲和效果直接相关的技术点：通信怎么省、状态怎么传、记忆怎么用、复用怎么控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BEF953-137B-4CA5-94A7-1E073910E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066800"/>
            <a:ext cx="12573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24477E"/>
          </a:solidFill>
          <a:ln xmlns:a="http://schemas.openxmlformats.org/drawingml/2006/main" w="0">
            <a:solidFill>
              <a:srgbClr val="24477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52E68D-3F6D-4BF2-969B-3236DB310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5252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355B70-B17E-4A0A-8870-C958656A6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47850"/>
            <a:ext cx="5257800" cy="2095500"/>
          </a:xfrm>
          <a:prstGeom xmlns:a="http://schemas.openxmlformats.org/drawingml/2006/main" prst="roundRect">
            <a:avLst>
              <a:gd name="adj" fmla="val 27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4477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AA6896-E109-41C3-A768-57FF8337E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47850"/>
            <a:ext cx="52578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77E"/>
          </a:solidFill>
          <a:ln xmlns:a="http://schemas.openxmlformats.org/drawingml/2006/main" w="0">
            <a:solidFill>
              <a:srgbClr val="24477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7BAF88-3A1F-4C8C-8469-A9E7CE8B8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574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4477E"/>
                </a:solidFill>
              </a:defRPr>
            </a:pPr>
            <a:r>
              <a:rPr sz="1650" b="1">
                <a:solidFill>
                  <a:srgbClr val="24477E"/>
                </a:solidFill>
              </a:rPr>
              <a:t>1. 结构化通信协议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D417C0-DA20-4562-9CC1-200DC9F77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19350"/>
            <a:ext cx="4953000" cy="3238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EEF2F7"/>
          </a:solidFill>
          <a:ln xmlns:a="http://schemas.openxmlformats.org/drawingml/2006/main" w="0">
            <a:solidFill>
              <a:srgbClr val="EEF2F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2FBEED-8EF4-4D71-B027-9A57EA8DC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05075"/>
            <a:ext cx="476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4477E"/>
                </a:solidFill>
              </a:defRPr>
            </a:pPr>
            <a:r>
              <a:rPr sz="975" b="1">
                <a:solidFill>
                  <a:srgbClr val="24477E"/>
                </a:solidFill>
              </a:rPr>
              <a:t>src/protocol · MessagePack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1265A5-7BE3-48D1-8D88-832ED6E6F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38450"/>
            <a:ext cx="4914900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24477E"/>
          </a:solidFill>
          <a:ln xmlns:a="http://schemas.openxmlformats.org/drawingml/2006/main" w="0">
            <a:solidFill>
              <a:srgbClr val="24477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3BCE81-CF3C-412F-9511-645CAC0CE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05125"/>
            <a:ext cx="4800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B vs A 节省 48.06%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F1558C-CD3A-44F1-9162-E6ADFBD24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9565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477E"/>
                </a:solidFill>
              </a:defRPr>
            </a:pPr>
            <a:r>
              <a:rPr sz="1200" b="1">
                <a:solidFill>
                  <a:srgbClr val="24477E"/>
                </a:solidFill>
              </a:rPr>
              <a:t>■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0C3C52-7FBE-4A04-8F3F-ECABA71CA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86125"/>
            <a:ext cx="4552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7101F"/>
                </a:solidFill>
              </a:defRPr>
            </a:pPr>
            <a:r>
              <a:rPr sz="1200" b="0">
                <a:solidFill>
                  <a:srgbClr val="07101F"/>
                </a:solidFill>
              </a:rPr>
              <a:t>用 action / params / result 替代长自然语言消息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3A724D-68CE-4E50-BCB7-5AE2C9B47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8140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477E"/>
                </a:solidFill>
              </a:defRPr>
            </a:pPr>
            <a:r>
              <a:rPr sz="1200" b="1">
                <a:solidFill>
                  <a:srgbClr val="24477E"/>
                </a:solidFill>
              </a:rPr>
              <a:t>■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4CC560-E5D2-4ED4-BECF-E00F1BFDA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71875"/>
            <a:ext cx="4552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7101F"/>
                </a:solidFill>
              </a:defRPr>
            </a:pPr>
            <a:r>
              <a:rPr sz="1200" b="0">
                <a:solidFill>
                  <a:srgbClr val="07101F"/>
                </a:solidFill>
              </a:rPr>
              <a:t>短字段二进制序列化，并由 Scheduler 按能力路由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26851B-9FC0-4CB9-989D-5F1A70996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847850"/>
            <a:ext cx="5257800" cy="2095500"/>
          </a:xfrm>
          <a:prstGeom xmlns:a="http://schemas.openxmlformats.org/drawingml/2006/main" prst="roundRect">
            <a:avLst>
              <a:gd name="adj" fmla="val 27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38A4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B6DB8B-ABB1-4A78-A346-0CC070F9C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847850"/>
            <a:ext cx="52578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8A43"/>
          </a:solidFill>
          <a:ln xmlns:a="http://schemas.openxmlformats.org/drawingml/2006/main" w="0">
            <a:solidFill>
              <a:srgbClr val="138A4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83AB22-6070-4DB0-B556-FA7B13C12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574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38A43"/>
                </a:solidFill>
              </a:defRPr>
            </a:pPr>
            <a:r>
              <a:rPr sz="1650" b="1">
                <a:solidFill>
                  <a:srgbClr val="138A43"/>
                </a:solidFill>
              </a:rPr>
              <a:t>2. 非文本状态传递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42772F2-C35E-4043-898D-4FB586944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19350"/>
            <a:ext cx="4953000" cy="3238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EEF2F7"/>
          </a:solidFill>
          <a:ln xmlns:a="http://schemas.openxmlformats.org/drawingml/2006/main" w="0">
            <a:solidFill>
              <a:srgbClr val="EEF2F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C40830-8B59-4DE8-9264-0D3C6CC3F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505075"/>
            <a:ext cx="476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4477E"/>
                </a:solidFill>
              </a:defRPr>
            </a:pPr>
            <a:r>
              <a:rPr sz="975" b="1">
                <a:solidFill>
                  <a:srgbClr val="24477E"/>
                </a:solidFill>
              </a:rPr>
              <a:t>src/state · 384-dim StatePacket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858ECB5-5C0B-4C2F-9433-5C9612E67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838450"/>
            <a:ext cx="4914900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38A43"/>
          </a:solidFill>
          <a:ln xmlns:a="http://schemas.openxmlformats.org/drawingml/2006/main" w="0">
            <a:solidFill>
              <a:srgbClr val="138A4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2146311-839F-452C-8792-C7BE97CC4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905125"/>
            <a:ext cx="4800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减少重复文本编码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C77F80F-3D39-4F64-B96C-273C2E56D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29565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38A43"/>
                </a:solidFill>
              </a:defRPr>
            </a:pPr>
            <a:r>
              <a:rPr sz="1200" b="1">
                <a:solidFill>
                  <a:srgbClr val="138A43"/>
                </a:solidFill>
              </a:rPr>
              <a:t>■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1241D6-03E9-4457-9CC7-4C02ED235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286125"/>
            <a:ext cx="4552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7101F"/>
                </a:solidFill>
              </a:defRPr>
            </a:pPr>
            <a:r>
              <a:rPr sz="1200" b="0">
                <a:solidFill>
                  <a:srgbClr val="07101F"/>
                </a:solidFill>
              </a:rPr>
              <a:t>Agent 输出被编码为 384 维语义向量状态包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6755B28-F4D1-47C4-A4FD-405B89FC5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58140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38A43"/>
                </a:solidFill>
              </a:defRPr>
            </a:pPr>
            <a:r>
              <a:rPr sz="1200" b="1">
                <a:solidFill>
                  <a:srgbClr val="138A43"/>
                </a:solidFill>
              </a:rPr>
              <a:t>■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F45DAD2-45B5-4A1A-A92C-0ED0D1628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571875"/>
            <a:ext cx="4552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7101F"/>
                </a:solidFill>
              </a:defRPr>
            </a:pPr>
            <a:r>
              <a:rPr sz="1200" b="0">
                <a:solidFill>
                  <a:srgbClr val="07101F"/>
                </a:solidFill>
              </a:rPr>
              <a:t>下游消费后直接进入 FAISS 检索，避免跨任务脏状态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B721FFC-5922-46B2-B227-313E274A4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14800"/>
            <a:ext cx="5257800" cy="2095500"/>
          </a:xfrm>
          <a:prstGeom xmlns:a="http://schemas.openxmlformats.org/drawingml/2006/main" prst="roundRect">
            <a:avLst>
              <a:gd name="adj" fmla="val 27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6B0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FF1743D-5DEA-4D3F-B90F-67B1DDFC2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14800"/>
            <a:ext cx="52578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6B00"/>
          </a:solidFill>
          <a:ln xmlns:a="http://schemas.openxmlformats.org/drawingml/2006/main" w="0">
            <a:solidFill>
              <a:srgbClr val="C76B0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15A56E6-1DEF-40DD-9838-36B8AFCBE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243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C76B00"/>
                </a:solidFill>
              </a:defRPr>
            </a:pPr>
            <a:r>
              <a:rPr sz="1650" b="1">
                <a:solidFill>
                  <a:srgbClr val="C76B00"/>
                </a:solidFill>
              </a:rPr>
              <a:t>3. SQLite + FAISS 共享记忆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F658BFD-BB54-4126-94AB-A3B074B4C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86300"/>
            <a:ext cx="4953000" cy="3238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EEF2F7"/>
          </a:solidFill>
          <a:ln xmlns:a="http://schemas.openxmlformats.org/drawingml/2006/main" w="0">
            <a:solidFill>
              <a:srgbClr val="EEF2F7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17F1F76-E2AD-4A2A-9148-8EF77178F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72025"/>
            <a:ext cx="476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4477E"/>
                </a:solidFill>
              </a:defRPr>
            </a:pPr>
            <a:r>
              <a:rPr sz="975" b="1">
                <a:solidFill>
                  <a:srgbClr val="24477E"/>
                </a:solidFill>
              </a:rPr>
              <a:t>src/memory · MemoryUnit/MemoryStore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5DB0F4F-60E6-4995-ADFD-54C448729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05400"/>
            <a:ext cx="4914900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C76B00"/>
          </a:solidFill>
          <a:ln xmlns:a="http://schemas.openxmlformats.org/drawingml/2006/main" w="0">
            <a:solidFill>
              <a:srgbClr val="C76B0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55F9B67-129E-4D10-A887-DF3AEE613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72075"/>
            <a:ext cx="4800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C vs B 再节省 39.0%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796DBA9-0106-405B-AD59-279738991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6260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76B00"/>
                </a:solidFill>
              </a:defRPr>
            </a:pPr>
            <a:r>
              <a:rPr sz="1200" b="1">
                <a:solidFill>
                  <a:srgbClr val="C76B00"/>
                </a:solidFill>
              </a:rPr>
              <a:t>■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450EF1B-BB86-4B06-BC97-E45DA1312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553075"/>
            <a:ext cx="4552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7101F"/>
                </a:solidFill>
              </a:defRPr>
            </a:pPr>
            <a:r>
              <a:rPr sz="1200" b="0">
                <a:solidFill>
                  <a:srgbClr val="07101F"/>
                </a:solidFill>
              </a:rPr>
              <a:t>每次计划、证据、结果沉淀为结构化 MemoryUnit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3976281-8827-4750-8D88-CEAFEF618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4835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76B00"/>
                </a:solidFill>
              </a:defRPr>
            </a:pPr>
            <a:r>
              <a:rPr sz="1200" b="1">
                <a:solidFill>
                  <a:srgbClr val="C76B00"/>
                </a:solidFill>
              </a:rPr>
              <a:t>■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99E0825-8D43-46D0-8350-1967517A0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838825"/>
            <a:ext cx="4552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7101F"/>
                </a:solidFill>
              </a:defRPr>
            </a:pPr>
            <a:r>
              <a:rPr sz="1200" b="0">
                <a:solidFill>
                  <a:srgbClr val="07101F"/>
                </a:solidFill>
              </a:rPr>
              <a:t>SQLite 存元数据与证据链；FAISS 做语义相似检索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EFED993-0DA2-4EDD-BD69-8465FB354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114800"/>
            <a:ext cx="5257800" cy="2095500"/>
          </a:xfrm>
          <a:prstGeom xmlns:a="http://schemas.openxmlformats.org/drawingml/2006/main" prst="roundRect">
            <a:avLst>
              <a:gd name="adj" fmla="val 27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2410C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3123978-412A-4BBC-8207-F19ED5169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114800"/>
            <a:ext cx="52578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410C"/>
          </a:solidFill>
          <a:ln xmlns:a="http://schemas.openxmlformats.org/drawingml/2006/main" w="0">
            <a:solidFill>
              <a:srgbClr val="C2410C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445D205-367F-443F-A1A3-56BE747D3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3243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C2410C"/>
                </a:solidFill>
              </a:defRPr>
            </a:pPr>
            <a:r>
              <a:rPr sz="1650" b="1">
                <a:solidFill>
                  <a:srgbClr val="C2410C"/>
                </a:solidFill>
              </a:rPr>
              <a:t>4. 三级复用与安全门控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3BBB893-F53F-4E08-A3C0-0A5A26C08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686300"/>
            <a:ext cx="4953000" cy="3238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EEF2F7"/>
          </a:solidFill>
          <a:ln xmlns:a="http://schemas.openxmlformats.org/drawingml/2006/main" w="0">
            <a:solidFill>
              <a:srgbClr val="EEF2F7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B546F3F-A290-4FCC-A86C-7BCB077EB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772025"/>
            <a:ext cx="476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4477E"/>
                </a:solidFill>
              </a:defRPr>
            </a:pPr>
            <a:r>
              <a:rPr sz="975" b="1">
                <a:solidFill>
                  <a:srgbClr val="24477E"/>
                </a:solidFill>
              </a:rPr>
              <a:t>src/orchestrator · src/task_intent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5453775-E160-4D21-A667-5B318B6B6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5105400"/>
            <a:ext cx="4914900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C2410C"/>
          </a:solidFill>
          <a:ln xmlns:a="http://schemas.openxmlformats.org/drawingml/2006/main" w="0">
            <a:solidFill>
              <a:srgbClr val="C2410C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3E46865-7D36-4A4D-9531-0B57C97AE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172075"/>
            <a:ext cx="4800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质量 24/24；对抗误用 0/6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7959738-B06B-48AB-A02B-A92D5E236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56260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2410C"/>
                </a:solidFill>
              </a:defRPr>
            </a:pPr>
            <a:r>
              <a:rPr sz="1200" b="1">
                <a:solidFill>
                  <a:srgbClr val="C2410C"/>
                </a:solidFill>
              </a:rPr>
              <a:t>■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A366E41-EF96-494C-BF33-C0F2906B5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5553075"/>
            <a:ext cx="4552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7101F"/>
                </a:solidFill>
              </a:defRPr>
            </a:pPr>
            <a:r>
              <a:rPr sz="1200" b="0">
                <a:solidFill>
                  <a:srgbClr val="07101F"/>
                </a:solidFill>
              </a:rPr>
              <a:t>E2E 整题复用、领域计划注入、模板填空/Executor Dropout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50458A4-950B-456B-AEA7-E41147BEC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84835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2410C"/>
                </a:solidFill>
              </a:defRPr>
            </a:pPr>
            <a:r>
              <a:rPr sz="1200" b="1">
                <a:solidFill>
                  <a:srgbClr val="C2410C"/>
                </a:solidFill>
              </a:rPr>
              <a:t>■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9177969-D1E2-465D-93B9-A9611FB63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5838825"/>
            <a:ext cx="4552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7101F"/>
                </a:solidFill>
              </a:defRPr>
            </a:pPr>
            <a:r>
              <a:rPr sz="1200" b="0">
                <a:solidFill>
                  <a:srgbClr val="07101F"/>
                </a:solidFill>
              </a:rPr>
              <a:t>意图门控 + SafeSieve 降权，避免错误经验扩散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EE8CEDD-7DE2-4E6F-8B3C-712390062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5722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B7280"/>
                </a:solidFill>
              </a:defRPr>
            </a:pPr>
            <a:r>
              <a:rPr sz="825" b="0">
                <a:solidFill>
                  <a:srgbClr val="6B7280"/>
                </a:solidFill>
              </a:rPr>
              <a:t>702solver 成果展示 | 04</a:t>
            </a:r>
          </a:p>
        </p:txBody>
      </p:sp>
    </p:spTree>
    <p:extLst>
      <p:ext uri="{BB962C8B-B14F-4D97-AF65-F5344CB8AC3E}">
        <p14:creationId xmlns:p14="http://schemas.microsoft.com/office/powerpoint/2010/main" val="120420366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359092BC-850D-4E3F-B9F2-7A52F365F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0480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22C8"/>
                </a:solidFill>
              </a:defRPr>
            </a:pPr>
            <a:r>
              <a:rPr sz="3000" b="1">
                <a:solidFill>
                  <a:srgbClr val="0022C8"/>
                </a:solidFill>
              </a:rPr>
              <a:t>full24 任务集：用同一组题验证方法效果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8D0449-D34F-45C7-BA99-CDEB41435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085850"/>
            <a:ext cx="11049000" cy="43815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AAFD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2743EE-1FB3-4502-9E91-4D01F8BE0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71575"/>
            <a:ext cx="10429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7101F"/>
                </a:solidFill>
              </a:defRPr>
            </a:pPr>
            <a:r>
              <a:rPr sz="1650" b="1">
                <a:solidFill>
                  <a:srgbClr val="07101F"/>
                </a:solidFill>
              </a:rPr>
              <a:t>三领域 × 三层题型：既测常规能力，也测复用收益和错误复用防护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43144B-9AE4-47E9-9281-868826CD7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066800"/>
            <a:ext cx="12573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24477E"/>
          </a:solidFill>
          <a:ln xmlns:a="http://schemas.openxmlformats.org/drawingml/2006/main" w="0">
            <a:solidFill>
              <a:srgbClr val="24477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123E2F-5EC8-42F2-9925-D06B66EA8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5252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015500-3A56-4DDF-B271-96F93E56A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695450"/>
            <a:ext cx="11049000" cy="43815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4477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48E1B5-E63B-4A95-8163-0416B0280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81175"/>
            <a:ext cx="10763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4477E"/>
                </a:solidFill>
              </a:defRPr>
            </a:pPr>
            <a:r>
              <a:rPr sz="1800" b="1">
                <a:solidFill>
                  <a:srgbClr val="24477E"/>
                </a:solidFill>
              </a:rPr>
              <a:t>core12 基础题 + extended6 扩展题 + adversarial6 对抗题 = 24 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4F0287-581E-4819-9817-FFAC6EDA8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00300"/>
            <a:ext cx="3638550" cy="3676650"/>
          </a:xfrm>
          <a:prstGeom xmlns:a="http://schemas.openxmlformats.org/drawingml/2006/main" prst="roundRect">
            <a:avLst>
              <a:gd name="adj" fmla="val 1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38A4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7593D6-3922-4E6E-98DC-E691BD292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00300"/>
            <a:ext cx="36385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8A43"/>
          </a:solidFill>
          <a:ln xmlns:a="http://schemas.openxmlformats.org/drawingml/2006/main" w="0">
            <a:solidFill>
              <a:srgbClr val="138A4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E3D85C-0496-4269-9F11-B52059280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00325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38A43"/>
                </a:solidFill>
              </a:defRPr>
            </a:pPr>
            <a:r>
              <a:rPr sz="1650" b="1">
                <a:solidFill>
                  <a:srgbClr val="138A43"/>
                </a:solidFill>
              </a:rPr>
              <a:t>能源 Energy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5410A9-A99B-4DE7-B439-0E9E97E33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62275"/>
            <a:ext cx="329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3E6"/>
          </a:solidFill>
          <a:ln xmlns:a="http://schemas.openxmlformats.org/drawingml/2006/main" w="0">
            <a:solidFill>
              <a:srgbClr val="C9D3E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D78D69-8A76-48E9-8D31-D0EFBF482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38475"/>
            <a:ext cx="3371850" cy="314325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5715">
            <a:solidFill>
              <a:srgbClr val="E1E7F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C4CAAF-800A-45EA-8B94-56B954E3C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14675"/>
            <a:ext cx="400050" cy="1714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24477E"/>
          </a:solidFill>
          <a:ln xmlns:a="http://schemas.openxmlformats.org/drawingml/2006/main" w="0">
            <a:solidFill>
              <a:srgbClr val="24477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92B44F-C2AC-4355-98EE-41D485280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33725"/>
            <a:ext cx="4000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Core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112663-5FEF-4CD1-A26C-D5546DAF5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08610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38A43"/>
                </a:solidFill>
              </a:defRPr>
            </a:pPr>
            <a:r>
              <a:rPr sz="1050" b="1">
                <a:solidFill>
                  <a:srgbClr val="138A43"/>
                </a:solidFill>
              </a:rPr>
              <a:t>e1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DF338A-E0FD-4812-AD73-C5445CDDC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076575"/>
            <a:ext cx="2419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07101F"/>
                </a:solidFill>
              </a:defRPr>
            </a:pPr>
            <a:r>
              <a:rPr sz="975" b="0">
                <a:solidFill>
                  <a:srgbClr val="07101F"/>
                </a:solidFill>
              </a:rPr>
              <a:t>光伏基础：类型/效率/成本/环境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8CA48F-0494-4D05-AC96-620746BA0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90900"/>
            <a:ext cx="3371850" cy="314325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E1E7F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F017D6-A3FE-4828-901C-C3D2A4DBF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67100"/>
            <a:ext cx="400050" cy="1714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24477E"/>
          </a:solidFill>
          <a:ln xmlns:a="http://schemas.openxmlformats.org/drawingml/2006/main" w="0">
            <a:solidFill>
              <a:srgbClr val="24477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B33B27-F794-4183-B717-6C7E9608F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86150"/>
            <a:ext cx="4000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Core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666BA2-FBDB-4AE9-AA0F-C4F27FD9C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43852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38A43"/>
                </a:solidFill>
              </a:defRPr>
            </a:pPr>
            <a:r>
              <a:rPr sz="1050" b="1">
                <a:solidFill>
                  <a:srgbClr val="138A43"/>
                </a:solidFill>
              </a:rPr>
              <a:t>e2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9AB158-218D-4F6E-826F-20D8B5534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429000"/>
            <a:ext cx="2419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07101F"/>
                </a:solidFill>
              </a:defRPr>
            </a:pPr>
            <a:r>
              <a:rPr sz="975" b="0">
                <a:solidFill>
                  <a:srgbClr val="07101F"/>
                </a:solidFill>
              </a:rPr>
              <a:t>先进光伏：钙钛矿/双面/CSP/BIPV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DF1759E-2C36-4A74-ABB7-7A871D88D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43325"/>
            <a:ext cx="3371850" cy="314325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5715">
            <a:solidFill>
              <a:srgbClr val="E1E7F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65AC9A8-C1A6-4B02-9D50-296CBD2C7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9525"/>
            <a:ext cx="400050" cy="1714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24477E"/>
          </a:solidFill>
          <a:ln xmlns:a="http://schemas.openxmlformats.org/drawingml/2006/main" w="0">
            <a:solidFill>
              <a:srgbClr val="24477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CEA042F-48A1-4553-BE20-C32CC434B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38575"/>
            <a:ext cx="4000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Core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1BF09FC-5754-415C-A74D-56C9987F0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79095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38A43"/>
                </a:solidFill>
              </a:defRPr>
            </a:pPr>
            <a:r>
              <a:rPr sz="1050" b="1">
                <a:solidFill>
                  <a:srgbClr val="138A43"/>
                </a:solidFill>
              </a:rPr>
              <a:t>e3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25195A0-E11C-4DF1-A588-D1DF1094B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781425"/>
            <a:ext cx="2419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07101F"/>
                </a:solidFill>
              </a:defRPr>
            </a:pPr>
            <a:r>
              <a:rPr sz="975" b="0">
                <a:solidFill>
                  <a:srgbClr val="07101F"/>
                </a:solidFill>
              </a:rPr>
              <a:t>风电技术：陆上/海上/叶片/机型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DA7CA41-319B-4323-AE69-07B79D97A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95750"/>
            <a:ext cx="3371850" cy="314325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E1E7F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A3FFA0D-8684-4C14-AE32-B9E99128F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71950"/>
            <a:ext cx="400050" cy="1714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24477E"/>
          </a:solidFill>
          <a:ln xmlns:a="http://schemas.openxmlformats.org/drawingml/2006/main" w="0">
            <a:solidFill>
              <a:srgbClr val="24477E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3E506AD-7407-4735-B86E-16CCAAAC4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4000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Core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37750BA-E1E8-42AD-B331-00603DE39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14337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38A43"/>
                </a:solidFill>
              </a:defRPr>
            </a:pPr>
            <a:r>
              <a:rPr sz="1050" b="1">
                <a:solidFill>
                  <a:srgbClr val="138A43"/>
                </a:solidFill>
              </a:rPr>
              <a:t>e4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58886FB-A37D-4006-AA2E-C478E7215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133850"/>
            <a:ext cx="2419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07101F"/>
                </a:solidFill>
              </a:defRPr>
            </a:pPr>
            <a:r>
              <a:rPr sz="975" b="0">
                <a:solidFill>
                  <a:srgbClr val="07101F"/>
                </a:solidFill>
              </a:rPr>
              <a:t>光伏 vs 风电：LCOE/土地/并网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49F2BA4-96CA-45FF-B9DC-8764D5D89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48175"/>
            <a:ext cx="3371850" cy="314325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5715">
            <a:solidFill>
              <a:srgbClr val="E1E7F2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68ECD2C-FB16-4DE0-ADB6-244E74BCD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24375"/>
            <a:ext cx="400050" cy="1714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667085"/>
          </a:solidFill>
          <a:ln xmlns:a="http://schemas.openxmlformats.org/drawingml/2006/main" w="0">
            <a:solidFill>
              <a:srgbClr val="66708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E4CF3D0-8341-4CA9-A595-8ED8960B2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43425"/>
            <a:ext cx="4000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Ext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9814054-AF2C-498A-9A40-B710AF159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49580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38A43"/>
                </a:solidFill>
              </a:defRPr>
            </a:pPr>
            <a:r>
              <a:rPr sz="1050" b="1">
                <a:solidFill>
                  <a:srgbClr val="138A43"/>
                </a:solidFill>
              </a:rPr>
              <a:t>e5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D2D6C41-F984-43B4-90DD-3B57AE87E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486275"/>
            <a:ext cx="2419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07101F"/>
                </a:solidFill>
              </a:defRPr>
            </a:pPr>
            <a:r>
              <a:rPr sz="975" b="0">
                <a:solidFill>
                  <a:srgbClr val="07101F"/>
                </a:solidFill>
              </a:rPr>
              <a:t>水电与抽蓄：调峰/效率/环境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F2B1B5F-60D1-434A-A26A-393B157BA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00600"/>
            <a:ext cx="3371850" cy="314325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E1E7F2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8CD66AF-2A7D-42BC-8155-6DAF73C3E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400050" cy="1714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667085"/>
          </a:solidFill>
          <a:ln xmlns:a="http://schemas.openxmlformats.org/drawingml/2006/main" w="0">
            <a:solidFill>
              <a:srgbClr val="667085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D0AD4D8-4F90-4589-96B2-0BC31FB4B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95850"/>
            <a:ext cx="4000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Ext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111D607-8EE9-43AD-A712-FD8D41251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84822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38A43"/>
                </a:solidFill>
              </a:defRPr>
            </a:pPr>
            <a:r>
              <a:rPr sz="1050" b="1">
                <a:solidFill>
                  <a:srgbClr val="138A43"/>
                </a:solidFill>
              </a:rPr>
              <a:t>e6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7DB48D1-B473-47E6-B32D-E255088AB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838700"/>
            <a:ext cx="2419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07101F"/>
                </a:solidFill>
              </a:defRPr>
            </a:pPr>
            <a:r>
              <a:rPr sz="975" b="0">
                <a:solidFill>
                  <a:srgbClr val="07101F"/>
                </a:solidFill>
              </a:rPr>
              <a:t>高比例新能源并网：弃电/频率/储能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ABC7805-2385-4C45-99A4-43C1A45FF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53025"/>
            <a:ext cx="3371850" cy="314325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5715">
            <a:solidFill>
              <a:srgbClr val="E1E7F2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79C3321-D4B1-41FE-A899-7B2EC70ED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29225"/>
            <a:ext cx="400050" cy="1714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2410C"/>
          </a:solidFill>
          <a:ln xmlns:a="http://schemas.openxmlformats.org/drawingml/2006/main" w="0">
            <a:solidFill>
              <a:srgbClr val="C2410C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A178ACD-57D9-4162-A80B-DE8DB8657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48275"/>
            <a:ext cx="4000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Adv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CEF900D-5B7F-4FEB-A67E-C2601BD6F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20065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38A43"/>
                </a:solidFill>
              </a:defRPr>
            </a:pPr>
            <a:r>
              <a:rPr sz="1050" b="1">
                <a:solidFill>
                  <a:srgbClr val="138A43"/>
                </a:solidFill>
              </a:rPr>
              <a:t>x1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B03E8C9-C4B9-4E6D-929F-85F1B846E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191125"/>
            <a:ext cx="2419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07101F"/>
                </a:solidFill>
              </a:defRPr>
            </a:pPr>
            <a:r>
              <a:rPr sz="975" b="0">
                <a:solidFill>
                  <a:srgbClr val="07101F"/>
                </a:solidFill>
              </a:rPr>
              <a:t>只谈光伏政策，禁止技术细节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9B1E8FB-1994-4055-86F8-690621FC8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05450"/>
            <a:ext cx="3371850" cy="314325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E1E7F2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F04E31B-1848-42A7-9A73-52A8DBCB6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81650"/>
            <a:ext cx="400050" cy="1714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2410C"/>
          </a:solidFill>
          <a:ln xmlns:a="http://schemas.openxmlformats.org/drawingml/2006/main" w="0">
            <a:solidFill>
              <a:srgbClr val="C2410C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830037B-50B1-4A13-9275-6B0E5C21B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4000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Adv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A1CA6E4-F8BA-4F14-850C-FA03A155C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55307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38A43"/>
                </a:solidFill>
              </a:defRPr>
            </a:pPr>
            <a:r>
              <a:rPr sz="1050" b="1">
                <a:solidFill>
                  <a:srgbClr val="138A43"/>
                </a:solidFill>
              </a:rPr>
              <a:t>x2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146F814-096F-4DDA-B4EE-DB7A7EF43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543550"/>
            <a:ext cx="2419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07101F"/>
                </a:solidFill>
              </a:defRPr>
            </a:pPr>
            <a:r>
              <a:rPr sz="975" b="0">
                <a:solidFill>
                  <a:srgbClr val="07101F"/>
                </a:solidFill>
              </a:rPr>
              <a:t>只谈海风经济，禁止发电机技术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884E9EF-D1C9-47E1-9627-E2EB758C2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2400300"/>
            <a:ext cx="3638550" cy="3676650"/>
          </a:xfrm>
          <a:prstGeom xmlns:a="http://schemas.openxmlformats.org/drawingml/2006/main" prst="roundRect">
            <a:avLst>
              <a:gd name="adj" fmla="val 1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6B00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9846056-3ACC-43E9-8873-EDDFC1B6B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2400300"/>
            <a:ext cx="36385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6B00"/>
          </a:solidFill>
          <a:ln xmlns:a="http://schemas.openxmlformats.org/drawingml/2006/main" w="0">
            <a:solidFill>
              <a:srgbClr val="C76B00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34BA7D8-0264-44A1-B3F6-59853F3A3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600325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C76B00"/>
                </a:solidFill>
              </a:defRPr>
            </a:pPr>
            <a:r>
              <a:rPr sz="1650" b="1">
                <a:solidFill>
                  <a:srgbClr val="C76B00"/>
                </a:solidFill>
              </a:rPr>
              <a:t>安全 Security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C94BC52-F6FE-401B-B706-618508ADD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962275"/>
            <a:ext cx="329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3E6"/>
          </a:solidFill>
          <a:ln xmlns:a="http://schemas.openxmlformats.org/drawingml/2006/main" w="0">
            <a:solidFill>
              <a:srgbClr val="C9D3E6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86C5CD2-B58F-408A-BDE8-796FE9EC4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3038475"/>
            <a:ext cx="3371850" cy="314325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5715">
            <a:solidFill>
              <a:srgbClr val="E1E7F2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BEE07FE-6630-4BDC-BD01-ACFD83759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114675"/>
            <a:ext cx="400050" cy="1714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24477E"/>
          </a:solidFill>
          <a:ln xmlns:a="http://schemas.openxmlformats.org/drawingml/2006/main" w="0">
            <a:solidFill>
              <a:srgbClr val="24477E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F4B3875-4A1D-42D7-BDB2-B6664E0A7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133725"/>
            <a:ext cx="4000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Core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D3D0C33-3C73-47B2-9A09-E3D12B15B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308610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76B00"/>
                </a:solidFill>
              </a:defRPr>
            </a:pPr>
            <a:r>
              <a:rPr sz="1050" b="1">
                <a:solidFill>
                  <a:srgbClr val="C76B00"/>
                </a:solidFill>
              </a:rPr>
              <a:t>s1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901697C-0C70-48EB-A07C-E4AEFA6E1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076575"/>
            <a:ext cx="2419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07101F"/>
                </a:solidFill>
              </a:defRPr>
            </a:pPr>
            <a:r>
              <a:rPr sz="975" b="0">
                <a:solidFill>
                  <a:srgbClr val="07101F"/>
                </a:solidFill>
              </a:rPr>
              <a:t>Python 漏洞：注入/凭据/路径/反序列化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EB005FF-23F7-4821-B3C7-59F6CE7D5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3390900"/>
            <a:ext cx="3371850" cy="314325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E1E7F2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18C20695-54EC-4602-8E99-8F8C86C5F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467100"/>
            <a:ext cx="400050" cy="1714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24477E"/>
          </a:solidFill>
          <a:ln xmlns:a="http://schemas.openxmlformats.org/drawingml/2006/main" w="0">
            <a:solidFill>
              <a:srgbClr val="24477E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A59C3908-D93B-4C10-AA17-C968EBE5A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486150"/>
            <a:ext cx="4000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Core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7740554-41F8-4E98-9F8A-504508212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343852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76B00"/>
                </a:solidFill>
              </a:defRPr>
            </a:pPr>
            <a:r>
              <a:rPr sz="1050" b="1">
                <a:solidFill>
                  <a:srgbClr val="C76B00"/>
                </a:solidFill>
              </a:rPr>
              <a:t>s2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9235B5B8-A403-4674-B750-DE314F4E8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429000"/>
            <a:ext cx="2419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07101F"/>
                </a:solidFill>
              </a:defRPr>
            </a:pPr>
            <a:r>
              <a:rPr sz="975" b="0">
                <a:solidFill>
                  <a:srgbClr val="07101F"/>
                </a:solidFill>
              </a:rPr>
              <a:t>Web 安全审计：CSRF/JWT/CORS/OAuth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B59C39AB-B0DE-4DDD-94D6-F5FA2D5BA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3743325"/>
            <a:ext cx="3371850" cy="314325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5715">
            <a:solidFill>
              <a:srgbClr val="E1E7F2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EC4B30E2-AF99-4057-94DA-CF634F033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819525"/>
            <a:ext cx="400050" cy="1714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24477E"/>
          </a:solidFill>
          <a:ln xmlns:a="http://schemas.openxmlformats.org/drawingml/2006/main" w="0">
            <a:solidFill>
              <a:srgbClr val="24477E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21EE9AED-51CD-4785-BBE5-FDD7B8C08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838575"/>
            <a:ext cx="4000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Core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6A1C0C45-952F-4D44-A4C0-F2B0EDD02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379095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76B00"/>
                </a:solidFill>
              </a:defRPr>
            </a:pPr>
            <a:r>
              <a:rPr sz="1050" b="1">
                <a:solidFill>
                  <a:srgbClr val="C76B00"/>
                </a:solidFill>
              </a:rPr>
              <a:t>s3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A292081B-1FD3-45E0-A713-E7BBEDBFB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781425"/>
            <a:ext cx="2419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07101F"/>
                </a:solidFill>
              </a:defRPr>
            </a:pPr>
            <a:r>
              <a:rPr sz="975" b="0">
                <a:solidFill>
                  <a:srgbClr val="07101F"/>
                </a:solidFill>
              </a:rPr>
              <a:t>Python 漏洞变体：检验整题复用能力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2E53A0D7-0A13-4DEF-8873-0ECF0DE32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4095750"/>
            <a:ext cx="3371850" cy="314325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E1E7F2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92B1F5C8-E170-4B50-9DDC-9CD022814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171950"/>
            <a:ext cx="400050" cy="1714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24477E"/>
          </a:solidFill>
          <a:ln xmlns:a="http://schemas.openxmlformats.org/drawingml/2006/main" w="0">
            <a:solidFill>
              <a:srgbClr val="24477E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AEBA6937-4D46-4790-AD72-45D484781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191000"/>
            <a:ext cx="4000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Core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9DD1137D-FD0E-406E-AD92-29ABC3FC5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414337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76B00"/>
                </a:solidFill>
              </a:defRPr>
            </a:pPr>
            <a:r>
              <a:rPr sz="1050" b="1">
                <a:solidFill>
                  <a:srgbClr val="C76B00"/>
                </a:solidFill>
              </a:rPr>
              <a:t>s4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9D164051-7C14-42C8-B5A3-62738C970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133850"/>
            <a:ext cx="2419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07101F"/>
                </a:solidFill>
              </a:defRPr>
            </a:pPr>
            <a:r>
              <a:rPr sz="975" b="0">
                <a:solidFill>
                  <a:srgbClr val="07101F"/>
                </a:solidFill>
              </a:rPr>
              <a:t>代码审查清单：认证/会话/上传/依赖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D66660D5-0032-42C5-A547-C5A3B0EB7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4448175"/>
            <a:ext cx="3371850" cy="314325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5715">
            <a:solidFill>
              <a:srgbClr val="E1E7F2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2AB7F92C-2F33-4B4A-AA62-CEDA63391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524375"/>
            <a:ext cx="400050" cy="1714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667085"/>
          </a:solidFill>
          <a:ln xmlns:a="http://schemas.openxmlformats.org/drawingml/2006/main" w="0">
            <a:solidFill>
              <a:srgbClr val="667085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528B32BD-F02B-46EC-BDF8-5532B8E44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543425"/>
            <a:ext cx="4000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Ext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C98DD0A3-AB70-468B-8DBA-AC4D4ECD6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449580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76B00"/>
                </a:solidFill>
              </a:defRPr>
            </a:pPr>
            <a:r>
              <a:rPr sz="1050" b="1">
                <a:solidFill>
                  <a:srgbClr val="C76B00"/>
                </a:solidFill>
              </a:rPr>
              <a:t>s5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46C098F0-A855-4667-879F-4E7FF8CA7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486275"/>
            <a:ext cx="2419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07101F"/>
                </a:solidFill>
              </a:defRPr>
            </a:pPr>
            <a:r>
              <a:rPr sz="975" b="0">
                <a:solidFill>
                  <a:srgbClr val="07101F"/>
                </a:solidFill>
              </a:rPr>
              <a:t>密钥管理：Vault/轮换/CI 泄漏防护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1FC08FA1-8699-43E0-8CBB-8EE891E6E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4800600"/>
            <a:ext cx="3371850" cy="314325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E1E7F2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7E79F564-27B7-4357-AEFC-7522EBCA8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876800"/>
            <a:ext cx="400050" cy="1714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667085"/>
          </a:solidFill>
          <a:ln xmlns:a="http://schemas.openxmlformats.org/drawingml/2006/main" w="0">
            <a:solidFill>
              <a:srgbClr val="667085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85BA1281-BCB6-40A5-B5A1-77CB27A3F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895850"/>
            <a:ext cx="4000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Ext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987775FE-48C9-4499-BBA9-8F205CB0A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484822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76B00"/>
                </a:solidFill>
              </a:defRPr>
            </a:pPr>
            <a:r>
              <a:rPr sz="1050" b="1">
                <a:solidFill>
                  <a:srgbClr val="C76B00"/>
                </a:solidFill>
              </a:rPr>
              <a:t>s6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D8380BD1-B30F-4D67-B017-48A48B339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838700"/>
            <a:ext cx="2419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07101F"/>
                </a:solidFill>
              </a:defRPr>
            </a:pPr>
            <a:r>
              <a:rPr sz="975" b="0">
                <a:solidFill>
                  <a:srgbClr val="07101F"/>
                </a:solidFill>
              </a:rPr>
              <a:t>供应链安全：SBOM/签名/投毒包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6C57B635-0F15-4219-88A1-722C0BE32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5153025"/>
            <a:ext cx="3371850" cy="314325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5715">
            <a:solidFill>
              <a:srgbClr val="E1E7F2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EBC8F164-F8DE-4ACF-8EFB-B6221C37D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5229225"/>
            <a:ext cx="400050" cy="1714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2410C"/>
          </a:solidFill>
          <a:ln xmlns:a="http://schemas.openxmlformats.org/drawingml/2006/main" w="0">
            <a:solidFill>
              <a:srgbClr val="C2410C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392D01D7-CCBB-490B-B9B1-BC9FC49FB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5248275"/>
            <a:ext cx="4000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Adv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5604D7A6-C64B-4D72-85D8-6EACBC63F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520065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76B00"/>
                </a:solidFill>
              </a:defRPr>
            </a:pPr>
            <a:r>
              <a:rPr sz="1050" b="1">
                <a:solidFill>
                  <a:srgbClr val="C76B00"/>
                </a:solidFill>
              </a:rPr>
              <a:t>x3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20E47513-224D-49AE-BCD0-8ECEB3D4A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5191125"/>
            <a:ext cx="2419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07101F"/>
                </a:solidFill>
              </a:defRPr>
            </a:pPr>
            <a:r>
              <a:rPr sz="975" b="0">
                <a:solidFill>
                  <a:srgbClr val="07101F"/>
                </a:solidFill>
              </a:rPr>
              <a:t>只谈 SOC2/ISO27001，禁止漏洞修复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0F52809C-F8B5-40DA-955C-47DDC6802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5505450"/>
            <a:ext cx="3371850" cy="314325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E1E7F2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9B70CAB6-ABC9-41BC-B6C6-605DAB3B5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5581650"/>
            <a:ext cx="400050" cy="1714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2410C"/>
          </a:solidFill>
          <a:ln xmlns:a="http://schemas.openxmlformats.org/drawingml/2006/main" w="0">
            <a:solidFill>
              <a:srgbClr val="C2410C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82302190-7859-4E9A-9816-B789AD893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5600700"/>
            <a:ext cx="4000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Adv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38A11CAC-7D9F-4613-A8B2-4F6AF97A5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555307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76B00"/>
                </a:solidFill>
              </a:defRPr>
            </a:pPr>
            <a:r>
              <a:rPr sz="1050" b="1">
                <a:solidFill>
                  <a:srgbClr val="C76B00"/>
                </a:solidFill>
              </a:rPr>
              <a:t>x4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DAFE559F-9AE0-4A9E-B9F2-2FE4A7A64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5543550"/>
            <a:ext cx="2419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07101F"/>
                </a:solidFill>
              </a:defRPr>
            </a:pPr>
            <a:r>
              <a:rPr sz="975" b="0">
                <a:solidFill>
                  <a:srgbClr val="07101F"/>
                </a:solidFill>
              </a:rPr>
              <a:t>只谈 TLS 加固，禁止 CSRF/JWT/OAuth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D77211FB-7F3B-4D72-B120-9F2C7DB92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00300"/>
            <a:ext cx="3638550" cy="3676650"/>
          </a:xfrm>
          <a:prstGeom xmlns:a="http://schemas.openxmlformats.org/drawingml/2006/main" prst="roundRect">
            <a:avLst>
              <a:gd name="adj" fmla="val 1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4477E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49E93FC6-293C-47ED-A34F-62774C64D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00300"/>
            <a:ext cx="36385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77E"/>
          </a:solidFill>
          <a:ln xmlns:a="http://schemas.openxmlformats.org/drawingml/2006/main" w="0">
            <a:solidFill>
              <a:srgbClr val="24477E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4C6D9BD6-BB5D-4CFB-BD61-5B7FD84BD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600325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4477E"/>
                </a:solidFill>
              </a:defRPr>
            </a:pPr>
            <a:r>
              <a:rPr sz="1650" b="1">
                <a:solidFill>
                  <a:srgbClr val="24477E"/>
                </a:solidFill>
              </a:rPr>
              <a:t>数据库 Database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A2B40326-AC2D-48D4-AAE8-ED748E60C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962275"/>
            <a:ext cx="329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3E6"/>
          </a:solidFill>
          <a:ln xmlns:a="http://schemas.openxmlformats.org/drawingml/2006/main" w="0">
            <a:solidFill>
              <a:srgbClr val="C9D3E6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E9F19E58-A021-4552-A2A3-0490E108A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038475"/>
            <a:ext cx="3371850" cy="314325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5715">
            <a:solidFill>
              <a:srgbClr val="E1E7F2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96349821-FC51-4870-9883-EC276D0F0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114675"/>
            <a:ext cx="400050" cy="1714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24477E"/>
          </a:solidFill>
          <a:ln xmlns:a="http://schemas.openxmlformats.org/drawingml/2006/main" w="0">
            <a:solidFill>
              <a:srgbClr val="24477E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A8E0CF5B-6151-4DFB-9492-A0D9C0F16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133725"/>
            <a:ext cx="4000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Core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846F1435-F5C6-4938-B0D7-087959286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08610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4477E"/>
                </a:solidFill>
              </a:defRPr>
            </a:pPr>
            <a:r>
              <a:rPr sz="1050" b="1">
                <a:solidFill>
                  <a:srgbClr val="24477E"/>
                </a:solidFill>
              </a:rPr>
              <a:t>d1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738A83D8-B2DD-43FE-83BA-9BC2D7AF1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076575"/>
            <a:ext cx="2419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07101F"/>
                </a:solidFill>
              </a:defRPr>
            </a:pPr>
            <a:r>
              <a:rPr sz="975" b="0">
                <a:solidFill>
                  <a:srgbClr val="07101F"/>
                </a:solidFill>
              </a:rPr>
              <a:t>SQL 优化：索引/执行计划/JOIN/物化视图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72657131-5170-449F-8ED4-C785D779F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390900"/>
            <a:ext cx="3371850" cy="314325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E1E7F2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46877F83-8922-45EE-869C-CE8CCCA99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467100"/>
            <a:ext cx="400050" cy="1714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24477E"/>
          </a:solidFill>
          <a:ln xmlns:a="http://schemas.openxmlformats.org/drawingml/2006/main" w="0">
            <a:solidFill>
              <a:srgbClr val="24477E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634B3199-18C2-45F5-B70F-57B97169A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486150"/>
            <a:ext cx="4000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Core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A769D7F6-4FF1-4068-B20D-E61DD4026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43852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4477E"/>
                </a:solidFill>
              </a:defRPr>
            </a:pPr>
            <a:r>
              <a:rPr sz="1050" b="1">
                <a:solidFill>
                  <a:srgbClr val="24477E"/>
                </a:solidFill>
              </a:rPr>
              <a:t>d2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F579B967-0ECA-47AC-9D73-79399BF3E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429000"/>
            <a:ext cx="2419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07101F"/>
                </a:solidFill>
              </a:defRPr>
            </a:pPr>
            <a:r>
              <a:rPr sz="975" b="0">
                <a:solidFill>
                  <a:srgbClr val="07101F"/>
                </a:solidFill>
              </a:rPr>
              <a:t>NoSQL 对比：Redis/MongoDB/Cassandra/Neo4j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ACBA80F9-C45F-4FF3-9853-4E07B8371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743325"/>
            <a:ext cx="3371850" cy="314325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5715">
            <a:solidFill>
              <a:srgbClr val="E1E7F2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3BA1A911-AE63-4192-ACDA-D033D24BD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819525"/>
            <a:ext cx="400050" cy="1714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24477E"/>
          </a:solidFill>
          <a:ln xmlns:a="http://schemas.openxmlformats.org/drawingml/2006/main" w="0">
            <a:solidFill>
              <a:srgbClr val="24477E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56A6AA9D-6779-4089-9CF5-0B559C078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838575"/>
            <a:ext cx="4000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Core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DA55E77B-5832-4048-9DE5-888EEBCAD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79095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4477E"/>
                </a:solidFill>
              </a:defRPr>
            </a:pPr>
            <a:r>
              <a:rPr sz="1050" b="1">
                <a:solidFill>
                  <a:srgbClr val="24477E"/>
                </a:solidFill>
              </a:rPr>
              <a:t>d3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23D74256-1AEC-4A7D-AE35-12375C8A6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781425"/>
            <a:ext cx="2419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07101F"/>
                </a:solidFill>
              </a:defRPr>
            </a:pPr>
            <a:r>
              <a:rPr sz="975" b="0">
                <a:solidFill>
                  <a:srgbClr val="07101F"/>
                </a:solidFill>
              </a:rPr>
              <a:t>性能调优：连接池/缓存/WAL/分片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ADCAB0D1-E1F9-48B8-93C4-EA2DA9C0F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095750"/>
            <a:ext cx="3371850" cy="314325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E1E7F2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3158ED80-FEBB-4191-98CB-4DE231019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171950"/>
            <a:ext cx="400050" cy="1714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24477E"/>
          </a:solidFill>
          <a:ln xmlns:a="http://schemas.openxmlformats.org/drawingml/2006/main" w="0">
            <a:solidFill>
              <a:srgbClr val="24477E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01325FCD-0FF0-4498-A647-C7A6BACA8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191000"/>
            <a:ext cx="4000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Core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4D8E85D5-635B-43E9-B6E0-78030D23E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14337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4477E"/>
                </a:solidFill>
              </a:defRPr>
            </a:pPr>
            <a:r>
              <a:rPr sz="1050" b="1">
                <a:solidFill>
                  <a:srgbClr val="24477E"/>
                </a:solidFill>
              </a:rPr>
              <a:t>d4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5AC3F57B-A57E-4929-81B1-56A523D0A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133850"/>
            <a:ext cx="2419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07101F"/>
                </a:solidFill>
              </a:defRPr>
            </a:pPr>
            <a:r>
              <a:rPr sz="975" b="0">
                <a:solidFill>
                  <a:srgbClr val="07101F"/>
                </a:solidFill>
              </a:rPr>
              <a:t>数据建模：范式/星型/层级/多模型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44B9C8D3-D09C-4745-838D-22A566A3F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448175"/>
            <a:ext cx="3371850" cy="314325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5715">
            <a:solidFill>
              <a:srgbClr val="E1E7F2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164C97C5-E1A4-4589-994C-D26D499D9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524375"/>
            <a:ext cx="400050" cy="1714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667085"/>
          </a:solidFill>
          <a:ln xmlns:a="http://schemas.openxmlformats.org/drawingml/2006/main" w="0">
            <a:solidFill>
              <a:srgbClr val="667085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8FF4D85B-91D5-4343-821C-D3EE1C8F9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543425"/>
            <a:ext cx="4000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Ext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60F81108-B8F1-42E3-8476-089349EC3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49580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4477E"/>
                </a:solidFill>
              </a:defRPr>
            </a:pPr>
            <a:r>
              <a:rPr sz="1050" b="1">
                <a:solidFill>
                  <a:srgbClr val="24477E"/>
                </a:solidFill>
              </a:rPr>
              <a:t>d5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7B7DE7C8-9AA0-4B3C-8182-0EADD0E97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486275"/>
            <a:ext cx="2419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07101F"/>
                </a:solidFill>
              </a:defRPr>
            </a:pPr>
            <a:r>
              <a:rPr sz="975" b="0">
                <a:solidFill>
                  <a:srgbClr val="07101F"/>
                </a:solidFill>
              </a:rPr>
              <a:t>事务隔离：异常/性能/PostgreSQL/MySQL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6B4CD1D1-F812-4059-B55E-504127C42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800600"/>
            <a:ext cx="3371850" cy="314325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E1E7F2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C993D086-3481-49D9-9499-AB89AACE8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876800"/>
            <a:ext cx="400050" cy="1714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667085"/>
          </a:solidFill>
          <a:ln xmlns:a="http://schemas.openxmlformats.org/drawingml/2006/main" w="0">
            <a:solidFill>
              <a:srgbClr val="667085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3B7BF434-C653-42F2-B5DD-1F8C7C10C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895850"/>
            <a:ext cx="4000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Ext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7CE3F64C-165D-4A19-9D90-01B20B6E5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84822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4477E"/>
                </a:solidFill>
              </a:defRPr>
            </a:pPr>
            <a:r>
              <a:rPr sz="1050" b="1">
                <a:solidFill>
                  <a:srgbClr val="24477E"/>
                </a:solidFill>
              </a:rPr>
              <a:t>d6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8A951DB7-71B7-4AA1-9C59-3DC9045A9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838700"/>
            <a:ext cx="2419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07101F"/>
                </a:solidFill>
              </a:defRPr>
            </a:pPr>
            <a:r>
              <a:rPr sz="975" b="0">
                <a:solidFill>
                  <a:srgbClr val="07101F"/>
                </a:solidFill>
              </a:rPr>
              <a:t>备份恢复：PITR/WAL/RPO/RTO/故障切换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04EA3181-1055-488F-B21D-CE82EC0CB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153025"/>
            <a:ext cx="3371850" cy="314325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5715">
            <a:solidFill>
              <a:srgbClr val="E1E7F2"/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4A41C69B-35F1-4E77-9DFC-EDBE6C4CB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5229225"/>
            <a:ext cx="400050" cy="1714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2410C"/>
          </a:solidFill>
          <a:ln xmlns:a="http://schemas.openxmlformats.org/drawingml/2006/main" w="0">
            <a:solidFill>
              <a:srgbClr val="C2410C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2569F29F-889A-46D8-BF30-6EC308436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5248275"/>
            <a:ext cx="4000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Adv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FD103656-AA6C-4311-8859-FF60C9F0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520065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4477E"/>
                </a:solidFill>
              </a:defRPr>
            </a:pPr>
            <a:r>
              <a:rPr sz="1050" b="1">
                <a:solidFill>
                  <a:srgbClr val="24477E"/>
                </a:solidFill>
              </a:rPr>
              <a:t>x5</a:t>
            </a: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76102250-2F95-44A5-AB68-197002DE1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5191125"/>
            <a:ext cx="2419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07101F"/>
                </a:solidFill>
              </a:defRPr>
            </a:pPr>
            <a:r>
              <a:rPr sz="975" b="0">
                <a:solidFill>
                  <a:srgbClr val="07101F"/>
                </a:solidFill>
              </a:rPr>
              <a:t>只谈零停机迁移，禁止索引选型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22D9B9D0-2DF0-4152-8C92-40DD11EE3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505450"/>
            <a:ext cx="3371850" cy="314325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E1E7F2"/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59E08AFF-1DDE-4CAF-A5DE-F42D0F4A8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5581650"/>
            <a:ext cx="400050" cy="1714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2410C"/>
          </a:solidFill>
          <a:ln xmlns:a="http://schemas.openxmlformats.org/drawingml/2006/main" w="0">
            <a:solidFill>
              <a:srgbClr val="C2410C"/>
            </a:solidFill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2FB4917B-5730-4E29-9324-18E57323E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5600700"/>
            <a:ext cx="4000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Adv</a:t>
            </a:r>
          </a:p>
        </p:txBody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67518B17-4DB8-42F4-90DA-57D7DABB3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555307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4477E"/>
                </a:solidFill>
              </a:defRPr>
            </a:pPr>
            <a:r>
              <a:rPr sz="1050" b="1">
                <a:solidFill>
                  <a:srgbClr val="24477E"/>
                </a:solidFill>
              </a:rPr>
              <a:t>x6</a:t>
            </a:r>
          </a:p>
        </p:txBody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F8225654-7B8F-492D-8337-F9E3FD895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5543550"/>
            <a:ext cx="2419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07101F"/>
                </a:solidFill>
              </a:defRPr>
            </a:pPr>
            <a:r>
              <a:rPr sz="975" b="0">
                <a:solidFill>
                  <a:srgbClr val="07101F"/>
                </a:solidFill>
              </a:rPr>
              <a:t>只谈 CAP/PACELC，禁止产品对比</a:t>
            </a:r>
          </a:p>
        </p:txBody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CD8F7D8E-92A8-4C92-848B-DC1542AE3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343650"/>
            <a:ext cx="1076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4477E"/>
                </a:solidFill>
              </a:defRPr>
            </a:pPr>
            <a:r>
              <a:rPr sz="1200" b="1">
                <a:solidFill>
                  <a:srgbClr val="24477E"/>
                </a:solidFill>
              </a:rPr>
              <a:t>Core：常规能力与跨题记忆复用；Ext：覆盖面扩展；Adv：相似表述但限定不同意图，要求不能误用 E2E 缓存。</a:t>
            </a:r>
          </a:p>
        </p:txBody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E2006F78-1165-48D7-86A9-99ABC42AF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5722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B7280"/>
                </a:solidFill>
              </a:defRPr>
            </a:pPr>
            <a:r>
              <a:rPr sz="825" b="0">
                <a:solidFill>
                  <a:srgbClr val="6B7280"/>
                </a:solidFill>
              </a:rPr>
              <a:t>702solver 成果展示 | 05</a:t>
            </a:r>
          </a:p>
        </p:txBody>
      </p:sp>
    </p:spTree>
    <p:extLst>
      <p:ext uri="{BB962C8B-B14F-4D97-AF65-F5344CB8AC3E}">
        <p14:creationId xmlns:p14="http://schemas.microsoft.com/office/powerpoint/2010/main" val="96573297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576774CF-16CE-4BD6-A311-E73A3BA3D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0480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22C8"/>
                </a:solidFill>
              </a:defRPr>
            </a:pPr>
            <a:r>
              <a:rPr sz="3000" b="1">
                <a:solidFill>
                  <a:srgbClr val="0022C8"/>
                </a:solidFill>
              </a:rPr>
              <a:t>总体效果：A/B/C 控制变量对比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5C98FF-3195-45D6-8ABF-9AF239C8A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085850"/>
            <a:ext cx="11049000" cy="43815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AAFD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7C8594-FD20-41D6-AD1D-041E364A4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71575"/>
            <a:ext cx="10429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7101F"/>
                </a:solidFill>
              </a:defRPr>
            </a:pPr>
            <a:r>
              <a:rPr sz="1650" b="1">
                <a:solidFill>
                  <a:srgbClr val="07101F"/>
                </a:solidFill>
              </a:rPr>
              <a:t>同一 full24、同一 deepseek-chat、真 API；主结论看 C 相比 A 的实测下降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2CC91C-2F31-4CE2-BE41-DC86B9D3F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066800"/>
            <a:ext cx="12573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24477E"/>
          </a:solidFill>
          <a:ln xmlns:a="http://schemas.openxmlformats.org/drawingml/2006/main" w="0">
            <a:solidFill>
              <a:srgbClr val="24477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55A708-C04E-44F4-91C6-0C4A0C85D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5252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CC96AA-E33A-4C13-8148-99A4C29E5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85950"/>
            <a:ext cx="5429250" cy="3714750"/>
          </a:xfrm>
          <a:prstGeom xmlns:a="http://schemas.openxmlformats.org/drawingml/2006/main" prst="roundRect">
            <a:avLst>
              <a:gd name="adj" fmla="val 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3E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C691B3-3E8D-4397-AB58-98CEC210F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955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4477E"/>
                </a:solidFill>
              </a:defRPr>
            </a:pPr>
            <a:r>
              <a:rPr sz="1950" b="1">
                <a:solidFill>
                  <a:srgbClr val="24477E"/>
                </a:solidFill>
              </a:rPr>
              <a:t>Token 消耗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5DA2A3-4DE0-4E2D-BC2D-61D4D0240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8605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7101F"/>
                </a:solidFill>
              </a:defRPr>
            </a:pPr>
            <a:r>
              <a:rPr sz="1200" b="1">
                <a:solidFill>
                  <a:srgbClr val="07101F"/>
                </a:solidFill>
              </a:rPr>
              <a:t>A 纯文本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1C1726-CD50-48F9-9753-C9FB7BD76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724150"/>
            <a:ext cx="2333625" cy="1714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7ECF4"/>
          </a:solidFill>
          <a:ln xmlns:a="http://schemas.openxmlformats.org/drawingml/2006/main" w="0">
            <a:solidFill>
              <a:srgbClr val="E7ECF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30A1CA-5ED7-4716-A870-54F30F458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724150"/>
            <a:ext cx="2333625" cy="1714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24477E"/>
          </a:solidFill>
          <a:ln xmlns:a="http://schemas.openxmlformats.org/drawingml/2006/main" w="0">
            <a:solidFill>
              <a:srgbClr val="24477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ED4C1E-B1EB-40EB-B3BE-DBA4C83E3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2676525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24477E"/>
                </a:solidFill>
              </a:defRPr>
            </a:pPr>
            <a:r>
              <a:rPr sz="1125" b="1">
                <a:solidFill>
                  <a:srgbClr val="24477E"/>
                </a:solidFill>
              </a:rPr>
              <a:t>95,377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3C806F-7C56-4DAF-B665-7BF19F4B7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5755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7101F"/>
                </a:solidFill>
              </a:defRPr>
            </a:pPr>
            <a:r>
              <a:rPr sz="1200" b="1">
                <a:solidFill>
                  <a:srgbClr val="07101F"/>
                </a:solidFill>
              </a:rPr>
              <a:t>B 无缓存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0FCA58-3C81-4DFA-B292-848E1D83D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295650"/>
            <a:ext cx="2333625" cy="1714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7ECF4"/>
          </a:solidFill>
          <a:ln xmlns:a="http://schemas.openxmlformats.org/drawingml/2006/main" w="0">
            <a:solidFill>
              <a:srgbClr val="E7ECF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7E7F23-C2A4-46E7-9170-154D6E44D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295650"/>
            <a:ext cx="1212114" cy="1714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76B00"/>
          </a:solidFill>
          <a:ln xmlns:a="http://schemas.openxmlformats.org/drawingml/2006/main" w="0">
            <a:solidFill>
              <a:srgbClr val="C76B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B84E56-FC77-4DB8-B6C2-9AFFA6515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3248025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C76B00"/>
                </a:solidFill>
              </a:defRPr>
            </a:pPr>
            <a:r>
              <a:rPr sz="1125" b="1">
                <a:solidFill>
                  <a:srgbClr val="C76B00"/>
                </a:solidFill>
              </a:rPr>
              <a:t>49,540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172344-EB2B-465C-9A68-C5B288AF7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2905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7101F"/>
                </a:solidFill>
              </a:defRPr>
            </a:pPr>
            <a:r>
              <a:rPr sz="1200" b="1">
                <a:solidFill>
                  <a:srgbClr val="07101F"/>
                </a:solidFill>
              </a:rPr>
              <a:t>C 最终方案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B132C8-A357-4DF5-8B05-DE626F8E6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867150"/>
            <a:ext cx="2333625" cy="1714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7ECF4"/>
          </a:solidFill>
          <a:ln xmlns:a="http://schemas.openxmlformats.org/drawingml/2006/main" w="0">
            <a:solidFill>
              <a:srgbClr val="E7ECF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312C90-1FA9-4D62-A8A9-2033D684C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867150"/>
            <a:ext cx="739429" cy="1714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38A43"/>
          </a:solidFill>
          <a:ln xmlns:a="http://schemas.openxmlformats.org/drawingml/2006/main" w="0">
            <a:solidFill>
              <a:srgbClr val="138A4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A30C05-B64C-46CD-B32B-4B25D8D99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3819525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38A43"/>
                </a:solidFill>
              </a:defRPr>
            </a:pPr>
            <a:r>
              <a:rPr sz="1125" b="1">
                <a:solidFill>
                  <a:srgbClr val="138A43"/>
                </a:solidFill>
              </a:rPr>
              <a:t>30,221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3A387F-3A7C-4E0F-B3B0-A2E0C9156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6250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38A43"/>
                </a:solidFill>
              </a:defRPr>
            </a:pPr>
            <a:r>
              <a:rPr sz="1950" b="1">
                <a:solidFill>
                  <a:srgbClr val="138A43"/>
                </a:solidFill>
              </a:rPr>
              <a:t>C vs A：节省 68.31%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2599DF-80D4-4A6F-836D-43C227D74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885950"/>
            <a:ext cx="5334000" cy="3714750"/>
          </a:xfrm>
          <a:prstGeom xmlns:a="http://schemas.openxmlformats.org/drawingml/2006/main" prst="roundRect">
            <a:avLst>
              <a:gd name="adj" fmla="val 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3E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BB7E6BA-910F-4941-BD01-E1A2257FE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0955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4477E"/>
                </a:solidFill>
              </a:defRPr>
            </a:pPr>
            <a:r>
              <a:rPr sz="1950" b="1">
                <a:solidFill>
                  <a:srgbClr val="24477E"/>
                </a:solidFill>
              </a:rPr>
              <a:t>API 调用与总耗时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F81B369-D38C-4544-8E8C-B6E68D9FD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68605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7101F"/>
                </a:solidFill>
              </a:defRPr>
            </a:pPr>
            <a:r>
              <a:rPr sz="1200" b="1">
                <a:solidFill>
                  <a:srgbClr val="07101F"/>
                </a:solidFill>
              </a:rPr>
              <a:t>A API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6F91ABF-A988-4B3B-AA53-BEE9BBB34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724150"/>
            <a:ext cx="2667000" cy="1714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7ECF4"/>
          </a:solidFill>
          <a:ln xmlns:a="http://schemas.openxmlformats.org/drawingml/2006/main" w="0">
            <a:solidFill>
              <a:srgbClr val="E7ECF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01A072B-74F3-4EE7-B350-BBB69F9BA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724150"/>
            <a:ext cx="2560320" cy="1714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24477E"/>
          </a:solidFill>
          <a:ln xmlns:a="http://schemas.openxmlformats.org/drawingml/2006/main" w="0">
            <a:solidFill>
              <a:srgbClr val="24477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AF90777-6053-4919-9C5E-098DB35B6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2676525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24477E"/>
                </a:solidFill>
              </a:defRPr>
            </a:pPr>
            <a:r>
              <a:rPr sz="1125" b="1">
                <a:solidFill>
                  <a:srgbClr val="24477E"/>
                </a:solidFill>
              </a:rPr>
              <a:t>72 次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BE4291A-71BA-41E6-AE42-9711EC493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6230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7101F"/>
                </a:solidFill>
              </a:defRPr>
            </a:pPr>
            <a:r>
              <a:rPr sz="1200" b="1">
                <a:solidFill>
                  <a:srgbClr val="07101F"/>
                </a:solidFill>
              </a:rPr>
              <a:t>B API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36178AC-8D66-434A-96F0-3DD9263E0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200400"/>
            <a:ext cx="2667000" cy="1714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7ECF4"/>
          </a:solidFill>
          <a:ln xmlns:a="http://schemas.openxmlformats.org/drawingml/2006/main" w="0">
            <a:solidFill>
              <a:srgbClr val="E7ECF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C7421B9-C5E4-4E32-9A8D-892D4275E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200400"/>
            <a:ext cx="2667000" cy="1714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76B00"/>
          </a:solidFill>
          <a:ln xmlns:a="http://schemas.openxmlformats.org/drawingml/2006/main" w="0">
            <a:solidFill>
              <a:srgbClr val="C76B0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65CCE34-C258-4DF0-9038-571A64743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3152775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C76B00"/>
                </a:solidFill>
              </a:defRPr>
            </a:pPr>
            <a:r>
              <a:rPr sz="1125" b="1">
                <a:solidFill>
                  <a:srgbClr val="C76B00"/>
                </a:solidFill>
              </a:rPr>
              <a:t>75 次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8E94AD9-2590-4C28-8C85-6FF17A0D1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63855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7101F"/>
                </a:solidFill>
              </a:defRPr>
            </a:pPr>
            <a:r>
              <a:rPr sz="1200" b="1">
                <a:solidFill>
                  <a:srgbClr val="07101F"/>
                </a:solidFill>
              </a:rPr>
              <a:t>C API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49D143B-336F-409B-843B-F0E3ED9E9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676650"/>
            <a:ext cx="2667000" cy="1714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7ECF4"/>
          </a:solidFill>
          <a:ln xmlns:a="http://schemas.openxmlformats.org/drawingml/2006/main" w="0">
            <a:solidFill>
              <a:srgbClr val="E7ECF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0684D92-05C1-440F-BF55-3A5096B37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676650"/>
            <a:ext cx="1849120" cy="1714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38A43"/>
          </a:solidFill>
          <a:ln xmlns:a="http://schemas.openxmlformats.org/drawingml/2006/main" w="0">
            <a:solidFill>
              <a:srgbClr val="138A4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4D6672D-6284-4FA6-98E8-772229E75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3629025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38A43"/>
                </a:solidFill>
              </a:defRPr>
            </a:pPr>
            <a:r>
              <a:rPr sz="1125" b="1">
                <a:solidFill>
                  <a:srgbClr val="138A43"/>
                </a:solidFill>
              </a:rPr>
              <a:t>52 次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0A51922-176F-48CA-B9D3-979CF9E88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32435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7101F"/>
                </a:solidFill>
              </a:defRPr>
            </a:pPr>
            <a:r>
              <a:rPr sz="1200" b="1">
                <a:solidFill>
                  <a:srgbClr val="07101F"/>
                </a:solidFill>
              </a:rPr>
              <a:t>A 耗时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54AA7F9-0906-41FF-993F-598F450AE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362450"/>
            <a:ext cx="2667000" cy="1714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7ECF4"/>
          </a:solidFill>
          <a:ln xmlns:a="http://schemas.openxmlformats.org/drawingml/2006/main" w="0">
            <a:solidFill>
              <a:srgbClr val="E7ECF4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3E93DA6-5B00-4B6E-8BCA-FCDD19914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362450"/>
            <a:ext cx="2666713" cy="1714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24477E"/>
          </a:solidFill>
          <a:ln xmlns:a="http://schemas.openxmlformats.org/drawingml/2006/main" w="0">
            <a:solidFill>
              <a:srgbClr val="24477E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9F5F8DA-61C8-4D8C-ACF3-10E42351C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4314825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24477E"/>
                </a:solidFill>
              </a:defRPr>
            </a:pPr>
            <a:r>
              <a:rPr sz="1125" b="1">
                <a:solidFill>
                  <a:srgbClr val="24477E"/>
                </a:solidFill>
              </a:rPr>
              <a:t>928s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8355CF8-6944-4C84-BA9C-BE50F47E5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80060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7101F"/>
                </a:solidFill>
              </a:defRPr>
            </a:pPr>
            <a:r>
              <a:rPr sz="1200" b="1">
                <a:solidFill>
                  <a:srgbClr val="07101F"/>
                </a:solidFill>
              </a:rPr>
              <a:t>C 耗时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4E4E26E-8DDF-484F-81C6-2BE79B6A8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838700"/>
            <a:ext cx="2667000" cy="1714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7ECF4"/>
          </a:solidFill>
          <a:ln xmlns:a="http://schemas.openxmlformats.org/drawingml/2006/main" w="0">
            <a:solidFill>
              <a:srgbClr val="E7ECF4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1A99215-40D9-412A-B895-EC305DA28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838700"/>
            <a:ext cx="600585" cy="1714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38A43"/>
          </a:solidFill>
          <a:ln xmlns:a="http://schemas.openxmlformats.org/drawingml/2006/main" w="0">
            <a:solidFill>
              <a:srgbClr val="138A4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079D88A-4481-43D1-9FD6-36CC859CC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4791075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38A43"/>
                </a:solidFill>
              </a:defRPr>
            </a:pPr>
            <a:r>
              <a:rPr sz="1125" b="1">
                <a:solidFill>
                  <a:srgbClr val="138A43"/>
                </a:solidFill>
              </a:rPr>
              <a:t>209s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A45099F-4E89-4119-ABEF-780C98E4E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88645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5F"/>
          </a:solidFill>
          <a:ln xmlns:a="http://schemas.openxmlformats.org/drawingml/2006/main" w="6668">
            <a:solidFill>
              <a:srgbClr val="747B87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302D3D4-04C9-4B15-93FC-F45176B5C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943600"/>
            <a:ext cx="1276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质量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8079525-8E0F-44A6-9FB1-BB89C1D9C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5886450"/>
            <a:ext cx="1333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5F"/>
          </a:solidFill>
          <a:ln xmlns:a="http://schemas.openxmlformats.org/drawingml/2006/main" w="6668">
            <a:solidFill>
              <a:srgbClr val="747B87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B3F18F5-F8BA-4C72-8307-FE87434E4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943600"/>
            <a:ext cx="1181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DB7BC4A-C4E4-4708-9BEC-7B6707E86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5886450"/>
            <a:ext cx="1238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5F"/>
          </a:solidFill>
          <a:ln xmlns:a="http://schemas.openxmlformats.org/drawingml/2006/main" w="6668">
            <a:solidFill>
              <a:srgbClr val="747B87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AB802FD-240B-44A6-B736-A9A6D1D85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943600"/>
            <a:ext cx="1085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1633C4A-C67B-4F5A-8D2F-DBDBE1CDE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5886450"/>
            <a:ext cx="1238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5F"/>
          </a:solidFill>
          <a:ln xmlns:a="http://schemas.openxmlformats.org/drawingml/2006/main" w="6668">
            <a:solidFill>
              <a:srgbClr val="747B87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DD87DC2-78D2-4DCF-BAFD-336B85C1C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943600"/>
            <a:ext cx="1085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A1C3EF0-871F-472F-B684-97C00B5A4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886450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5F"/>
          </a:solidFill>
          <a:ln xmlns:a="http://schemas.openxmlformats.org/drawingml/2006/main" w="6668">
            <a:solidFill>
              <a:srgbClr val="747B87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2566931-51C8-49A2-8B53-0F8F1833B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943600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C E2E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DDE0EF2-C68F-48B5-92DB-1759FED49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5886450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5F"/>
          </a:solidFill>
          <a:ln xmlns:a="http://schemas.openxmlformats.org/drawingml/2006/main" w="6668">
            <a:solidFill>
              <a:srgbClr val="747B87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F97AEA6-B521-4AE7-9734-A5C78B425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943600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Dropout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5B2E1C5-9452-4214-9901-0F7BFD1DD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210300"/>
            <a:ext cx="1428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747B87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C79231A-4A04-4FBB-955A-AEE5A1D79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267450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7101F"/>
                </a:solidFill>
              </a:defRPr>
            </a:pPr>
            <a:r>
              <a:rPr sz="1200" b="1">
                <a:solidFill>
                  <a:srgbClr val="07101F"/>
                </a:solidFill>
              </a:rPr>
              <a:t>通过率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47849E1-A41A-4434-B24C-94FEC8EFC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6210300"/>
            <a:ext cx="1333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747B87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D4582AC-CA8B-409E-9A02-8C5D4C04F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6267450"/>
            <a:ext cx="1181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07101F"/>
                </a:solidFill>
              </a:defRPr>
            </a:pPr>
            <a:r>
              <a:rPr sz="1200" b="0">
                <a:solidFill>
                  <a:srgbClr val="07101F"/>
                </a:solidFill>
              </a:rPr>
              <a:t>24/24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328AB76-909A-4DFE-A451-DD16A2E62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6210300"/>
            <a:ext cx="1238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747B87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9FC8DC4-54CC-4004-9FCE-1C90C03A1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6267450"/>
            <a:ext cx="108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07101F"/>
                </a:solidFill>
              </a:defRPr>
            </a:pPr>
            <a:r>
              <a:rPr sz="1200" b="0">
                <a:solidFill>
                  <a:srgbClr val="07101F"/>
                </a:solidFill>
              </a:rPr>
              <a:t>24/24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C047B03-2EBB-4224-A7CA-8F4C011C9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6210300"/>
            <a:ext cx="1238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747B87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18D424BB-7D1E-479D-B3DC-73B83F108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6267450"/>
            <a:ext cx="108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07101F"/>
                </a:solidFill>
              </a:defRPr>
            </a:pPr>
            <a:r>
              <a:rPr sz="1200" b="0">
                <a:solidFill>
                  <a:srgbClr val="07101F"/>
                </a:solidFill>
              </a:rPr>
              <a:t>24/24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A13F0333-BAD6-40D6-B3A2-6188AD2EC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6210300"/>
            <a:ext cx="1524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747B87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697FA8DF-FE27-400E-B212-F571764DD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6267450"/>
            <a:ext cx="1371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07101F"/>
                </a:solidFill>
              </a:defRPr>
            </a:pPr>
            <a:r>
              <a:rPr sz="1200" b="0">
                <a:solidFill>
                  <a:srgbClr val="07101F"/>
                </a:solidFill>
              </a:rPr>
              <a:t>1 次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4ACD069D-E083-4E81-80ED-24CE11783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6210300"/>
            <a:ext cx="1524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747B87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4E4B7CB5-5FF7-4E33-A257-684DA4903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6267450"/>
            <a:ext cx="1371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07101F"/>
                </a:solidFill>
              </a:defRPr>
            </a:pPr>
            <a:r>
              <a:rPr sz="1200" b="0">
                <a:solidFill>
                  <a:srgbClr val="07101F"/>
                </a:solidFill>
              </a:rPr>
              <a:t>16 次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424045BB-A1ED-42A1-8023-62E83F423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5722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B7280"/>
                </a:solidFill>
              </a:defRPr>
            </a:pPr>
            <a:r>
              <a:rPr sz="825" b="0">
                <a:solidFill>
                  <a:srgbClr val="6B7280"/>
                </a:solidFill>
              </a:rPr>
              <a:t>702solver 成果展示 | 06</a:t>
            </a:r>
          </a:p>
        </p:txBody>
      </p:sp>
    </p:spTree>
    <p:extLst>
      <p:ext uri="{BB962C8B-B14F-4D97-AF65-F5344CB8AC3E}">
        <p14:creationId xmlns:p14="http://schemas.microsoft.com/office/powerpoint/2010/main" val="109100684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0032067-E295-4B4D-8BE7-C1F0853FD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0480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22C8"/>
                </a:solidFill>
              </a:defRPr>
            </a:pPr>
            <a:r>
              <a:rPr sz="3000" b="1">
                <a:solidFill>
                  <a:srgbClr val="0022C8"/>
                </a:solidFill>
              </a:rPr>
              <a:t>消融结果：能看到每个机制的实际贡献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F62A5A-9777-4E2E-970F-426F03F50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085850"/>
            <a:ext cx="11049000" cy="43815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AAFD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DC9F72-DB70-4A4F-A210-F3EBE877E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71575"/>
            <a:ext cx="10429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7101F"/>
                </a:solidFill>
              </a:defRPr>
            </a:pPr>
            <a:r>
              <a:rPr sz="1650" b="1">
                <a:solidFill>
                  <a:srgbClr val="07101F"/>
                </a:solidFill>
              </a:rPr>
              <a:t>不是只给最终数字，而是把“结构化协议”和“记忆/剪枝”的贡献拆开看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7D11C2-9346-455D-883F-C985349EA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066800"/>
            <a:ext cx="12573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24477E"/>
          </a:solidFill>
          <a:ln xmlns:a="http://schemas.openxmlformats.org/drawingml/2006/main" w="0">
            <a:solidFill>
              <a:srgbClr val="24477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C3E8DD-2CF1-46FE-B59E-52AE6ACA6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5252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65DF95-A140-4A72-B057-9FF23D4CD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3143250" cy="12573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24477E"/>
          </a:solidFill>
          <a:ln xmlns:a="http://schemas.openxmlformats.org/drawingml/2006/main" w="0">
            <a:solidFill>
              <a:srgbClr val="24477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8E261D-61E0-48D4-8D96-0C31FA141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62200"/>
            <a:ext cx="276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A 纯文本基线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832359-2CD2-4048-92F5-9B446DA83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43200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95,377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A6EAB1-C936-40A4-BC24-032585AA2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43250"/>
            <a:ext cx="276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FFFFFF"/>
                </a:solidFill>
              </a:defRPr>
            </a:pPr>
            <a:r>
              <a:rPr sz="1050" b="0">
                <a:solidFill>
                  <a:srgbClr val="FFFFFF"/>
                </a:solidFill>
              </a:rPr>
              <a:t>长 prompt / 无协议 / 无记忆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6B4186-B33F-4FD8-8799-9589FFE8E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305050"/>
            <a:ext cx="171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38A43"/>
                </a:solidFill>
              </a:defRPr>
            </a:pPr>
            <a:r>
              <a:rPr sz="1800" b="1">
                <a:solidFill>
                  <a:srgbClr val="138A43"/>
                </a:solidFill>
              </a:rPr>
              <a:t>结构化协议贡献</a:t>
            </a:r>
          </a:p>
          <a:p xmlns:a="http://schemas.openxmlformats.org/drawingml/2006/main">
            <a:pPr algn="ctr">
              <a:defRPr sz="1800" b="1">
                <a:solidFill>
                  <a:srgbClr val="138A43"/>
                </a:solidFill>
              </a:defRPr>
            </a:pPr>
            <a:r>
              <a:rPr sz="1800" b="1">
                <a:solidFill>
                  <a:srgbClr val="138A43"/>
                </a:solidFill>
              </a:rPr>
              <a:t>节省 48.06%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04F901-8BFB-4466-8D41-B21D25751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57175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24477E"/>
                </a:solidFill>
              </a:defRPr>
            </a:pPr>
            <a:r>
              <a:rPr sz="2850" b="1">
                <a:solidFill>
                  <a:srgbClr val="24477E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B7C6A5-BFE6-4574-A051-F76EF099E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152650"/>
            <a:ext cx="2476500" cy="12573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C76B00"/>
          </a:solidFill>
          <a:ln xmlns:a="http://schemas.openxmlformats.org/drawingml/2006/main" w="0">
            <a:solidFill>
              <a:srgbClr val="C76B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96F91D-8338-41E8-B5EB-F2E6510E9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36220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B 结构化无缓存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A6871B-FFCD-440B-920B-8BB73E76F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743200"/>
            <a:ext cx="2133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49,540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F57881-BE25-4D26-A9CC-B5DAB9076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43250"/>
            <a:ext cx="2133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FFFFFF"/>
                </a:solidFill>
              </a:defRPr>
            </a:pPr>
            <a:r>
              <a:rPr sz="1050" b="0">
                <a:solidFill>
                  <a:srgbClr val="FFFFFF"/>
                </a:solidFill>
              </a:rPr>
              <a:t>有协议 / 无记忆复用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9DA987-51CA-404B-BEEA-F475B8569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305050"/>
            <a:ext cx="209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38A43"/>
                </a:solidFill>
              </a:defRPr>
            </a:pPr>
            <a:r>
              <a:rPr sz="1800" b="1">
                <a:solidFill>
                  <a:srgbClr val="138A43"/>
                </a:solidFill>
              </a:rPr>
              <a:t>共享记忆 + 剪枝贡献</a:t>
            </a:r>
          </a:p>
          <a:p xmlns:a="http://schemas.openxmlformats.org/drawingml/2006/main">
            <a:pPr algn="ctr">
              <a:defRPr sz="1800" b="1">
                <a:solidFill>
                  <a:srgbClr val="138A43"/>
                </a:solidFill>
              </a:defRPr>
            </a:pPr>
            <a:r>
              <a:rPr sz="1800" b="1">
                <a:solidFill>
                  <a:srgbClr val="138A43"/>
                </a:solidFill>
              </a:rPr>
              <a:t>再节省 39.0%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B6408E-564F-49F0-A8AC-A99FE4423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600450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24477E"/>
                </a:solidFill>
              </a:defRPr>
            </a:pPr>
            <a:r>
              <a:rPr sz="3000" b="1">
                <a:solidFill>
                  <a:srgbClr val="24477E"/>
                </a:solidFill>
              </a:rPr>
              <a:t>↓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2256F9-2C49-4856-89B2-5525A78AF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286250"/>
            <a:ext cx="2952750" cy="12573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138A43"/>
          </a:solidFill>
          <a:ln xmlns:a="http://schemas.openxmlformats.org/drawingml/2006/main" w="0">
            <a:solidFill>
              <a:srgbClr val="138A4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6463BC-4F90-4AF8-BD2B-B051C3949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49580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C 最终方案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BB6F2D-E3F2-4979-A2F6-5B0231EAF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87680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30,221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E4DD4D-054B-4727-9ECB-579BB3985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5267325"/>
            <a:ext cx="2619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FFFFFF"/>
                </a:solidFill>
              </a:defRPr>
            </a:pPr>
            <a:r>
              <a:rPr sz="1050" b="0">
                <a:solidFill>
                  <a:srgbClr val="FFFFFF"/>
                </a:solidFill>
              </a:rPr>
              <a:t>结构化 + 共享记忆 + 模板/Dropout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91E7F46-B724-4735-85C3-2A51BB571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6000750"/>
            <a:ext cx="1009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4477E"/>
                </a:solidFill>
              </a:defRPr>
            </a:pPr>
            <a:r>
              <a:rPr sz="1500" b="1">
                <a:solidFill>
                  <a:srgbClr val="24477E"/>
                </a:solidFill>
              </a:rPr>
              <a:t>这页的意义：证明效果不是“偶然变短”，而是结构化协议和共享记忆两类机制都产生了可量化收益。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D76D099-D897-45AF-A4DC-22FC05DD9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5722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B7280"/>
                </a:solidFill>
              </a:defRPr>
            </a:pPr>
            <a:r>
              <a:rPr sz="825" b="0">
                <a:solidFill>
                  <a:srgbClr val="6B7280"/>
                </a:solidFill>
              </a:rPr>
              <a:t>702solver 成果展示 | 07</a:t>
            </a:r>
          </a:p>
        </p:txBody>
      </p:sp>
    </p:spTree>
    <p:extLst>
      <p:ext uri="{BB962C8B-B14F-4D97-AF65-F5344CB8AC3E}">
        <p14:creationId xmlns:p14="http://schemas.microsoft.com/office/powerpoint/2010/main" val="139431663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260951C-8C21-43E7-8D8D-206CB9C45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0480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22C8"/>
                </a:solidFill>
              </a:defRPr>
            </a:pPr>
            <a:r>
              <a:rPr sz="3000" b="1">
                <a:solidFill>
                  <a:srgbClr val="0022C8"/>
                </a:solidFill>
              </a:rPr>
              <a:t>逐题与分领域结果：效果不是靠单题凑出来的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44EC61-7295-429F-9E48-37AD9D7D9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085850"/>
            <a:ext cx="11049000" cy="43815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AAFD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FDEDB8-23F8-405F-8072-EB45EDDCA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71575"/>
            <a:ext cx="10429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7101F"/>
                </a:solidFill>
              </a:defRPr>
            </a:pPr>
            <a:r>
              <a:rPr sz="1650" b="1">
                <a:solidFill>
                  <a:srgbClr val="07101F"/>
                </a:solidFill>
              </a:rPr>
              <a:t>24 题全部通过，节省覆盖能源、安全、数据库三个领域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B93249-469B-4B3A-8957-3928E4953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066800"/>
            <a:ext cx="12573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24477E"/>
          </a:solidFill>
          <a:ln xmlns:a="http://schemas.openxmlformats.org/drawingml/2006/main" w="0">
            <a:solidFill>
              <a:srgbClr val="24477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607091-2220-4818-A79F-58357771D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5252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8B510C-F0D0-4724-9DFF-CCDF0F2F6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43100"/>
            <a:ext cx="4953000" cy="34290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3E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41DD7F-0A18-4E6C-ABC7-587DF415F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526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4477E"/>
                </a:solidFill>
              </a:defRPr>
            </a:pPr>
            <a:r>
              <a:rPr sz="1875" b="1">
                <a:solidFill>
                  <a:srgbClr val="24477E"/>
                </a:solidFill>
              </a:rPr>
              <a:t>分领域 Token 节省率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73F99F-7FDE-47F2-9B49-387C6E4CF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7101F"/>
                </a:solidFill>
              </a:defRPr>
            </a:pPr>
            <a:r>
              <a:rPr sz="1425" b="1">
                <a:solidFill>
                  <a:srgbClr val="07101F"/>
                </a:solidFill>
              </a:rPr>
              <a:t>能源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DAA781-0621-4925-9A7E-D42382841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781300"/>
            <a:ext cx="2571750" cy="2095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7ECF4"/>
          </a:solidFill>
          <a:ln xmlns:a="http://schemas.openxmlformats.org/drawingml/2006/main" w="0">
            <a:solidFill>
              <a:srgbClr val="E7ECF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649DEC-7AFB-4EC6-AAA7-72808367C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781300"/>
            <a:ext cx="2020332" cy="2095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38A43"/>
          </a:solidFill>
          <a:ln xmlns:a="http://schemas.openxmlformats.org/drawingml/2006/main" w="0">
            <a:solidFill>
              <a:srgbClr val="138A4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5CB486-56ED-4928-BF9D-EAD0FE1C5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743200"/>
            <a:ext cx="81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38A43"/>
                </a:solidFill>
              </a:defRPr>
            </a:pPr>
            <a:r>
              <a:rPr sz="1350" b="1">
                <a:solidFill>
                  <a:srgbClr val="138A43"/>
                </a:solidFill>
              </a:rPr>
              <a:t>62.8%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C8B7A2-16B3-49D7-B4D6-CAC99AE82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0480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B5B73"/>
                </a:solidFill>
              </a:defRPr>
            </a:pPr>
            <a:r>
              <a:rPr sz="975" b="0">
                <a:solidFill>
                  <a:srgbClr val="4B5B73"/>
                </a:solidFill>
              </a:rPr>
              <a:t>31,276 → 11,620 token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D460EC-5E5F-4C19-A8BF-BE0D5D12A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05200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7101F"/>
                </a:solidFill>
              </a:defRPr>
            </a:pPr>
            <a:r>
              <a:rPr sz="1425" b="1">
                <a:solidFill>
                  <a:srgbClr val="07101F"/>
                </a:solidFill>
              </a:rPr>
              <a:t>安全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FDC3B7-B555-4E66-873E-E544923E1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543300"/>
            <a:ext cx="2571750" cy="2095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7ECF4"/>
          </a:solidFill>
          <a:ln xmlns:a="http://schemas.openxmlformats.org/drawingml/2006/main" w="0">
            <a:solidFill>
              <a:srgbClr val="E7ECF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ECF477-FD0F-46E6-ABD7-C65F09D46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543300"/>
            <a:ext cx="2246113" cy="2095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C76B00"/>
          </a:solidFill>
          <a:ln xmlns:a="http://schemas.openxmlformats.org/drawingml/2006/main" w="0">
            <a:solidFill>
              <a:srgbClr val="C76B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28A951-53F8-41B7-97D5-BACBBF4F8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505200"/>
            <a:ext cx="81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C76B00"/>
                </a:solidFill>
              </a:defRPr>
            </a:pPr>
            <a:r>
              <a:rPr sz="1350" b="1">
                <a:solidFill>
                  <a:srgbClr val="C76B00"/>
                </a:solidFill>
              </a:rPr>
              <a:t>69.9%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9DCF6B-BDE1-47F4-B958-14826F26D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8100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B5B73"/>
                </a:solidFill>
              </a:defRPr>
            </a:pPr>
            <a:r>
              <a:rPr sz="975" b="0">
                <a:solidFill>
                  <a:srgbClr val="4B5B73"/>
                </a:solidFill>
              </a:rPr>
              <a:t>32,234 → 9,712 token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B7C608-02E2-4E21-8500-2FBB290AA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67200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7101F"/>
                </a:solidFill>
              </a:defRPr>
            </a:pPr>
            <a:r>
              <a:rPr sz="1425" b="1">
                <a:solidFill>
                  <a:srgbClr val="07101F"/>
                </a:solidFill>
              </a:rPr>
              <a:t>数据库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155077-D03C-434E-B1AF-5FF88E0EE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305300"/>
            <a:ext cx="2571750" cy="2095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7ECF4"/>
          </a:solidFill>
          <a:ln xmlns:a="http://schemas.openxmlformats.org/drawingml/2006/main" w="0">
            <a:solidFill>
              <a:srgbClr val="E7ECF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BF50AA1-7082-42F0-AA12-01223EFA4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305300"/>
            <a:ext cx="2317981" cy="2095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24477E"/>
          </a:solidFill>
          <a:ln xmlns:a="http://schemas.openxmlformats.org/drawingml/2006/main" w="0">
            <a:solidFill>
              <a:srgbClr val="24477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D87A339-434F-4B4C-9F3B-928125C4E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267200"/>
            <a:ext cx="81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4477E"/>
                </a:solidFill>
              </a:defRPr>
            </a:pPr>
            <a:r>
              <a:rPr sz="1350" b="1">
                <a:solidFill>
                  <a:srgbClr val="24477E"/>
                </a:solidFill>
              </a:rPr>
              <a:t>72.1%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5473F48-11C2-40DD-A1C7-8C00B6F12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5720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B5B73"/>
                </a:solidFill>
              </a:defRPr>
            </a:pPr>
            <a:r>
              <a:rPr sz="975" b="0">
                <a:solidFill>
                  <a:srgbClr val="4B5B73"/>
                </a:solidFill>
              </a:rPr>
              <a:t>31,867 → 8,889 token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E03EA42-CA78-4903-ABF9-D1A7F850C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943100"/>
            <a:ext cx="5105400" cy="34290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3E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C714CE8-F7C1-4C3B-ABDB-05488E02C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1526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4477E"/>
                </a:solidFill>
              </a:defRPr>
            </a:pPr>
            <a:r>
              <a:rPr sz="1875" b="1">
                <a:solidFill>
                  <a:srgbClr val="24477E"/>
                </a:solidFill>
              </a:rPr>
              <a:t>C 模式策略分布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C840007-9915-40BB-8EA2-6CE4F2535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81940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101F"/>
                </a:solidFill>
              </a:defRPr>
            </a:pPr>
            <a:r>
              <a:rPr sz="1350" b="1">
                <a:solidFill>
                  <a:srgbClr val="07101F"/>
                </a:solidFill>
              </a:rPr>
              <a:t>模板/跳过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588442F-9DBA-4BA7-86AA-61197C7BC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857500"/>
            <a:ext cx="2381250" cy="2095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7ECF4"/>
          </a:solidFill>
          <a:ln xmlns:a="http://schemas.openxmlformats.org/drawingml/2006/main" w="0">
            <a:solidFill>
              <a:srgbClr val="E7ECF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64917A1-B72F-487E-A81D-9D68AC708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857500"/>
            <a:ext cx="1587500" cy="2095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38A43"/>
          </a:solidFill>
          <a:ln xmlns:a="http://schemas.openxmlformats.org/drawingml/2006/main" w="0">
            <a:solidFill>
              <a:srgbClr val="138A4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3C10D65-01ED-4E26-82E4-476AB13DC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8194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38A43"/>
                </a:solidFill>
              </a:defRPr>
            </a:pPr>
            <a:r>
              <a:rPr sz="1350" b="1">
                <a:solidFill>
                  <a:srgbClr val="138A43"/>
                </a:solidFill>
              </a:rPr>
              <a:t>16 题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7B515A0-B992-4F4E-996A-9B9F91C73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1242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B5B73"/>
                </a:solidFill>
              </a:defRPr>
            </a:pPr>
            <a:r>
              <a:rPr sz="975" b="0">
                <a:solidFill>
                  <a:srgbClr val="4B5B73"/>
                </a:solidFill>
              </a:rPr>
              <a:t>TEMPLATE_FILL_DROP / P1_TEMPLATE_DROP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728AFD5-A715-4DA5-92AD-C887CA860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54330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101F"/>
                </a:solidFill>
              </a:defRPr>
            </a:pPr>
            <a:r>
              <a:rPr sz="1350" b="1">
                <a:solidFill>
                  <a:srgbClr val="07101F"/>
                </a:solidFill>
              </a:rPr>
              <a:t>完整生成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A0B33D5-D759-4047-8C78-AF4D8CAA0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581400"/>
            <a:ext cx="2381250" cy="2095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7ECF4"/>
          </a:solidFill>
          <a:ln xmlns:a="http://schemas.openxmlformats.org/drawingml/2006/main" w="0">
            <a:solidFill>
              <a:srgbClr val="E7ECF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B3C3CE5-6B68-4CFC-9734-0659DA44D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581400"/>
            <a:ext cx="694531" cy="2095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24477E"/>
          </a:solidFill>
          <a:ln xmlns:a="http://schemas.openxmlformats.org/drawingml/2006/main" w="0">
            <a:solidFill>
              <a:srgbClr val="24477E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1F72A47-64FB-4CC3-9A22-377FAFE33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5433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4477E"/>
                </a:solidFill>
              </a:defRPr>
            </a:pPr>
            <a:r>
              <a:rPr sz="1350" b="1">
                <a:solidFill>
                  <a:srgbClr val="24477E"/>
                </a:solidFill>
              </a:rPr>
              <a:t>7 题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A0117FF-8C8B-4DEC-B97A-700D8C26A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8481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B5B73"/>
                </a:solidFill>
              </a:defRPr>
            </a:pPr>
            <a:r>
              <a:rPr sz="975" b="0">
                <a:solidFill>
                  <a:srgbClr val="4B5B73"/>
                </a:solidFill>
              </a:rPr>
              <a:t>需要全新综合的任务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8195896-BD04-42FE-A71C-2F66EFB6D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26720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101F"/>
                </a:solidFill>
              </a:defRPr>
            </a:pPr>
            <a:r>
              <a:rPr sz="1350" b="1">
                <a:solidFill>
                  <a:srgbClr val="07101F"/>
                </a:solidFill>
              </a:rPr>
              <a:t>整题复用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A2F010B-8F7F-4D74-A3A6-0625DB86A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305300"/>
            <a:ext cx="2381250" cy="2095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7ECF4"/>
          </a:solidFill>
          <a:ln xmlns:a="http://schemas.openxmlformats.org/drawingml/2006/main" w="0">
            <a:solidFill>
              <a:srgbClr val="E7ECF4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B79064B-B7BE-4D36-885B-88A0BA078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305300"/>
            <a:ext cx="99219" cy="209550"/>
          </a:xfrm>
          <a:prstGeom xmlns:a="http://schemas.openxmlformats.org/drawingml/2006/main" prst="roundRect">
            <a:avLst>
              <a:gd name="adj" fmla="val 19200"/>
            </a:avLst>
          </a:prstGeom>
          <a:solidFill xmlns:a="http://schemas.openxmlformats.org/drawingml/2006/main">
            <a:srgbClr val="C76B00"/>
          </a:solidFill>
          <a:ln xmlns:a="http://schemas.openxmlformats.org/drawingml/2006/main" w="0">
            <a:solidFill>
              <a:srgbClr val="C76B00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F8B1107-D39E-4E6F-8F51-9796DAAAB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42672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C76B00"/>
                </a:solidFill>
              </a:defRPr>
            </a:pPr>
            <a:r>
              <a:rPr sz="1350" b="1">
                <a:solidFill>
                  <a:srgbClr val="C76B00"/>
                </a:solidFill>
              </a:rPr>
              <a:t>1 题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3E6DE29-CA39-43DB-957A-33351F89F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5720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B5B73"/>
                </a:solidFill>
              </a:defRPr>
            </a:pPr>
            <a:r>
              <a:rPr sz="975" b="0">
                <a:solidFill>
                  <a:srgbClr val="4B5B73"/>
                </a:solidFill>
              </a:rPr>
              <a:t>E2E_EXACT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91F4817-1004-43CF-B4AD-001586960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734050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5F"/>
          </a:solidFill>
          <a:ln xmlns:a="http://schemas.openxmlformats.org/drawingml/2006/main" w="6668">
            <a:solidFill>
              <a:srgbClr val="747B87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D98FB72-AD17-4B69-936B-0BE31BCFD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791200"/>
            <a:ext cx="1847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代表现象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79D64B1-4B3C-4CD2-B97D-AB7F7630C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573405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5F"/>
          </a:solidFill>
          <a:ln xmlns:a="http://schemas.openxmlformats.org/drawingml/2006/main" w="6668">
            <a:solidFill>
              <a:srgbClr val="747B87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EB57E77-A591-4029-ACCF-8BA078AFE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791200"/>
            <a:ext cx="1466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最高节省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2B9335F-5DD9-4409-B712-D80FF7602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573405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5F"/>
          </a:solidFill>
          <a:ln xmlns:a="http://schemas.openxmlformats.org/drawingml/2006/main" w="6668">
            <a:solidFill>
              <a:srgbClr val="747B87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9D8F088-6266-4DDF-8950-2416595BD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5791200"/>
            <a:ext cx="1466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常见节省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556C3AA-28DE-4379-A3AD-710EE2483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734050"/>
            <a:ext cx="2190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5F"/>
          </a:solidFill>
          <a:ln xmlns:a="http://schemas.openxmlformats.org/drawingml/2006/main" w="6668">
            <a:solidFill>
              <a:srgbClr val="747B87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76BF5C7-D0BE-4599-AC77-F31469E2D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579120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策略说明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B7A179F-3CD7-4E66-A969-B93D17DB1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573405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5F"/>
          </a:solidFill>
          <a:ln xmlns:a="http://schemas.openxmlformats.org/drawingml/2006/main" w="6668">
            <a:solidFill>
              <a:srgbClr val="747B87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0DA9BFA-345B-456D-999B-DC2AA81CB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5791200"/>
            <a:ext cx="1466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质量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AB3DBAF-816C-441C-B786-5DB8B3AED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6057900"/>
            <a:ext cx="2000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747B87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E195513-DA6E-4538-B3D1-2A9B9B98F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6115050"/>
            <a:ext cx="1847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7101F"/>
                </a:solidFill>
              </a:defRPr>
            </a:pPr>
            <a:r>
              <a:rPr sz="1200" b="1">
                <a:solidFill>
                  <a:srgbClr val="07101F"/>
                </a:solidFill>
              </a:rPr>
              <a:t>s3 Python漏洞变体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E0C7490-5734-49F2-A544-710EEEC7A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6057900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747B87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C489603-B45C-41D8-83EE-1829D6C0D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6115050"/>
            <a:ext cx="1466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07101F"/>
                </a:solidFill>
              </a:defRPr>
            </a:pPr>
            <a:r>
              <a:rPr sz="1200" b="0">
                <a:solidFill>
                  <a:srgbClr val="07101F"/>
                </a:solidFill>
              </a:rPr>
              <a:t>100.0%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BA93112-0BB9-4800-BB70-A1EF15C1D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6057900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747B87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A98B464-4E75-4D5B-BA8C-E81370BB4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6115050"/>
            <a:ext cx="1466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07101F"/>
                </a:solidFill>
              </a:defRPr>
            </a:pPr>
            <a:r>
              <a:rPr sz="1200" b="0">
                <a:solidFill>
                  <a:srgbClr val="07101F"/>
                </a:solidFill>
              </a:rPr>
              <a:t>70% 左右多题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417E1C8-FF85-4565-8ECD-7303DFD1E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605790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747B87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070836D-213C-4A30-91AA-0698B056D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6115050"/>
            <a:ext cx="2038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07101F"/>
                </a:solidFill>
              </a:defRPr>
            </a:pPr>
            <a:r>
              <a:rPr sz="1200" b="0">
                <a:solidFill>
                  <a:srgbClr val="07101F"/>
                </a:solidFill>
              </a:rPr>
              <a:t>整题/模板/跳过混合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348F91D-68D4-480C-8747-E2648FC28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6057900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747B87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84A691E-819E-4F12-8670-1E185F241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6115050"/>
            <a:ext cx="1466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07101F"/>
                </a:solidFill>
              </a:defRPr>
            </a:pPr>
            <a:r>
              <a:rPr sz="1200" b="0">
                <a:solidFill>
                  <a:srgbClr val="07101F"/>
                </a:solidFill>
              </a:rPr>
              <a:t>24/24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0444755-7BBA-4300-86FE-AC5948CAF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5722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B7280"/>
                </a:solidFill>
              </a:defRPr>
            </a:pPr>
            <a:r>
              <a:rPr sz="825" b="0">
                <a:solidFill>
                  <a:srgbClr val="6B7280"/>
                </a:solidFill>
              </a:rPr>
              <a:t>702solver 成果展示 | 08</a:t>
            </a:r>
          </a:p>
        </p:txBody>
      </p:sp>
    </p:spTree>
    <p:extLst>
      <p:ext uri="{BB962C8B-B14F-4D97-AF65-F5344CB8AC3E}">
        <p14:creationId xmlns:p14="http://schemas.microsoft.com/office/powerpoint/2010/main" val="164379594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79EBA6E-E1F2-4172-8002-9523634D2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0480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22C8"/>
                </a:solidFill>
              </a:defRPr>
            </a:pPr>
            <a:r>
              <a:rPr sz="3000" b="1">
                <a:solidFill>
                  <a:srgbClr val="0022C8"/>
                </a:solidFill>
              </a:rPr>
              <a:t>质量与安全：节省 token 的同时不能套错答案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F7A962-CC19-48BC-A966-837A42984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085850"/>
            <a:ext cx="11049000" cy="43815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AAFD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4D5B9A-167F-40CB-BB32-433AC46FA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71575"/>
            <a:ext cx="10429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7101F"/>
                </a:solidFill>
              </a:defRPr>
            </a:pPr>
            <a:r>
              <a:rPr sz="1650" b="1">
                <a:solidFill>
                  <a:srgbClr val="07101F"/>
                </a:solidFill>
              </a:rPr>
              <a:t>对抗题专门设计成“看起来像旧题，但要求不同”，用来验证缓存安全边界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ED0E8D-A043-43BE-BDBB-B4ADC97B4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066800"/>
            <a:ext cx="12573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24477E"/>
          </a:solidFill>
          <a:ln xmlns:a="http://schemas.openxmlformats.org/drawingml/2006/main" w="0">
            <a:solidFill>
              <a:srgbClr val="24477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8BA4EA-A157-43D2-B7D5-AA4CDDD2C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5252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EA4788-BD61-441F-8B25-E2C1435A0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81200"/>
            <a:ext cx="2381250" cy="112395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3E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0B85F7-5670-433B-9F25-CDDD13EF2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95500"/>
            <a:ext cx="2076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B5B73"/>
                </a:solidFill>
              </a:defRPr>
            </a:pPr>
            <a:r>
              <a:rPr sz="1125" b="1">
                <a:solidFill>
                  <a:srgbClr val="4B5B73"/>
                </a:solidFill>
              </a:rPr>
              <a:t>质量通过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C1CBC6-4A12-4220-B678-32376E5E1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43150"/>
            <a:ext cx="2076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38A43"/>
                </a:solidFill>
              </a:defRPr>
            </a:pPr>
            <a:r>
              <a:rPr sz="2550" b="1">
                <a:solidFill>
                  <a:srgbClr val="138A43"/>
                </a:solidFill>
              </a:rPr>
              <a:t>24/24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EE1564-141C-4221-9C7D-2753E9BD2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71775"/>
            <a:ext cx="2076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B5B73"/>
                </a:solidFill>
              </a:defRPr>
            </a:pPr>
            <a:r>
              <a:rPr sz="1050" b="0">
                <a:solidFill>
                  <a:srgbClr val="4B5B73"/>
                </a:solidFill>
              </a:rPr>
              <a:t>A/B/C 均通过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D6C1A5-4C21-4759-80B2-4DF07CC5F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981200"/>
            <a:ext cx="2381250" cy="112395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3E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CCA018-FE26-4FB2-9919-FE439AA4E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095500"/>
            <a:ext cx="2076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B5B73"/>
                </a:solidFill>
              </a:defRPr>
            </a:pPr>
            <a:r>
              <a:rPr sz="1125" b="1">
                <a:solidFill>
                  <a:srgbClr val="4B5B73"/>
                </a:solidFill>
              </a:rPr>
              <a:t>对抗误用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4F45B3-3841-47E4-8C7A-5E91A9227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343150"/>
            <a:ext cx="2076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C76B00"/>
                </a:solidFill>
              </a:defRPr>
            </a:pPr>
            <a:r>
              <a:rPr sz="2550" b="1">
                <a:solidFill>
                  <a:srgbClr val="C76B00"/>
                </a:solidFill>
              </a:rPr>
              <a:t>0/6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26A8A5-E8CC-45B2-9C7E-07308112F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771775"/>
            <a:ext cx="2076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B5B73"/>
                </a:solidFill>
              </a:defRPr>
            </a:pPr>
            <a:r>
              <a:rPr sz="1050" b="0">
                <a:solidFill>
                  <a:srgbClr val="4B5B73"/>
                </a:solidFill>
              </a:rPr>
              <a:t>错误 E2E 命中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BE125A-E7C4-4FDE-B8DC-84D5EDE2A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981200"/>
            <a:ext cx="2381250" cy="112395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3E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C1297A-4F00-42E4-8535-AC865DD98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95500"/>
            <a:ext cx="2076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B5B73"/>
                </a:solidFill>
              </a:defRPr>
            </a:pPr>
            <a:r>
              <a:rPr sz="1125" b="1">
                <a:solidFill>
                  <a:srgbClr val="4B5B73"/>
                </a:solidFill>
              </a:rPr>
              <a:t>对抗质量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A1FA44-C625-4AA8-A3D8-38095DBA2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343150"/>
            <a:ext cx="2076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38A43"/>
                </a:solidFill>
              </a:defRPr>
            </a:pPr>
            <a:r>
              <a:rPr sz="2550" b="1">
                <a:solidFill>
                  <a:srgbClr val="138A43"/>
                </a:solidFill>
              </a:rPr>
              <a:t>6/6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12135C-1AB6-4F1C-8A91-415C5260B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771775"/>
            <a:ext cx="2076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B5B73"/>
                </a:solidFill>
              </a:defRPr>
            </a:pPr>
            <a:r>
              <a:rPr sz="1050" b="0">
                <a:solidFill>
                  <a:srgbClr val="4B5B73"/>
                </a:solidFill>
              </a:rPr>
              <a:t>对抗题通过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1A196B-D87D-4EF9-837D-40B8494D9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981200"/>
            <a:ext cx="2381250" cy="112395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3E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DF84A7-1E23-4BC1-AA3D-57A801707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095500"/>
            <a:ext cx="2076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B5B73"/>
                </a:solidFill>
              </a:defRPr>
            </a:pPr>
            <a:r>
              <a:rPr sz="1125" b="1">
                <a:solidFill>
                  <a:srgbClr val="4B5B73"/>
                </a:solidFill>
              </a:rPr>
              <a:t>平均相关度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38DE7A9-EE9D-4A6E-8D59-9409B1F1C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343150"/>
            <a:ext cx="2076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4477E"/>
                </a:solidFill>
              </a:defRPr>
            </a:pPr>
            <a:r>
              <a:rPr sz="2550" b="1">
                <a:solidFill>
                  <a:srgbClr val="24477E"/>
                </a:solidFill>
              </a:rPr>
              <a:t>0.841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729433-4291-454B-966B-558FABC21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771775"/>
            <a:ext cx="2076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B5B73"/>
                </a:solidFill>
              </a:defRPr>
            </a:pPr>
            <a:r>
              <a:rPr sz="1050" b="0">
                <a:solidFill>
                  <a:srgbClr val="4B5B73"/>
                </a:solidFill>
              </a:rPr>
              <a:t>C 模式结果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734B4C7-B0CA-4C18-9112-B598EB1B3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15716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5F"/>
          </a:solidFill>
          <a:ln xmlns:a="http://schemas.openxmlformats.org/drawingml/2006/main" w="6668">
            <a:solidFill>
              <a:srgbClr val="747B8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E7E287B-6E78-40B6-A1B9-239FE15A8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76650"/>
            <a:ext cx="14192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对抗题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E700D6C-9779-430D-BB83-0E55351FD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3619500"/>
            <a:ext cx="26479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5F"/>
          </a:solidFill>
          <a:ln xmlns:a="http://schemas.openxmlformats.org/drawingml/2006/main" w="6668">
            <a:solidFill>
              <a:srgbClr val="747B8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5C5522C-ADF5-4633-809B-01ECF16FC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676650"/>
            <a:ext cx="2495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看起来像什么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62BA3AC-1145-4A38-9E04-D4D658584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619500"/>
            <a:ext cx="26479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5F"/>
          </a:solidFill>
          <a:ln xmlns:a="http://schemas.openxmlformats.org/drawingml/2006/main" w="6668">
            <a:solidFill>
              <a:srgbClr val="747B8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0B79361-8156-4FF8-94F3-84F8DF228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3676650"/>
            <a:ext cx="2495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真实要求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06584E9-CD40-4171-92B5-F96E62650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3619500"/>
            <a:ext cx="3048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5F"/>
          </a:solidFill>
          <a:ln xmlns:a="http://schemas.openxmlformats.org/drawingml/2006/main" w="6668">
            <a:solidFill>
              <a:srgbClr val="747B8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F266E18-DC49-4AC0-ABDF-AD2952309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3676650"/>
            <a:ext cx="2895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系统防护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85B849E-4D36-46A7-B58C-9AAE55C99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62400"/>
            <a:ext cx="15716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747B8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B0C66FF-1A4C-4194-86A6-29BA401A8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19550"/>
            <a:ext cx="14192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7101F"/>
                </a:solidFill>
              </a:defRPr>
            </a:pPr>
            <a:r>
              <a:rPr sz="1200" b="1">
                <a:solidFill>
                  <a:srgbClr val="07101F"/>
                </a:solidFill>
              </a:rPr>
              <a:t>x1/x2 能源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23F5380-3DDF-43B7-94DF-9806163F8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3962400"/>
            <a:ext cx="2647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747B87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3D9773C-15D1-4644-BB43-5BB6EDC92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019550"/>
            <a:ext cx="2495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07101F"/>
                </a:solidFill>
              </a:defRPr>
            </a:pPr>
            <a:r>
              <a:rPr sz="1200" b="0">
                <a:solidFill>
                  <a:srgbClr val="07101F"/>
                </a:solidFill>
              </a:rPr>
              <a:t>光伏/风电旧题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4721EBD-C594-433E-85EE-576A36747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962400"/>
            <a:ext cx="2647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747B87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006E2DA-945E-458F-B96A-47FF9D98A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4019550"/>
            <a:ext cx="2495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07101F"/>
                </a:solidFill>
              </a:defRPr>
            </a:pPr>
            <a:r>
              <a:rPr sz="1200" b="0">
                <a:solidFill>
                  <a:srgbClr val="07101F"/>
                </a:solidFill>
              </a:rPr>
              <a:t>只谈政策或经济，不谈技术细节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3159042-8E2E-405E-8BC5-4400E3C8B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3962400"/>
            <a:ext cx="3048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747B87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7B6A606-95B5-4D59-A28C-F6DF6BBA0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4019550"/>
            <a:ext cx="2895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07101F"/>
                </a:solidFill>
              </a:defRPr>
            </a:pPr>
            <a:r>
              <a:rPr sz="1200" b="0">
                <a:solidFill>
                  <a:srgbClr val="07101F"/>
                </a:solidFill>
              </a:rPr>
              <a:t>no-e2e-cache + 意图门控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A131AA6-E01C-4FCC-9036-5AB068493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15716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6668">
            <a:solidFill>
              <a:srgbClr val="747B87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5A4C40B-2B3F-47DD-A709-9B8818356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14850"/>
            <a:ext cx="14192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7101F"/>
                </a:solidFill>
              </a:defRPr>
            </a:pPr>
            <a:r>
              <a:rPr sz="1200" b="1">
                <a:solidFill>
                  <a:srgbClr val="07101F"/>
                </a:solidFill>
              </a:rPr>
              <a:t>x3/x4 安全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F5DA7C3-6A0F-4B77-924B-654120721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4457700"/>
            <a:ext cx="2647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6668">
            <a:solidFill>
              <a:srgbClr val="747B87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27A5D76-0B70-4BB0-AC6B-D354160F4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514850"/>
            <a:ext cx="2495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07101F"/>
                </a:solidFill>
              </a:defRPr>
            </a:pPr>
            <a:r>
              <a:rPr sz="1200" b="0">
                <a:solidFill>
                  <a:srgbClr val="07101F"/>
                </a:solidFill>
              </a:rPr>
              <a:t>Web/Python 安全旧题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EE79259-B470-4F49-AF98-D49565CBA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457700"/>
            <a:ext cx="2647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6668">
            <a:solidFill>
              <a:srgbClr val="747B87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60295ED-A127-44AB-A3E6-B1DEDB3C5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4514850"/>
            <a:ext cx="2495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07101F"/>
                </a:solidFill>
              </a:defRPr>
            </a:pPr>
            <a:r>
              <a:rPr sz="1200" b="0">
                <a:solidFill>
                  <a:srgbClr val="07101F"/>
                </a:solidFill>
              </a:rPr>
              <a:t>只谈合规或 TLS，不谈漏洞修复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3D26546-5672-4EA9-BFA3-4E4BC456A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4457700"/>
            <a:ext cx="3048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6668">
            <a:solidFill>
              <a:srgbClr val="747B87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BBD7475-4A30-49FB-A063-27DF4CCE2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4514850"/>
            <a:ext cx="2895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07101F"/>
                </a:solidFill>
              </a:defRPr>
            </a:pPr>
            <a:r>
              <a:rPr sz="1200" b="0">
                <a:solidFill>
                  <a:srgbClr val="07101F"/>
                </a:solidFill>
              </a:rPr>
              <a:t>严格意图不可跨类复用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EC9AB6D-B3AE-4A02-B523-BA110C3A5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15716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747B87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9D1C415-4012-4A3A-87E5-7ACE31411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0150"/>
            <a:ext cx="14192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7101F"/>
                </a:solidFill>
              </a:defRPr>
            </a:pPr>
            <a:r>
              <a:rPr sz="1200" b="1">
                <a:solidFill>
                  <a:srgbClr val="07101F"/>
                </a:solidFill>
              </a:rPr>
              <a:t>x5/x6 数据库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5A489C2-54AB-4F12-8FF9-D1EA36CA2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4953000"/>
            <a:ext cx="2647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747B87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0E9B67A-19DB-4740-ACCA-2F2588693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5010150"/>
            <a:ext cx="2495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07101F"/>
                </a:solidFill>
              </a:defRPr>
            </a:pPr>
            <a:r>
              <a:rPr sz="1200" b="0">
                <a:solidFill>
                  <a:srgbClr val="07101F"/>
                </a:solidFill>
              </a:rPr>
              <a:t>数据库优化/NoSQL 旧题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C6D1BF2-DC15-475B-B797-4B95B94CB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953000"/>
            <a:ext cx="2647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747B87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EB3A874-A3D4-4A83-A18B-6527FD647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5010150"/>
            <a:ext cx="2495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07101F"/>
                </a:solidFill>
              </a:defRPr>
            </a:pPr>
            <a:r>
              <a:rPr sz="1200" b="0">
                <a:solidFill>
                  <a:srgbClr val="07101F"/>
                </a:solidFill>
              </a:rPr>
              <a:t>只谈迁移或 CAP，不谈产品/索引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BDC9D1D-9959-4D5C-A022-5027773AC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4953000"/>
            <a:ext cx="3048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747B87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45403D1-CA96-48A7-A545-A09F695B4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5010150"/>
            <a:ext cx="2895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07101F"/>
                </a:solidFill>
              </a:defRPr>
            </a:pPr>
            <a:r>
              <a:rPr sz="1200" b="0">
                <a:solidFill>
                  <a:srgbClr val="07101F"/>
                </a:solidFill>
              </a:rPr>
              <a:t>缓存候选需标签与意图兼容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B7BB4C1-281F-49CC-8ED0-E8DFBBAA1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98170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4477E"/>
                </a:solidFill>
              </a:defRPr>
            </a:pPr>
            <a:r>
              <a:rPr sz="1575" b="1">
                <a:solidFill>
                  <a:srgbClr val="24477E"/>
                </a:solidFill>
              </a:rPr>
              <a:t>结论：系统不是无脑复用历史答案，而是在相似度、标签、意图和模板成功率四个层面做安全过滤。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5A696ED-549C-4589-B5E1-DBC030094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5722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B7280"/>
                </a:solidFill>
              </a:defRPr>
            </a:pPr>
            <a:r>
              <a:rPr sz="825" b="0">
                <a:solidFill>
                  <a:srgbClr val="6B7280"/>
                </a:solidFill>
              </a:rPr>
              <a:t>702solver 成果展示 | 09</a:t>
            </a:r>
          </a:p>
        </p:txBody>
      </p:sp>
    </p:spTree>
    <p:extLst>
      <p:ext uri="{BB962C8B-B14F-4D97-AF65-F5344CB8AC3E}">
        <p14:creationId xmlns:p14="http://schemas.microsoft.com/office/powerpoint/2010/main" val="184515372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EA2797B-B7D3-446A-BD8A-56638BDE8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0480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22C8"/>
                </a:solidFill>
              </a:defRPr>
            </a:pPr>
            <a:r>
              <a:rPr sz="3000" b="1">
                <a:solidFill>
                  <a:srgbClr val="0022C8"/>
                </a:solidFill>
              </a:rPr>
              <a:t>实时演示效果：同一界面展示题目、指标、日志和代码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75D4AB-4F7E-47A4-A9ED-B2AE2FE55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085850"/>
            <a:ext cx="11049000" cy="43815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AAFD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983D6E-0788-4667-8507-9BB007C05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71575"/>
            <a:ext cx="10429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7101F"/>
                </a:solidFill>
              </a:defRPr>
            </a:pPr>
            <a:r>
              <a:rPr sz="1650" b="1">
                <a:solidFill>
                  <a:srgbClr val="07101F"/>
                </a:solidFill>
              </a:rPr>
              <a:t>录屏时可以直接展示 24 题清单、A/C 对比过程，以及 token/API 的实时刷新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0488F3-9039-4EC9-A1F9-0B9561480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066800"/>
            <a:ext cx="12573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24477E"/>
          </a:solidFill>
          <a:ln xmlns:a="http://schemas.openxmlformats.org/drawingml/2006/main" w="0">
            <a:solidFill>
              <a:srgbClr val="24477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5D9209-850A-44E7-B482-3FF23D8E3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5252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▶</a:t>
            </a:r>
          </a:p>
        </p:txBody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ce7f53066b4fa2"/>
          <a:stretch xmlns:a="http://schemas.openxmlformats.org/drawingml/2006/main"/>
        </p:blipFill>
        <p:spPr>
          <a:xfrm xmlns:a="http://schemas.openxmlformats.org/drawingml/2006/main">
            <a:off x="457200" y="1964629"/>
            <a:ext cx="6191250" cy="3309742"/>
          </a:xfrm>
          <a:prstGeom xmlns:a="http://schemas.openxmlformats.org/drawingml/2006/main" prst="roundRect">
            <a:avLst>
              <a:gd name="adj" fmla="val 1667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FCACF9-8768-419E-97FE-CC90BA5BF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43250"/>
            <a:ext cx="819150" cy="819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35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43DE58-566C-42E0-8BC6-3CEF9B766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305175"/>
            <a:ext cx="438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090BF6-947E-4475-8E87-BA41A6E03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038600"/>
            <a:ext cx="116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4477E"/>
                </a:solidFill>
              </a:defRPr>
            </a:pPr>
            <a:r>
              <a:rPr sz="1200" b="1">
                <a:solidFill>
                  <a:srgbClr val="24477E"/>
                </a:solidFill>
              </a:rPr>
              <a:t>演示视频位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33BC1F-4426-40DD-98E4-550445563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152650"/>
            <a:ext cx="2000250" cy="112395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3E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EA7A9D-8A67-4D8A-B830-240B43B5E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266950"/>
            <a:ext cx="1695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B5B73"/>
                </a:solidFill>
              </a:defRPr>
            </a:pPr>
            <a:r>
              <a:rPr sz="1125" b="1">
                <a:solidFill>
                  <a:srgbClr val="4B5B73"/>
                </a:solidFill>
              </a:rPr>
              <a:t>截图阶段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E3913E-319E-494B-8BC4-6C71978F7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14600"/>
            <a:ext cx="1695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22C8"/>
                </a:solidFill>
              </a:defRPr>
            </a:pPr>
            <a:r>
              <a:rPr sz="2550" b="1">
                <a:solidFill>
                  <a:srgbClr val="0022C8"/>
                </a:solidFill>
              </a:rPr>
              <a:t>C (24/24)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BA554A-88B3-421D-AAB8-4C12C6577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943225"/>
            <a:ext cx="1695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B5B73"/>
                </a:solidFill>
              </a:defRPr>
            </a:pPr>
            <a:r>
              <a:rPr sz="1050" b="0">
                <a:solidFill>
                  <a:srgbClr val="4B5B73"/>
                </a:solidFill>
              </a:rPr>
              <a:t>C 模式完成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F056CC-74DD-4B3C-95BD-65627AA0E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152650"/>
            <a:ext cx="2000250" cy="112395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3E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F45DA6-D4D6-4D0C-B15E-FB7115C53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266950"/>
            <a:ext cx="1695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B5B73"/>
                </a:solidFill>
              </a:defRPr>
            </a:pPr>
            <a:r>
              <a:rPr sz="1125" b="1">
                <a:solidFill>
                  <a:srgbClr val="4B5B73"/>
                </a:solidFill>
              </a:rPr>
              <a:t>实时 token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C0989A-6C6B-4947-AD7A-037018D08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514600"/>
            <a:ext cx="1695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38A43"/>
                </a:solidFill>
              </a:defRPr>
            </a:pPr>
            <a:r>
              <a:rPr sz="2550" b="1">
                <a:solidFill>
                  <a:srgbClr val="138A43"/>
                </a:solidFill>
              </a:rPr>
              <a:t>39,880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084E7B-E6FD-44E0-BE44-B4B41B80C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943225"/>
            <a:ext cx="1695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B5B73"/>
                </a:solidFill>
              </a:defRPr>
            </a:pPr>
            <a:r>
              <a:rPr sz="1050" b="0">
                <a:solidFill>
                  <a:srgbClr val="4B5B73"/>
                </a:solidFill>
              </a:rPr>
              <a:t>DeepSeek usage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43006F-5E28-4A90-BA87-D6B2EB0D3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524250"/>
            <a:ext cx="2000250" cy="112395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3E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360187-38CA-4FEF-8C6A-CD922EB0F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638550"/>
            <a:ext cx="1695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B5B73"/>
                </a:solidFill>
              </a:defRPr>
            </a:pPr>
            <a:r>
              <a:rPr sz="1125" b="1">
                <a:solidFill>
                  <a:srgbClr val="4B5B73"/>
                </a:solidFill>
              </a:rPr>
              <a:t>实时 API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41A324-86DC-4DAE-8BE2-0BF1FC480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886200"/>
            <a:ext cx="1695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C76B00"/>
                </a:solidFill>
              </a:defRPr>
            </a:pPr>
            <a:r>
              <a:rPr sz="2550" b="1">
                <a:solidFill>
                  <a:srgbClr val="C76B00"/>
                </a:solidFill>
              </a:rPr>
              <a:t>64 次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F8FF9E-73B4-4752-855D-9B8ACA28E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314825"/>
            <a:ext cx="1695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B5B73"/>
                </a:solidFill>
              </a:defRPr>
            </a:pPr>
            <a:r>
              <a:rPr sz="1050" b="0">
                <a:solidFill>
                  <a:srgbClr val="4B5B73"/>
                </a:solidFill>
              </a:rPr>
              <a:t>截图单次运行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08325F-8638-417F-ADC3-25872EE9C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524250"/>
            <a:ext cx="2000250" cy="112395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3E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EA29FF2-2475-4DC0-8099-A24E3A2C7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638550"/>
            <a:ext cx="1695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B5B73"/>
                </a:solidFill>
              </a:defRPr>
            </a:pPr>
            <a:r>
              <a:rPr sz="1125" b="1">
                <a:solidFill>
                  <a:srgbClr val="4B5B73"/>
                </a:solidFill>
              </a:rPr>
              <a:t>实时节省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B362525-0C6C-4EE7-BF27-69E49AD34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886200"/>
            <a:ext cx="1695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38A43"/>
                </a:solidFill>
              </a:defRPr>
            </a:pPr>
            <a:r>
              <a:rPr sz="2550" b="1">
                <a:solidFill>
                  <a:srgbClr val="138A43"/>
                </a:solidFill>
              </a:rPr>
              <a:t>54.8%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4AA3436-2FC0-4D55-8879-F119F0C86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314825"/>
            <a:ext cx="1695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B5B73"/>
                </a:solidFill>
              </a:defRPr>
            </a:pPr>
            <a:r>
              <a:rPr sz="1050" b="0">
                <a:solidFill>
                  <a:srgbClr val="4B5B73"/>
                </a:solidFill>
              </a:rPr>
              <a:t>C 相比 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2A1F315-8AD2-4848-AF08-17813F5B7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04825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4477E"/>
                </a:solidFill>
              </a:defRPr>
            </a:pPr>
            <a:r>
              <a:rPr sz="1275" b="1">
                <a:solidFill>
                  <a:srgbClr val="24477E"/>
                </a:solidFill>
              </a:rPr>
              <a:t>■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3FF2BAF-2C50-409A-97C2-FD8D4DF52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5038725"/>
            <a:ext cx="381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7101F"/>
                </a:solidFill>
              </a:defRPr>
            </a:pPr>
            <a:r>
              <a:rPr sz="1275" b="0">
                <a:solidFill>
                  <a:srgbClr val="07101F"/>
                </a:solidFill>
              </a:rPr>
              <a:t>展示 24 题列表，说明不是单题样例。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7A80B62-68EB-4484-84A5-74B6E7F8C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48640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4477E"/>
                </a:solidFill>
              </a:defRPr>
            </a:pPr>
            <a:r>
              <a:rPr sz="1275" b="1">
                <a:solidFill>
                  <a:srgbClr val="24477E"/>
                </a:solidFill>
              </a:rPr>
              <a:t>■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C8C2F84-A179-4CF9-BB62-2C61DB382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5476875"/>
            <a:ext cx="381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7101F"/>
                </a:solidFill>
              </a:defRPr>
            </a:pPr>
            <a:r>
              <a:rPr sz="1275" b="0">
                <a:solidFill>
                  <a:srgbClr val="07101F"/>
                </a:solidFill>
              </a:rPr>
              <a:t>先跑 A 纯文本，再跑 C 最终方案。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3D044E7-28C4-4989-80D5-4A04DCE8F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92455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4477E"/>
                </a:solidFill>
              </a:defRPr>
            </a:pPr>
            <a:r>
              <a:rPr sz="1275" b="1">
                <a:solidFill>
                  <a:srgbClr val="24477E"/>
                </a:solidFill>
              </a:rPr>
              <a:t>■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9F95C5D-0DC5-4282-A21E-E0CBCF023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5915025"/>
            <a:ext cx="381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7101F"/>
                </a:solidFill>
              </a:defRPr>
            </a:pPr>
            <a:r>
              <a:rPr sz="1275" b="0">
                <a:solidFill>
                  <a:srgbClr val="07101F"/>
                </a:solidFill>
              </a:rPr>
              <a:t>讲策略列：FULL_GEN / TEMPLATE / E2E / Dropout。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57AA4F3-05C7-4C8F-850F-20FF3C65D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5722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B7280"/>
                </a:solidFill>
              </a:defRPr>
            </a:pPr>
            <a:r>
              <a:rPr sz="825" b="0">
                <a:solidFill>
                  <a:srgbClr val="6B7280"/>
                </a:solidFill>
              </a:rPr>
              <a:t>702solver 成果展示 | 10</a:t>
            </a:r>
          </a:p>
        </p:txBody>
      </p:sp>
    </p:spTree>
    <p:extLst>
      <p:ext uri="{BB962C8B-B14F-4D97-AF65-F5344CB8AC3E}">
        <p14:creationId xmlns:p14="http://schemas.microsoft.com/office/powerpoint/2010/main" val="145516024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2026-07-29T07:30:28.6480000Z</dcterms:created>
  <dcterms:modified xsi:type="dcterms:W3CDTF">2026-07-29T07:30:28.6480000Z</dcterms:modified>
</coreProperties>
</file>