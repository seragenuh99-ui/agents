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432806aff4901" /><Relationship Type="http://schemas.openxmlformats.org/officeDocument/2006/relationships/extended-properties" Target="/docProps/app.xml" Id="Rfeb0e7049cf44ef6" /><Relationship Type="http://schemas.openxmlformats.org/officeDocument/2006/relationships/officeDocument" Target="/ppt/presentation.xml" Id="R1193ec6f625242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fdcf1648f4536"/>
  </p:sldMasterIdLst>
  <p:notesMasterIdLst>
    <p:notesMasterId xmlns:r="http://schemas.openxmlformats.org/officeDocument/2006/relationships" r:id="Raf9425a021064543"/>
  </p:notesMasterIdLst>
  <p:sldIdLst>
    <p:sldId xmlns:r="http://schemas.openxmlformats.org/officeDocument/2006/relationships" id="256" r:id="R82f523a1344843e7"/>
    <p:sldId xmlns:r="http://schemas.openxmlformats.org/officeDocument/2006/relationships" id="257" r:id="R83f2197b21de44ca"/>
    <p:sldId xmlns:r="http://schemas.openxmlformats.org/officeDocument/2006/relationships" id="258" r:id="R7e8fec137d874b36"/>
    <p:sldId xmlns:r="http://schemas.openxmlformats.org/officeDocument/2006/relationships" id="259" r:id="R6d23256ae4b2417b"/>
    <p:sldId xmlns:r="http://schemas.openxmlformats.org/officeDocument/2006/relationships" id="260" r:id="R7b308323659d45d5"/>
    <p:sldId xmlns:r="http://schemas.openxmlformats.org/officeDocument/2006/relationships" id="261" r:id="R158bcccc420a4cee"/>
    <p:sldId xmlns:r="http://schemas.openxmlformats.org/officeDocument/2006/relationships" id="262" r:id="Rab57df0d7ef14018"/>
    <p:sldId xmlns:r="http://schemas.openxmlformats.org/officeDocument/2006/relationships" id="263" r:id="R1d04a827188d4d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489339191c423b" /><Relationship Type="http://schemas.openxmlformats.org/officeDocument/2006/relationships/slideMaster" Target="/ppt/slideMasters/slideMaster1.xml" Id="R848fdcf1648f4536" /><Relationship Type="http://schemas.openxmlformats.org/officeDocument/2006/relationships/notesMaster" Target="/ppt/notesMasters/notesMaster1.xml" Id="Raf9425a021064543" /><Relationship Type="http://schemas.openxmlformats.org/officeDocument/2006/relationships/presProps" Target="/ppt/presProps.xml" Id="Rac18e9eae52d4d65" /><Relationship Type="http://schemas.openxmlformats.org/officeDocument/2006/relationships/tableStyles" Target="/ppt/tableStyles.xml" Id="Raaa8207537984acd" /><Relationship Type="http://schemas.openxmlformats.org/officeDocument/2006/relationships/slide" Target="/ppt/slides/slide1.xml" Id="R82f523a1344843e7" /><Relationship Type="http://schemas.openxmlformats.org/officeDocument/2006/relationships/slide" Target="/ppt/slides/slide2.xml" Id="R83f2197b21de44ca" /><Relationship Type="http://schemas.openxmlformats.org/officeDocument/2006/relationships/slide" Target="/ppt/slides/slide3.xml" Id="R7e8fec137d874b36" /><Relationship Type="http://schemas.openxmlformats.org/officeDocument/2006/relationships/slide" Target="/ppt/slides/slide4.xml" Id="R6d23256ae4b2417b" /><Relationship Type="http://schemas.openxmlformats.org/officeDocument/2006/relationships/slide" Target="/ppt/slides/slide5.xml" Id="R7b308323659d45d5" /><Relationship Type="http://schemas.openxmlformats.org/officeDocument/2006/relationships/slide" Target="/ppt/slides/slide6.xml" Id="R158bcccc420a4cee" /><Relationship Type="http://schemas.openxmlformats.org/officeDocument/2006/relationships/slide" Target="/ppt/slides/slide7.xml" Id="Rab57df0d7ef14018" /><Relationship Type="http://schemas.openxmlformats.org/officeDocument/2006/relationships/slide" Target="/ppt/slides/slide8.xml" Id="R1d04a827188d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a1cf40bab94c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7baae90f344ca" /><Relationship Type="http://schemas.openxmlformats.org/officeDocument/2006/relationships/notesMaster" Target="/ppt/notesMasters/notesMaster1.xml" Id="R3fb2568d09a641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d864f961d4325" /><Relationship Type="http://schemas.openxmlformats.org/officeDocument/2006/relationships/notesMaster" Target="/ppt/notesMasters/notesMaster1.xml" Id="R3877646d270940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ef0ff1f9240fe" /><Relationship Type="http://schemas.openxmlformats.org/officeDocument/2006/relationships/notesMaster" Target="/ppt/notesMasters/notesMaster1.xml" Id="Ra086dbfdf4b84f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203a50c6f4cf7" /><Relationship Type="http://schemas.openxmlformats.org/officeDocument/2006/relationships/notesMaster" Target="/ppt/notesMasters/notesMaster1.xml" Id="R28987144f0014d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6e7f8bafa42ce" /><Relationship Type="http://schemas.openxmlformats.org/officeDocument/2006/relationships/notesMaster" Target="/ppt/notesMasters/notesMaster1.xml" Id="R439d3c361a9d4a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9f8cfde6c4ef4" /><Relationship Type="http://schemas.openxmlformats.org/officeDocument/2006/relationships/notesMaster" Target="/ppt/notesMasters/notesMaster1.xml" Id="R49ac29db4f7e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44762c33d141af" /><Relationship Type="http://schemas.openxmlformats.org/officeDocument/2006/relationships/notesMaster" Target="/ppt/notesMasters/notesMaster1.xml" Id="Re74874d980be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f4bac0c5b4731" /><Relationship Type="http://schemas.openxmlformats.org/officeDocument/2006/relationships/notesMaster" Target="/ppt/notesMasters/notesMaster1.xml" Id="Ra10bfe9e25fe44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Live screenshot: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src/protocol/__init__.py:58-146; src/protocol/scheduler.py:116-290</a:t>
            </a:r>
          </a:p>
          <a:p xmlns:a="http://schemas.openxmlformats.org/drawingml/2006/main">
            <a:r>
              <a:t>Code refs: src/state/embeddings.py:28-180; src/state/exchange.py:39-229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src/memory/models.py:30-64; src/memory/store.py:42-507</a:t>
            </a:r>
          </a:p>
          <a:p xmlns:a="http://schemas.openxmlformats.org/drawingml/2006/main">
            <a:r>
              <a:t>Code refs: src/orchestrator.py:344-431; src/run_options.py:52-68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src/task_intent.py:176-270; src/memory/store.py:495-516</a:t>
            </a:r>
          </a:p>
          <a:p xmlns:a="http://schemas.openxmlformats.org/drawingml/2006/main">
            <a:r>
              <a:t>Test inventory: AGENTS.md test suite breakdown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Live screenshot: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a2c93a401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024ebca9a44cba" /><Relationship Type="http://schemas.openxmlformats.org/officeDocument/2006/relationships/slideLayout" Target="/ppt/slideLayouts/slideLayout1.xml" Id="R402ee0e77967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ee0e77967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a62aacc8a435b" /><Relationship Type="http://schemas.openxmlformats.org/officeDocument/2006/relationships/notesSlide" Target="/ppt/notesSlides/notesSlide1.xml" Id="R1dc71491e175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39f6831934ac3" /><Relationship Type="http://schemas.openxmlformats.org/officeDocument/2006/relationships/notesSlide" Target="/ppt/notesSlides/notesSlide2.xml" Id="Rccdeb3fbbdd44e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90dee415e40f3" /><Relationship Type="http://schemas.openxmlformats.org/officeDocument/2006/relationships/image" Target="/ppt/media/image.png" Id="Rddd8f5389aec45b2" /><Relationship Type="http://schemas.openxmlformats.org/officeDocument/2006/relationships/image" Target="/ppt/media/image2.png" Id="R4924611823984901" /><Relationship Type="http://schemas.openxmlformats.org/officeDocument/2006/relationships/notesSlide" Target="/ppt/notesSlides/notesSlide3.xml" Id="R0776338c73c443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60f244b4145b0" /><Relationship Type="http://schemas.openxmlformats.org/officeDocument/2006/relationships/notesSlide" Target="/ppt/notesSlides/notesSlide4.xml" Id="Rb33fb9cddefc47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b95e5a384402" /><Relationship Type="http://schemas.openxmlformats.org/officeDocument/2006/relationships/notesSlide" Target="/ppt/notesSlides/notesSlide5.xml" Id="Rcc0d26c422bb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89a01c894033" /><Relationship Type="http://schemas.openxmlformats.org/officeDocument/2006/relationships/notesSlide" Target="/ppt/notesSlides/notesSlide6.xml" Id="R86dbf6f6f9a4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280dc030f4368" /><Relationship Type="http://schemas.openxmlformats.org/officeDocument/2006/relationships/notesSlide" Target="/ppt/notesSlides/notesSlide7.xml" Id="R943c084dadc041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8ba6fb569476a" /><Relationship Type="http://schemas.openxmlformats.org/officeDocument/2006/relationships/image" Target="/ppt/media/image3.png" Id="R47a08cfe27b6454a" /><Relationship Type="http://schemas.openxmlformats.org/officeDocument/2006/relationships/notesSlide" Target="/ppt/notesSlides/notesSlide8.xml" Id="R3d59ce53e280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AB379-6617-48F2-92B1-43C5881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702solver 多 Agent 共享记忆诊断系统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F7F19-D41E-4F4D-AFF3-2C051FD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09128-0C61-4495-A97F-23AFEA4B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83F95-3229-4A08-B218-43099B3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E087B-EDCC-4C68-BB37-A02336F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结构化协议 + 384 维状态传递 + SQLite/FAISS 共享记忆 | full24 / 24 题 / deepseek-chat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EF3F-9FE4-4D78-90E2-A91F9376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85950"/>
            <a:ext cx="11563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3F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C14AE-80A6-4F90-BB60-AD3D14E0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D97"/>
                </a:solidFill>
              </a:defRPr>
            </a:pPr>
            <a:r>
              <a:rPr sz="2400" b="1">
                <a:solidFill>
                  <a:srgbClr val="1F4D97"/>
                </a:solidFill>
              </a:rPr>
              <a:t>作品定位：面向低开销协作的多 Agent 可复用诊断原型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0E5B4-3349-46EF-8CA9-2DD395D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1123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1430">
            <a:solidFill>
              <a:srgbClr val="D7D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2864E-343D-400D-8616-6420940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C284E-2D91-442A-B997-B38D11B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主结论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9C8A9-0CD1-48CA-A413-77B5BC1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68.31%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7EAB2-1AD6-4A0A-9C74-B0FCFE6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C 相比纯文本 A 的 token 节省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CD670-9CC6-4FB8-8F57-98F93DD5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02A35-5707-4CDC-BAFB-10DD629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质量通过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99897-C720-4D71-AAFB-B8C64F2C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9C8"/>
                </a:solidFill>
              </a:defRPr>
            </a:pPr>
            <a:r>
              <a:rPr sz="2550" b="1">
                <a:solidFill>
                  <a:srgbClr val="0019C8"/>
                </a:solidFill>
              </a:rPr>
              <a:t>24/24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61971-EB94-436E-8CEA-2C7E62B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同一 full24 任务集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87CA-CE79-452E-A3E4-3C46699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8F1D7-52C3-4F81-A8F4-BFB5A58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API 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59298-01C7-4C01-9198-189638BC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52 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87407-AC3B-4C9F-90D8-2377AF8E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为 72 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D1723-B6B6-420D-9B76-75A5A41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4AA81-158A-44A2-99C3-415A8520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总耗时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4FB79-5FCD-4E51-8B04-433BAC3C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D97"/>
                </a:solidFill>
              </a:defRPr>
            </a:pPr>
            <a:r>
              <a:rPr sz="2550" b="1">
                <a:solidFill>
                  <a:srgbClr val="1F4D97"/>
                </a:solidFill>
              </a:rPr>
              <a:t>208.5s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DEA8E-C2CB-405F-B258-4AA68C4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为 928.1s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09475-74C8-40A1-9508-F4B65222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正式主数据来自 v0.11.2 full24 控制变量实验；实时演示截图作为运行过程佐证，单次运行数值可波动。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C2BCC-1E32-40FD-9756-1F6937F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交付形态：源码仓库 · Qt 实时演示 EXE · full24 实验报告 · 作品介绍 PPT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3C9CC-79D0-4B40-BFD0-9AF81DD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01</a:t>
            </a:r>
          </a:p>
        </p:txBody>
      </p:sp>
    </p:spTree>
    <p:extLst>
      <p:ext uri="{BB962C8B-B14F-4D97-AF65-F5344CB8AC3E}">
        <p14:creationId xmlns:p14="http://schemas.microsoft.com/office/powerpoint/2010/main" val="472140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B56940-138D-4E71-9F62-7327C5E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预期战略性成果：多 Agent 低开销协同诊断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ADC27-44ED-45FB-9985-DAC1C6E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C5687-2ECA-4711-9504-07D6194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820F8-13DC-495C-90E9-BA11D74E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CFB53-0A7F-4C9D-8584-AB596A32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13. 面向共享记忆的多 Agent 协作效率优化系统及示范应用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1757E-55BD-46F3-84A5-2B70938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BFBDE-B41B-4279-BA5D-44BBDCB6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BF865-E1E5-4DC3-AAA0-64AB212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2A99-02BC-458A-BC3E-DCCE045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81F5-18FC-4833-A6EE-54E8CC62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多 Agent 协作中长文本转述造成 token 浪费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7083-AAE6-4CB6-8431-27313F87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DA7C7-D110-44CB-9911-1128A379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相似任务反复规划、检索、总结，历史经验难复用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01A6E-CC38-4A7C-A16D-42A71B8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EB530-B545-4321-ACCF-1AD9BB62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录屏/答辩需要逐题显示成本、策略和质量指标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646E4-8AFB-41A8-97A2-1F87464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A9F24-3F5F-4ACD-86C6-AAEE80AF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C3AD6-7895-4BE9-A2F5-503FEF8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基线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5A0C6-F3CD-4249-BD6B-162AEC5C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AA614-1369-4FBE-9D47-69B8271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A 纯文本：95,377 token，72 次 API，928.1s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ECE38-18A2-4FEC-B75E-69225FE3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010DB-800B-453C-97CC-46D2ECD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B 无缓存：49,540 token，75 次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B43F8-81B1-4F7A-B8F4-3C74F93E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CAF2F-19DA-4325-A48F-38388CC7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三组对照使用同一 full24、同一 deepseek-chat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5A1BD-F891-4916-9E63-4F4F142E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AC412-08B2-44A5-905D-5897322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46C3A-3B51-4C75-BA2A-B2ECD78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成果及形态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C557E-8063-499C-9F07-BA68F00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E25BE-335D-40FB-9F60-8E17BC6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Orchestrator + 四 Agent 协同流水线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0696E-697A-4BC3-80B2-8C1A8E6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4B21E-307C-4787-9C8A-28247D5C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结构化协议、状态总线、共享记忆库已实现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6B9B65-03DB-4D5A-B17A-78056AB7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D8732-4800-4E99-BC69-731B57F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Qt 控制台支持 24 题实时运行和文件展示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78D85-C1FD-46F0-8233-D81B040D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DC721-A812-406F-86B3-12EBA3C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230601-6823-4135-B5FB-06270E32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突破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D2C0FB-447B-4190-8899-926A7C55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C63BCF-A89E-4D4A-83BC-F5E24D2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MessagePack 短字段替代自然语言长消息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B974AB-6AEB-4CA1-8DC3-89A27DE0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BC6E3-27EE-4F36-9AC5-3BBA0CCC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384 维向量状态包直接参与 FAISS 检索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8FC4B6-8690-4DA6-B870-B7D350C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CFEB1B-FF8F-4A32-86E6-5FDE4B4E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E2E / 模板 / Dropout 三级复用降低调用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ADC11D-480D-4353-8390-AD5591B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569669-59F6-4D36-B437-E3D4D2F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3CA199-44AB-42A7-AB7F-DE3643C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B7E646-DCD3-4E4E-9D5F-B8630187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0EA630-C25E-41B3-A5EB-8C33740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C：30,221 token，52 次 API，208.5s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3BAFC0-0E9B-4424-9E26-A3EDF99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315C06-47E8-4A7A-93F6-60E7973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 vs A：token 节省 68.31%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E477E1-08FD-4783-AD11-143ECF3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CF4B48-2CD8-4EEB-88EE-81AEEB85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质量 24/24；对抗题误用 E2E 0/6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2A4BF-257A-4E5C-A7DA-499282A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0A5A6A-0BB2-4966-9B7A-579C7F0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AF36F2-CF4F-4E8B-8C00-C4FBD14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成效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ED6185-FC22-4610-B6A7-42B5254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71A24E-53F6-49BD-8773-85274A3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把“少调 AI”变成可测指标和可演示过程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33053C-BE69-47DF-AC5C-55904953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2B1A1A-DB84-4A10-B7AA-25359AC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保留每题策略：FULL_GEN / TEMPLATE / E2E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D0E1CE-BF54-42B6-A0D1-904F65C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DA1299-C8B2-4C92-A3AF-B4DA390E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适合作为工业软件诊断知识图谱的技术底座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8C3792-8201-433D-837C-7DCC2DB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02</a:t>
            </a:r>
          </a:p>
        </p:txBody>
      </p:sp>
    </p:spTree>
    <p:extLst>
      <p:ext uri="{BB962C8B-B14F-4D97-AF65-F5344CB8AC3E}">
        <p14:creationId xmlns:p14="http://schemas.microsoft.com/office/powerpoint/2010/main" val="1033364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83664E-1668-479E-804B-7326DC41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方向：共享记忆驱动的多 Agent 诊断与知识复用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D404E-FA0C-4D17-960C-E212504D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4632C-5B59-41AD-9179-38182D9E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345B-A450-4842-8474-D644040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F4A4C-A9A2-4169-911F-D102360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战略性成果：面向低 token 成本的结构化 Agent 协作系统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83D16-A570-4E0F-B83A-132E293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47850"/>
            <a:ext cx="11563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3F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F4CC4-619A-4675-8AC7-DC66D60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D97"/>
                </a:solidFill>
              </a:defRPr>
            </a:pPr>
            <a:r>
              <a:rPr sz="2400" b="1">
                <a:solidFill>
                  <a:srgbClr val="1F4D97"/>
                </a:solidFill>
              </a:rPr>
              <a:t>指南：关键技术体系与工程化示范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5191A-7292-474B-A60B-9D75283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38400"/>
            <a:ext cx="1200150" cy="1333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5CA5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67E33-6A50-4D22-B9D7-F25C341D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重要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6C592-24A5-4C51-9EC4-A89448E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67150"/>
            <a:ext cx="1200150" cy="1333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13F75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87272-3DED-40EC-9E88-411DCCA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成果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AF874-C84D-406F-89C4-4C3009E3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4600"/>
            <a:ext cx="828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1430">
            <a:solidFill>
              <a:srgbClr val="F1F1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EB11B-9986-4212-B6B9-A2B1A73A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336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B32EE-0A16-4352-A5CD-DF245CB0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面向研究/分析/诊断类任务，解决 Agent 间重复自然语言转述与重复推理问题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DF8F1-3B36-4CC8-97C4-538E9366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05D86-A46D-4E0F-A799-12C60E43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将每次执行形成的计划、证据、结果沉淀为可检索、可追溯、可复用的结构化记忆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8944A-1D08-441F-89D4-633A3E3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0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640DE-3643-4E45-994D-37784BCF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以 full24 控制变量实验验证：不牺牲质量前提下降低 token、API 调用与总耗时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E200D-BB68-4A38-A65F-3A2A0C27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828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1430">
            <a:solidFill>
              <a:srgbClr val="F1F1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24E77-047F-49DB-A43A-8293627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50F54-191B-43A8-948B-EC160DAC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形成结构化协议引擎、向量状态总线、SQLite/FAISS 共享记忆库和 Qt 演示工具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18EDA-7E63-412C-8649-242C9E2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C250C-5761-4C71-BC39-ED08DD5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正式 full24：C 模式 30,221 token、52 次 API、质量 24/24、对抗误用 0/6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BD912-0899-47C8-83E0-71BFD43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72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254C4-0FD8-4A06-A665-8AAF8AF9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支撑后续工业软件故障诊断场景：故障报告输入 → Agent 诊断 → 知识自动沉淀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8f5389aec45b2"/>
          <a:srcRect xmlns:a="http://schemas.openxmlformats.org/drawingml/2006/main" l="7679" t="0" r="76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3150" y="2686050"/>
            <a:ext cx="1809750" cy="1143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4611823984901"/>
          <a:srcRect xmlns:a="http://schemas.openxmlformats.org/drawingml/2006/main" l="0" t="4711" r="0" b="4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3150" y="411480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ED3F8-9253-48D1-8A63-A643B24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DECC7-3EFF-4D5A-8871-68E12E2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典型场景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727C1-945B-41DF-84DC-91C5A59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工业软件故障诊断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研究分析与安全审查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1EC12-7163-4B59-A1C4-025587C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F40339-04B1-4A77-8D3C-73C8AE5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存在瓶颈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A08D4-BD84-4587-A0B3-955CF60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长 prompt 转述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历史经验难复用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881319-1F00-43B4-A567-357F00B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E551F-7263-4FB9-9FD7-523EA9C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技术难题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BAFAC9-187D-483D-99EF-5D0ED73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状态压缩传递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安全缓存复用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2BA6B7-6379-433B-9686-1CB5A72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3957A7-CBE0-4BD6-B2DA-73D0ECD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有关基础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4D9177-EC97-47DE-9932-B4BD272B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702solver v0.11.2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full24 实验体系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FC3C8-65BF-47E3-986A-EE825FC1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03</a:t>
            </a:r>
          </a:p>
        </p:txBody>
      </p:sp>
    </p:spTree>
    <p:extLst>
      <p:ext uri="{BB962C8B-B14F-4D97-AF65-F5344CB8AC3E}">
        <p14:creationId xmlns:p14="http://schemas.microsoft.com/office/powerpoint/2010/main" val="760818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2564D7-4D3F-4CB0-888C-B6118242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方向：多 Agent 低开销协作关键技术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77C7A-6DB5-4A83-B3E5-CE1BCF4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17"/>
                </a:solidFill>
              </a:defRPr>
            </a:pPr>
            <a:r>
              <a:rPr sz="2550" b="1">
                <a:solidFill>
                  <a:srgbClr val="070D17"/>
                </a:solidFill>
              </a:rPr>
              <a:t>□  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F3ABE-EB5E-40B7-8D36-17E02DB6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71650"/>
            <a:ext cx="11620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B5F85-A4AC-41FC-BE66-9624CAFF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DC302-72B2-41C2-852A-4828AC0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 Agent 协作的 MessagePack 结构化协议与调度路由机制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5B3A-AAAF-486F-B045-28CCE1E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923E1-E4E0-4A86-902D-6996390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面向非文本状态交换的 384 维向量包生成、传递、消费与融合机制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57F0E-29F7-462A-91B5-87DEB91B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C371E-3566-478A-8FCF-0EAB571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基于 SQLite 元数据 + FAISS 向量索引的共享记忆存储与三路检索机制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AB94-F645-4EE3-8A58-9026EE2B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25867-EE0C-462E-865B-98BE9ADF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面向相似任务的 E2E 复用、领域计划注入、模板填空与 Executor Dropout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5392-9330-4604-897B-CD7C2E5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CB376-BFEB-43D4-BF5C-159FDBB3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面向错误复用风险的意图门控、SafeSieve 模板反馈与对抗题验证框架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4C7D3-8690-48B2-9764-7F286D3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17"/>
                </a:solidFill>
              </a:defRPr>
            </a:pPr>
            <a:r>
              <a:rPr sz="2550" b="1">
                <a:solidFill>
                  <a:srgbClr val="070D17"/>
                </a:solidFill>
              </a:rPr>
              <a:t>□  技术指标对比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72335-6A3A-4A64-B690-FB7E9CC2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3007F-C1F0-445A-BDD9-4866EAB9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技术指标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54973-F56F-458F-8375-DC27B3B4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00550"/>
            <a:ext cx="2905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8F71F-0FDC-4141-AD15-28F41B41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57700"/>
            <a:ext cx="2752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基线做法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32592-A76F-4B6F-A929-64A395F2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00550"/>
            <a:ext cx="3095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E9A9F-5711-4928-90D5-E98C549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57700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本系统实现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85046-3D75-4B06-9239-723C5A5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09357-8C58-4DC0-9621-2A23F30D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验证结果 / 考核指标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DB034-6DF6-4EEF-96D6-213A5BAA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6359B-6F4F-409A-B545-F07673B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通信 token 开销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1CF2F-2F81-422C-8490-B9F135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E85AD-8F46-430E-B8BB-C81EDFA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A 纯文本长 prompt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无记忆、无协议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07E33-FA76-4989-974D-5175D15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19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CE822-2008-4396-A12C-D8075BA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7680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MessagePack 短字段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结构化 action/params/result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3B122B-B108-4E9A-8C1C-9E14418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196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D5621-A6DE-4F11-A31E-B6B6F9B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B vs A 节省 48.06%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95,377 → 49,540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B2227-15C7-4F26-9FBB-5F2CA384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F3D1EB-7A77-4E99-AEEF-BFB9EF1C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跨任务知识复用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A7653-8523-48CA-BE75-40453814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721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21132-B9E6-4EE8-808B-12B64500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每题从零规划检索总结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历史经验难沉淀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A345C4-4726-4919-BCA7-B2B96A5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372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BB2485-7186-496D-928A-24DF05D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2925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E2E + 领域计划 + 模板填空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SQLite/FAISS 共享记忆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411A5C-B8D8-4D8B-80F3-7653DB8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72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D64E99-9BC9-4D5F-8976-E3537E4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 vs B 节省 39.0%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Dropout 命中 16 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26504-2C5C-4F09-AB99-E5DCE42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5FD67-D3B3-4C6F-A0E4-D7F3A5D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质量与安全边界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97FBAF-1B47-4003-BC9C-6A4E08A3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245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5EC1EF-D7B6-4CE4-AE28-498E492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8170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缓存易跨意图误用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缺少对抗验证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810178-5AC2-4D0A-885B-8C372ED7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24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476289-E71D-409A-9B33-5C1EA2EA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8170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意图门控 + no-e2e-cache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SafeSieve 反馈降权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A5D74-17C4-49A3-B262-6F930EB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24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1C372D-9622-422B-83BB-8EF4B554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817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质量 24/24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对抗误用 0/6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E3A4F4-20AE-41A7-A422-9DCB72D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1620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0B1EF1-45D7-41F3-8EBF-361C051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04</a:t>
            </a:r>
          </a:p>
        </p:txBody>
      </p:sp>
    </p:spTree>
    <p:extLst>
      <p:ext uri="{BB962C8B-B14F-4D97-AF65-F5344CB8AC3E}">
        <p14:creationId xmlns:p14="http://schemas.microsoft.com/office/powerpoint/2010/main" val="594650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A321A-432A-413C-BF51-A8FC0692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关键技术一：结构化通信与非文本状态传递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E060C-8AC1-482E-8F85-FC2034D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CB2C0-2AFA-4D65-9A50-079453AC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41A75-2EEA-4E97-B3A5-740DA62A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30924-C2FD-4BE7-BCC3-D8893287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目标：让 Agent 传递机器可解析的动作、参数、向量状态，而不是大段自然语言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220A5-EBB1-46F1-A1E1-DE4363A9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E6266-F168-45A9-A055-A04EE6CD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51BAB-1C24-44E7-A48D-BBFD75F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结构化消息模型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1401D-AFD5-49F8-8EC5-92052AB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核心字段：类型、动作、参数、结果、能力、状态向量、记忆引用。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编码方式：短字段映射 h/a/s/p；MessagePack 二进制序列化。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作用：把自然语言转述变成可路由、可统计、可压缩的协议消息。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022A2-F497-40B8-AE18-64DE1E9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1B530-CEB8-40EB-B053-3BD5CC7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0">
            <a:solidFill>
              <a:srgbClr val="213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24161-A6C4-45F2-8293-9EB6EC6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3F75"/>
                </a:solidFill>
              </a:defRPr>
            </a:pPr>
            <a:r>
              <a:rPr sz="1650" b="1">
                <a:solidFill>
                  <a:srgbClr val="213F75"/>
                </a:solidFill>
              </a:rPr>
              <a:t>协议调度层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3126A-1F2D-4941-AF47-098A759B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握手：Agent 注册角色与能力。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路由：按 action 查找可执行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统计：记录消息历史、结构化 token 与文本等价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实现：调度器、消息总线、注册表三层协作。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3F42B-9EB4-4EB3-A44A-AA1E576F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6F29A-701E-4E1E-964C-9EB3D9B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46"/>
          </a:solidFill>
          <a:ln xmlns:a="http://schemas.openxmlformats.org/drawingml/2006/main" w="0">
            <a:solidFill>
              <a:srgbClr val="168A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1A2D3-079B-4786-9558-B40EA3D2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6"/>
                </a:solidFill>
              </a:defRPr>
            </a:pPr>
            <a:r>
              <a:rPr sz="1650" b="1">
                <a:solidFill>
                  <a:srgbClr val="168A46"/>
                </a:solidFill>
              </a:rPr>
              <a:t>向量状态总线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678EC-BBF8-41D4-A98B-06F41546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状态编码：把计划、检索、执行结果压缩成 384 维语义向量。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传递：上游写入 StatePacket，下游按 agent_id 拉取并消费。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用途：直接进入 FAISS 检索，减少“文本→再编码”往返。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32E69-7801-48A0-9ECF-D857C35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D97"/>
                </a:solidFill>
              </a:defRPr>
            </a:pPr>
            <a:r>
              <a:rPr sz="1500" b="1">
                <a:solidFill>
                  <a:srgbClr val="1F4D97"/>
                </a:solidFill>
              </a:rPr>
              <a:t>对应代码：src/protocol/__init__.py、src/protocol/scheduler.py、src/state/embeddings.py、src/state/exchange.py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7C0A1-E1AE-4532-B810-17CB5EA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05</a:t>
            </a:r>
          </a:p>
        </p:txBody>
      </p:sp>
    </p:spTree>
    <p:extLst>
      <p:ext uri="{BB962C8B-B14F-4D97-AF65-F5344CB8AC3E}">
        <p14:creationId xmlns:p14="http://schemas.microsoft.com/office/powerpoint/2010/main" val="1457918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F98252-16C2-4725-AD97-7C63275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关键技术二：共享记忆与三级复用管道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336DB-1635-4898-8AC5-035B93EB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12E56-7492-4451-932D-4157111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26050-26FF-4342-A48E-6E943B22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B2DB5-BDC4-4415-A077-98B97689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目标：把每次任务经验沉淀为可检索、可追溯、可复用的结构化记忆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D5F1C-7400-4B2E-B3DD-F09E510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3810000" cy="356235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4B4F1-FB15-48AC-A2F8-ED30162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5527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71EDB-317A-4C69-AFF1-6F5478AA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5742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MemoryUnit 记忆单元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BD81E-4724-4523-9A08-4116231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DB831-819F-4746-AF4D-55566D6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17 个字段：摘要、JSON 正文、标签、向量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D96FA-940C-4626-98E0-1BC18C56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FADFF-22FE-40A8-8C86-F16CF14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证据链：记录上游计划、检索与执行来源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17C38-0962-4581-8A5E-85CD683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778C2-526E-4C24-A537-5C1D0928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记忆类型：结果、策略、证据、事实、错误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DE6B8-F743-44C2-9AAC-28CDC07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3CE1C-8B15-46C1-9C18-8D7412B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抽象层级：具体实例、领域模板、通用原则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6382B-2471-447D-9B4C-CFCCF761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333750" cy="35623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421E5-4E2A-4EF0-8B1D-6CEEAF8B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2190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6A06B-C85A-474D-BD73-930E449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5742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MemoryStore 双引擎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8E169-D96A-41A5-AF74-3060D67A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95D3A-E471-422D-AED5-986D070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SQLite：元数据、标签、访问日志、模板成功率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FED03-8D27-445C-B1B9-4FDBD03A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775FF-CD86-45AC-8DAE-5E58334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FAISS：384 维向量检索，大规模切 HNSW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2A365-6E88-4316-B4E0-3100F89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FFE6B-0553-4315-88D9-074B436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三路检索：关键词、标签、语义并行合并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65A68-BB0B-485A-BBAF-C197E571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6AADE-1529-447C-B09B-759BE05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综合效用：相似度 + 访问热度 + 模板成功率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3E7FD-842F-4718-A29D-EADD6C9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714750" cy="356235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FBC5D-EF45-45F2-BFDD-7D35644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286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8603D-0A81-4375-8C07-A51B35A8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三级复用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05390-4799-4C35-BEAD-70F2EF26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951A7-7D92-4C4A-A3A1-42B80E13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整题复用：相似度 ≥ 0.85，直接返回历史结果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75410B-97C5-416E-B96F-E98A6C88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B8F0B0-CC4B-4107-A550-995837DA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摘要适配：相似度 ≥ 0.72，复用摘要结构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6B13F-A6DD-43A8-84CF-CB662B1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D00EF-0FEC-4531-A336-AB351B96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计划注入：相似度 ≥ 0.68，只改差异字段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B0375B-3D79-4D79-8AFD-04C4E91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0DBAB5-D49D-421D-BD28-08F18E9F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执行跳过：模板分数 ≥ 0.65，省去 Executor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1A95A9-EAE6-43E7-99CC-11FD2532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6"/>
                </a:solidFill>
              </a:defRPr>
            </a:pPr>
            <a:r>
              <a:rPr sz="1500" b="1">
                <a:solidFill>
                  <a:srgbClr val="168A46"/>
                </a:solidFill>
              </a:rPr>
              <a:t>正式结果：C vs B 节省 39.0%，说明记忆与剪枝相对“结构化无缓存”仍有显著贡献。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4DB323-B0B8-49AB-A742-3865FE2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06</a:t>
            </a:r>
          </a:p>
        </p:txBody>
      </p:sp>
    </p:spTree>
    <p:extLst>
      <p:ext uri="{BB962C8B-B14F-4D97-AF65-F5344CB8AC3E}">
        <p14:creationId xmlns:p14="http://schemas.microsoft.com/office/powerpoint/2010/main" val="39473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9B4CDC-F4EB-44EA-A8B0-499312D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关键技术三：安全门控、模板反馈与评估闭环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F98BB-6957-4794-BD59-10828E47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A3D44-2DA2-448B-B1B9-1068B639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E25A-BE4A-4749-ADCB-B132472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A6BBB-5E75-4360-8AB0-34672FB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目标：既要复用历史经验，也要防止相似但意图不同的任务套错答案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2DD1A-44B8-4494-93D7-97EE2BF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CBE14-5086-452B-97DD-5AC5C03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B3F88-70E9-48B1-BCDD-8B938CD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意图门控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F4D80-2360-4666-90FB-C75918F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detect_intent() 区分 compare、policy、compliance、vulnerability、review、analyze、general。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严格意图只能同类型复用；COMPARE / COMPLIANCE / REVIEW 要求 fresh synthesis。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在 E2E、领域计划注入、Summarizer 缓存三个点生效。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6939-D1BC-4C0C-8ECE-4F5F9C9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9EF3B-2C6A-40FD-B242-A55D63B7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8E578-EBFE-4081-B053-8296111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00"/>
                </a:solidFill>
              </a:defRPr>
            </a:pPr>
            <a:r>
              <a:rPr sz="1650" b="1">
                <a:solidFill>
                  <a:srgbClr val="C76B00"/>
                </a:solidFill>
              </a:rPr>
              <a:t>SafeSieve-lite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0E0EC-B8EA-482D-B8A7-9025C929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模板记忆记录 fill_attempts / fill_successes。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effective_similarity() 按历史成功率调整相似度；连续失败且成功率 &lt;25% 时分数 ×0.45。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低质量模板不删除但自动降权，避免错误经验扩散。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82143-D3F8-484E-B397-CEEA7DA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E5648-44D6-4BBC-81A2-8F49E2F9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46"/>
          </a:solidFill>
          <a:ln xmlns:a="http://schemas.openxmlformats.org/drawingml/2006/main" w="0">
            <a:solidFill>
              <a:srgbClr val="168A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24F92-07B0-4DD0-B963-2BD2C6E6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6"/>
                </a:solidFill>
              </a:defRPr>
            </a:pPr>
            <a:r>
              <a:rPr sz="1650" b="1">
                <a:solidFill>
                  <a:srgbClr val="168A46"/>
                </a:solidFill>
              </a:rPr>
              <a:t>评估框架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BBBC4-D188-4FBD-8248-8303441E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MetricsCollector 记录 token、API、消息数、状态传输、记忆命中与耗时。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QualityValidator 做主题覆盖、禁用词、embedding 相关度等检查。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full24 = core12 + extended6 + adversarial6。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6F86F-CB05-45E9-9B32-2E4B91C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3D2B4-C0DF-44C4-B166-3A5E3A24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578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安全验证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F19E5-E050-4EC8-A3DD-EAACDC05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5B182-91A4-422F-90D3-374BEAD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质量验证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1BA73-EA37-4B66-BB6A-17C3481B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6A486-6D5C-458F-8614-EF62537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工程验证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14F2E-9E78-4150-A503-212D26E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1A6AC-4DBB-489F-B3B5-E3687C4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演示验证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11D65-56D2-4115-A79C-5CA39D9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000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ADAC8-254F-47D6-BC54-9DBFC57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579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对抗误用 0/6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E6EC75-5816-470F-846A-8E7466E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96E7C-D239-4CBC-8968-154304B3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full24 24/24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63AE5-89EE-47AD-86E1-B8D49D6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F14269-B256-4437-9DAF-CBED41AC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338 项测试覆盖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89F27-093E-4DDF-99D6-0168310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8161C-F36D-45C6-AA77-3F734C8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Qt 界面逐题显示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8E164-9B7E-413A-BEAF-27AB796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F94EE-AD7A-421C-869C-C33DB67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07</a:t>
            </a:r>
          </a:p>
        </p:txBody>
      </p:sp>
    </p:spTree>
    <p:extLst>
      <p:ext uri="{BB962C8B-B14F-4D97-AF65-F5344CB8AC3E}">
        <p14:creationId xmlns:p14="http://schemas.microsoft.com/office/powerpoint/2010/main" val="1422943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7BFB2F-4210-4A8B-AA9C-A2A9E50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实验验证与实时演示口径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90A54-FA95-4C4D-ADAF-383F8A9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3612B-B039-48CD-AEB1-00CAFFB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60179-8EDA-4AFA-940E-9749FF5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6CBDE-AE2E-496B-807A-BC463DD8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录屏建议：先展示 24 题清单，再运行 A 纯文本，最后运行 C 最终方案并解释策略列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08cfe27b6454a"/>
          <a:stretch xmlns:a="http://schemas.openxmlformats.org/drawingml/2006/main"/>
        </p:blipFill>
        <p:spPr>
          <a:xfrm xmlns:a="http://schemas.openxmlformats.org/drawingml/2006/main">
            <a:off x="400050" y="2104567"/>
            <a:ext cx="5810250" cy="3106066"/>
          </a:xfrm>
          <a:prstGeom xmlns:a="http://schemas.openxmlformats.org/drawingml/2006/main" prst="roundRect">
            <a:avLst>
              <a:gd name="adj" fmla="val 17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8CE23-502C-4276-BE44-D0AFD2AC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实时截图口径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A7C69-AEE9-4087-8D4D-9A91A99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483AD-78A2-452E-8631-0EB6FEDE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当前阶段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32F21-DE25-48CE-A317-6F2BF7C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9C8"/>
                </a:solidFill>
              </a:defRPr>
            </a:pPr>
            <a:r>
              <a:rPr sz="2550" b="1">
                <a:solidFill>
                  <a:srgbClr val="0019C8"/>
                </a:solidFill>
              </a:rPr>
              <a:t>C (24/24)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4B66B-A250-435A-9343-F02403F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337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截图中 C 模式完成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256D4-A137-48A0-A524-896E34E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DFF3B-149B-4342-B510-E1C891A7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累计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6D819-D554-46EF-9D0A-B27742A2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39,880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E9464-00B7-405B-94A2-1D76A1F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DeepSeek usage 实时累计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8C16B-0B3C-4AC7-BD37-9056CC04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59C2E-9DEF-458D-A95F-2CB7BF24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累计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34E0D-F3DD-4330-9CE9-31FDA16E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64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8CF91-FD8C-40D6-A531-E894162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291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截图中的单次运行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89669-E7E1-43AC-9721-6643359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290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3D4A9-7FDE-41E0-B95B-F49E0D2A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52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C 相比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80831-12B9-479B-B6FE-A4C93A9C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54.8%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2E194-4F67-41B9-A29F-1F5A5E3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实时演示计算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8A7D3-D1D9-46B6-B915-07389E38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正式实验主表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FF2E9-3CCA-4A8E-84BA-F3C6296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880E9-5676-4EDF-9E04-B623AE6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95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变体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E49D67-FAD2-4915-B92D-E84697D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4299D-2EBC-45CC-B2BE-4599C7F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278B0-BAC9-4902-A197-B638BE69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38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BA725-7D9A-4F60-B3F8-6E7F539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95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03CD3-1066-4937-82F5-374A0182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38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B7E5E-1101-43D0-8419-495FB7CE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95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质量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A93023-1E1F-43A7-B9F2-EC3CDB4A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2387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AD05D-A1C1-4EAA-B232-1961F992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295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耗时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2AA980-44D0-4D22-8545-A64C6AEE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AC049-235A-4A66-A1A9-DF383C3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A 纯文本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C2EB4-364F-48AA-8FE7-357AF93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DD59C-DF9F-49F1-A279-856C803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81650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95,377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A6BD2A-CD00-477D-AC60-90597821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2450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5131D-D306-4A90-B27C-F1A0A87F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8165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72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4E221D-4E00-4F7B-BC99-90E1CEA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2450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1531A-5D72-4150-ADDB-BF216296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8165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C687E5-5423-4CC5-927E-D7B4D026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24500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FE2658-4E49-49E8-87EA-6BD1D71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8165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928.1s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90BB5A-F25E-463F-9AAC-631A311C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578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4A710B-4494-4910-9D54-92CF30F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150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B 无缓存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DC22E8-743B-46A2-87D8-D1DF1361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5787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6FBF64-3D07-4F8E-B281-B3F5B1D4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15025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49,540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B8ED2B-EFDB-4576-B573-AF30B00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57875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EF7A73-8835-4895-9346-BACC785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150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75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1D22BC-8C44-46BA-AE33-71EE27EC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57875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BF7CAA-AA3D-44FA-9DD3-6D591B9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150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9AF0C6-2424-477D-9AF5-7EA4125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857875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62B716-7F56-4CA2-9585-D8BC0B5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1502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292.1s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8052B0-6F57-4757-8405-717D216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40F6F7-DCFF-45C0-A58B-74518CF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2484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C 最终方案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F8E89D-638D-4563-895F-334C6DDD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912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F9DDA3-66E2-4889-B694-68FEF910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48400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30,221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4BAD8-DE3D-4AD1-B55C-C5DC0E82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9125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B853A4-DBE3-4185-BE44-2D1AD41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52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370494-5C12-4F64-AE70-CD77F34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9125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49F039-43E8-4B82-8EFA-695032B2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4840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E8F0C1-1B72-4E38-A325-48A781A6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2F742D-C1B8-41F0-8436-4542284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208.5s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273FAE-FD26-457B-8785-5DB8E38D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600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6ADAB0-7C79-4425-8BDC-6576BC2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D17"/>
                </a:solidFill>
              </a:defRPr>
            </a:pPr>
            <a:r>
              <a:rPr sz="1425" b="1">
                <a:solidFill>
                  <a:srgbClr val="070D17"/>
                </a:solidFill>
              </a:rPr>
              <a:t>正式结论：C vs A token 节省 68.31%；C vs B 节省 39.0%；Executor dropout 命中 16 次。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40C8A0-A4AD-418E-A1D2-36BB1E59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08</a:t>
            </a:r>
          </a:p>
        </p:txBody>
      </p:sp>
    </p:spTree>
    <p:extLst>
      <p:ext uri="{BB962C8B-B14F-4D97-AF65-F5344CB8AC3E}">
        <p14:creationId xmlns:p14="http://schemas.microsoft.com/office/powerpoint/2010/main" val="1435151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2026-07-29T06:23:39.3300000Z</dcterms:created>
  <dcterms:modified xsi:type="dcterms:W3CDTF">2026-07-29T06:23:39.3300000Z</dcterms:modified>
</coreProperties>
</file>