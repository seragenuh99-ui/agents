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205bd45ae24e3b" /><Relationship Type="http://schemas.openxmlformats.org/officeDocument/2006/relationships/extended-properties" Target="/docProps/app.xml" Id="R8a394693f4004439" /><Relationship Type="http://schemas.openxmlformats.org/officeDocument/2006/relationships/officeDocument" Target="/ppt/presentation.xml" Id="Rc7191b762d0a4f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38c8b8af81437f"/>
  </p:sldMasterIdLst>
  <p:notesMasterIdLst>
    <p:notesMasterId xmlns:r="http://schemas.openxmlformats.org/officeDocument/2006/relationships" r:id="Rb57a39407d494ab0"/>
  </p:notesMasterIdLst>
  <p:sldIdLst>
    <p:sldId xmlns:r="http://schemas.openxmlformats.org/officeDocument/2006/relationships" id="256" r:id="R8b75b1ecaa554fa3"/>
    <p:sldId xmlns:r="http://schemas.openxmlformats.org/officeDocument/2006/relationships" id="257" r:id="R79a1c3725d1e48a0"/>
    <p:sldId xmlns:r="http://schemas.openxmlformats.org/officeDocument/2006/relationships" id="258" r:id="Reee7f85ddcc44c1b"/>
    <p:sldId xmlns:r="http://schemas.openxmlformats.org/officeDocument/2006/relationships" id="259" r:id="Re0034452f9294062"/>
    <p:sldId xmlns:r="http://schemas.openxmlformats.org/officeDocument/2006/relationships" id="260" r:id="R808e9137f18c441d"/>
    <p:sldId xmlns:r="http://schemas.openxmlformats.org/officeDocument/2006/relationships" id="261" r:id="R0119f9e0049a403d"/>
    <p:sldId xmlns:r="http://schemas.openxmlformats.org/officeDocument/2006/relationships" id="262" r:id="R97e2912af0584e21"/>
    <p:sldId xmlns:r="http://schemas.openxmlformats.org/officeDocument/2006/relationships" id="263" r:id="Rccfc810acac3421c"/>
    <p:sldId xmlns:r="http://schemas.openxmlformats.org/officeDocument/2006/relationships" id="264" r:id="Rd9afb97b66ab467e"/>
    <p:sldId xmlns:r="http://schemas.openxmlformats.org/officeDocument/2006/relationships" id="265" r:id="R6c493e00ebde4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c1768349d4f75" /><Relationship Type="http://schemas.openxmlformats.org/officeDocument/2006/relationships/slideMaster" Target="/ppt/slideMasters/slideMaster1.xml" Id="R7438c8b8af81437f" /><Relationship Type="http://schemas.openxmlformats.org/officeDocument/2006/relationships/notesMaster" Target="/ppt/notesMasters/notesMaster1.xml" Id="Rb57a39407d494ab0" /><Relationship Type="http://schemas.openxmlformats.org/officeDocument/2006/relationships/presProps" Target="/ppt/presProps.xml" Id="Racf4787333f945cf" /><Relationship Type="http://schemas.openxmlformats.org/officeDocument/2006/relationships/tableStyles" Target="/ppt/tableStyles.xml" Id="R5bda365525074334" /><Relationship Type="http://schemas.openxmlformats.org/officeDocument/2006/relationships/slide" Target="/ppt/slides/slide1.xml" Id="R8b75b1ecaa554fa3" /><Relationship Type="http://schemas.openxmlformats.org/officeDocument/2006/relationships/slide" Target="/ppt/slides/slide2.xml" Id="R79a1c3725d1e48a0" /><Relationship Type="http://schemas.openxmlformats.org/officeDocument/2006/relationships/slide" Target="/ppt/slides/slide3.xml" Id="Reee7f85ddcc44c1b" /><Relationship Type="http://schemas.openxmlformats.org/officeDocument/2006/relationships/slide" Target="/ppt/slides/slide4.xml" Id="Re0034452f9294062" /><Relationship Type="http://schemas.openxmlformats.org/officeDocument/2006/relationships/slide" Target="/ppt/slides/slide5.xml" Id="R808e9137f18c441d" /><Relationship Type="http://schemas.openxmlformats.org/officeDocument/2006/relationships/slide" Target="/ppt/slides/slide6.xml" Id="R0119f9e0049a403d" /><Relationship Type="http://schemas.openxmlformats.org/officeDocument/2006/relationships/slide" Target="/ppt/slides/slide7.xml" Id="R97e2912af0584e21" /><Relationship Type="http://schemas.openxmlformats.org/officeDocument/2006/relationships/slide" Target="/ppt/slides/slide8.xml" Id="Rccfc810acac3421c" /><Relationship Type="http://schemas.openxmlformats.org/officeDocument/2006/relationships/slide" Target="/ppt/slides/slide9.xml" Id="Rd9afb97b66ab467e" /><Relationship Type="http://schemas.openxmlformats.org/officeDocument/2006/relationships/slide" Target="/ppt/slides/slide10.xml" Id="R6c493e00ebde4d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8f82779cdf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6a5329cfdc43f0" /><Relationship Type="http://schemas.openxmlformats.org/officeDocument/2006/relationships/notesMaster" Target="/ppt/notesMasters/notesMaster1.xml" Id="Ra2d96a6b212940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8a8151be5a4124" /><Relationship Type="http://schemas.openxmlformats.org/officeDocument/2006/relationships/notesMaster" Target="/ppt/notesMasters/notesMaster1.xml" Id="R02efde2c291945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475703461c48e5" /><Relationship Type="http://schemas.openxmlformats.org/officeDocument/2006/relationships/notesMaster" Target="/ppt/notesMasters/notesMaster1.xml" Id="R39bdee36bc1843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1eee881afd47d4" /><Relationship Type="http://schemas.openxmlformats.org/officeDocument/2006/relationships/notesMaster" Target="/ppt/notesMasters/notesMaster1.xml" Id="Rcc643150baaa4f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288726d6e54d83" /><Relationship Type="http://schemas.openxmlformats.org/officeDocument/2006/relationships/notesMaster" Target="/ppt/notesMasters/notesMaster1.xml" Id="Rdd5fd6e1cdc34a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8c820e9ec349a4" /><Relationship Type="http://schemas.openxmlformats.org/officeDocument/2006/relationships/notesMaster" Target="/ppt/notesMasters/notesMaster1.xml" Id="R55a1261218764a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d1dbef85674f76" /><Relationship Type="http://schemas.openxmlformats.org/officeDocument/2006/relationships/notesMaster" Target="/ppt/notesMasters/notesMaster1.xml" Id="Rb711476c2e444b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7fa4ae50e84ecc" /><Relationship Type="http://schemas.openxmlformats.org/officeDocument/2006/relationships/notesMaster" Target="/ppt/notesMasters/notesMaster1.xml" Id="R36a08ef6a30d41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41159be5294c3c" /><Relationship Type="http://schemas.openxmlformats.org/officeDocument/2006/relationships/notesMaster" Target="/ppt/notesMasters/notesMaster1.xml" Id="Raea10ac5ea9643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18a35f0e6748e9" /><Relationship Type="http://schemas.openxmlformats.org/officeDocument/2006/relationships/notesMaster" Target="/ppt/notesMasters/notesMaster1.xml" Id="R6e5aceb5be5543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Z:/home/chen/projects/702solver/AGENTS.md</a:t>
            </a:r>
          </a:p>
          <a:p xmlns:a="http://schemas.openxmlformats.org/drawingml/2006/main">
            <a:r>
              <a:t>Architecture: Z:/home/chen/projects/702solver/src/orchestrator.py</a:t>
            </a:r>
          </a:p>
          <a:p xmlns:a="http://schemas.openxmlformats.org/drawingml/2006/main">
            <a:r>
              <a:t>Protocol/state/memory modules: src/protocol, src/state, src/memory</a:t>
            </a:r>
          </a:p>
          <a:p xmlns:a="http://schemas.openxmlformats.org/drawingml/2006/main">
            <a:r>
              <a:t>Experiment catalog: experiments/benchmark_suites.py</a:t>
            </a:r>
          </a:p>
          <a:p xmlns:a="http://schemas.openxmlformats.org/drawingml/2006/main">
            <a:r>
              <a:t>Screenshot evidence: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Z:/home/chen/projects/702solver/AGENTS.md</a:t>
            </a:r>
          </a:p>
          <a:p xmlns:a="http://schemas.openxmlformats.org/drawingml/2006/main">
            <a:r>
              <a:t>Architecture: Z:/home/chen/projects/702solver/src/orchestrator.py</a:t>
            </a:r>
          </a:p>
          <a:p xmlns:a="http://schemas.openxmlformats.org/drawingml/2006/main">
            <a:r>
              <a:t>Protocol/state/memory modules: src/protocol, src/state, src/memory</a:t>
            </a:r>
          </a:p>
          <a:p xmlns:a="http://schemas.openxmlformats.org/drawingml/2006/main">
            <a:r>
              <a:t>Experiment catalog: experiments/benchmark_suites.py</a:t>
            </a:r>
          </a:p>
          <a:p xmlns:a="http://schemas.openxmlformats.org/drawingml/2006/main">
            <a:r>
              <a:t>Screenshot evidence: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Z:/home/chen/projects/702solver/AGENTS.md</a:t>
            </a:r>
          </a:p>
          <a:p xmlns:a="http://schemas.openxmlformats.org/drawingml/2006/main">
            <a:r>
              <a:t>Architecture: Z:/home/chen/projects/702solver/src/orchestrator.py</a:t>
            </a:r>
          </a:p>
          <a:p xmlns:a="http://schemas.openxmlformats.org/drawingml/2006/main">
            <a:r>
              <a:t>Protocol/state/memory modules: src/protocol, src/state, src/memory</a:t>
            </a:r>
          </a:p>
          <a:p xmlns:a="http://schemas.openxmlformats.org/drawingml/2006/main">
            <a:r>
              <a:t>Experiment catalog: experiments/benchmark_suites.py</a:t>
            </a:r>
          </a:p>
          <a:p xmlns:a="http://schemas.openxmlformats.org/drawingml/2006/main">
            <a:r>
              <a:t>Screenshot evidence: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Z:/home/chen/projects/702solver/AGENTS.md</a:t>
            </a:r>
          </a:p>
          <a:p xmlns:a="http://schemas.openxmlformats.org/drawingml/2006/main">
            <a:r>
              <a:t>Architecture: Z:/home/chen/projects/702solver/src/orchestrator.py</a:t>
            </a:r>
          </a:p>
          <a:p xmlns:a="http://schemas.openxmlformats.org/drawingml/2006/main">
            <a:r>
              <a:t>Protocol/state/memory modules: src/protocol, src/state, src/memory</a:t>
            </a:r>
          </a:p>
          <a:p xmlns:a="http://schemas.openxmlformats.org/drawingml/2006/main">
            <a:r>
              <a:t>Experiment catalog: experiments/benchmark_suites.py</a:t>
            </a:r>
          </a:p>
          <a:p xmlns:a="http://schemas.openxmlformats.org/drawingml/2006/main">
            <a:r>
              <a:t>Screenshot evidence: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Z:/home/chen/projects/702solver/AGENTS.md</a:t>
            </a:r>
          </a:p>
          <a:p xmlns:a="http://schemas.openxmlformats.org/drawingml/2006/main">
            <a:r>
              <a:t>Architecture: Z:/home/chen/projects/702solver/src/orchestrator.py</a:t>
            </a:r>
          </a:p>
          <a:p xmlns:a="http://schemas.openxmlformats.org/drawingml/2006/main">
            <a:r>
              <a:t>Protocol/state/memory modules: src/protocol, src/state, src/memory</a:t>
            </a:r>
          </a:p>
          <a:p xmlns:a="http://schemas.openxmlformats.org/drawingml/2006/main">
            <a:r>
              <a:t>Experiment catalog: experiments/benchmark_suites.py</a:t>
            </a:r>
          </a:p>
          <a:p xmlns:a="http://schemas.openxmlformats.org/drawingml/2006/main">
            <a:r>
              <a:t>Screenshot evidence: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Z:/home/chen/projects/702solver/AGENTS.md</a:t>
            </a:r>
          </a:p>
          <a:p xmlns:a="http://schemas.openxmlformats.org/drawingml/2006/main">
            <a:r>
              <a:t>Architecture: Z:/home/chen/projects/702solver/src/orchestrator.py</a:t>
            </a:r>
          </a:p>
          <a:p xmlns:a="http://schemas.openxmlformats.org/drawingml/2006/main">
            <a:r>
              <a:t>Protocol/state/memory modules: src/protocol, src/state, src/memory</a:t>
            </a:r>
          </a:p>
          <a:p xmlns:a="http://schemas.openxmlformats.org/drawingml/2006/main">
            <a:r>
              <a:t>Experiment catalog: experiments/benchmark_suites.py</a:t>
            </a:r>
          </a:p>
          <a:p xmlns:a="http://schemas.openxmlformats.org/drawingml/2006/main">
            <a:r>
              <a:t>Screenshot evidence: C:/Users/chen/AppData/Local/Temp/codex-clipboard-74bb79b7-811f-4fbb-99fc-28e9963d9f29.png</a:t>
            </a:r>
          </a:p>
          <a:p xmlns:a="http://schemas.openxmlformats.org/drawingml/2006/main">
            <a:r>
              <a:t>Task catalog: Z:/home/chen/projects/702solver/experiments/benchmark_suites.py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Z:/home/chen/projects/702solver/AGENTS.md</a:t>
            </a:r>
          </a:p>
          <a:p xmlns:a="http://schemas.openxmlformats.org/drawingml/2006/main">
            <a:r>
              <a:t>Architecture: Z:/home/chen/projects/702solver/src/orchestrator.py</a:t>
            </a:r>
          </a:p>
          <a:p xmlns:a="http://schemas.openxmlformats.org/drawingml/2006/main">
            <a:r>
              <a:t>Protocol/state/memory modules: src/protocol, src/state, src/memory</a:t>
            </a:r>
          </a:p>
          <a:p xmlns:a="http://schemas.openxmlformats.org/drawingml/2006/main">
            <a:r>
              <a:t>Experiment catalog: experiments/benchmark_suites.py</a:t>
            </a:r>
          </a:p>
          <a:p xmlns:a="http://schemas.openxmlformats.org/drawingml/2006/main">
            <a:r>
              <a:t>Screenshot evidence: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Z:/home/chen/projects/702solver/AGENTS.md</a:t>
            </a:r>
          </a:p>
          <a:p xmlns:a="http://schemas.openxmlformats.org/drawingml/2006/main">
            <a:r>
              <a:t>Architecture: Z:/home/chen/projects/702solver/src/orchestrator.py</a:t>
            </a:r>
          </a:p>
          <a:p xmlns:a="http://schemas.openxmlformats.org/drawingml/2006/main">
            <a:r>
              <a:t>Protocol/state/memory modules: src/protocol, src/state, src/memory</a:t>
            </a:r>
          </a:p>
          <a:p xmlns:a="http://schemas.openxmlformats.org/drawingml/2006/main">
            <a:r>
              <a:t>Experiment catalog: experiments/benchmark_suites.py</a:t>
            </a:r>
          </a:p>
          <a:p xmlns:a="http://schemas.openxmlformats.org/drawingml/2006/main">
            <a:r>
              <a:t>Screenshot evidence: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Z:/home/chen/projects/702solver/AGENTS.md</a:t>
            </a:r>
          </a:p>
          <a:p xmlns:a="http://schemas.openxmlformats.org/drawingml/2006/main">
            <a:r>
              <a:t>Architecture: Z:/home/chen/projects/702solver/src/orchestrator.py</a:t>
            </a:r>
          </a:p>
          <a:p xmlns:a="http://schemas.openxmlformats.org/drawingml/2006/main">
            <a:r>
              <a:t>Protocol/state/memory modules: src/protocol, src/state, src/memory</a:t>
            </a:r>
          </a:p>
          <a:p xmlns:a="http://schemas.openxmlformats.org/drawingml/2006/main">
            <a:r>
              <a:t>Experiment catalog: experiments/benchmark_suites.py</a:t>
            </a:r>
          </a:p>
          <a:p xmlns:a="http://schemas.openxmlformats.org/drawingml/2006/main">
            <a:r>
              <a:t>Screenshot evidence: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Z:/home/chen/projects/702solver/AGENTS.md</a:t>
            </a:r>
          </a:p>
          <a:p xmlns:a="http://schemas.openxmlformats.org/drawingml/2006/main">
            <a:r>
              <a:t>Architecture: Z:/home/chen/projects/702solver/src/orchestrator.py</a:t>
            </a:r>
          </a:p>
          <a:p xmlns:a="http://schemas.openxmlformats.org/drawingml/2006/main">
            <a:r>
              <a:t>Protocol/state/memory modules: src/protocol, src/state, src/memory</a:t>
            </a:r>
          </a:p>
          <a:p xmlns:a="http://schemas.openxmlformats.org/drawingml/2006/main">
            <a:r>
              <a:t>Experiment catalog: experiments/benchmark_suites.py</a:t>
            </a:r>
          </a:p>
          <a:p xmlns:a="http://schemas.openxmlformats.org/drawingml/2006/main">
            <a:r>
              <a:t>Screenshot evidence: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1031f43c040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82c86048b24016" /><Relationship Type="http://schemas.openxmlformats.org/officeDocument/2006/relationships/slideLayout" Target="/ppt/slideLayouts/slideLayout1.xml" Id="R03bb4076088b4f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bb4076088b4f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7ebdb22f04481" /><Relationship Type="http://schemas.openxmlformats.org/officeDocument/2006/relationships/notesSlide" Target="/ppt/notesSlides/notesSlide1.xml" Id="R8eed74dfc9d140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a6da639e1462e" /><Relationship Type="http://schemas.openxmlformats.org/officeDocument/2006/relationships/notesSlide" Target="/ppt/notesSlides/notesSlide2.xml" Id="Rcb9dbd16597346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4df7a3d4646c3" /><Relationship Type="http://schemas.openxmlformats.org/officeDocument/2006/relationships/notesSlide" Target="/ppt/notesSlides/notesSlide3.xml" Id="R294fd587c66445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fd804a2ae4e9b" /><Relationship Type="http://schemas.openxmlformats.org/officeDocument/2006/relationships/notesSlide" Target="/ppt/notesSlides/notesSlide4.xml" Id="R999d4cfcfe114b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de1a199ee4d0c" /><Relationship Type="http://schemas.openxmlformats.org/officeDocument/2006/relationships/notesSlide" Target="/ppt/notesSlides/notesSlide5.xml" Id="R56d5aaebf39b43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a3a8d74174e7c" /><Relationship Type="http://schemas.openxmlformats.org/officeDocument/2006/relationships/notesSlide" Target="/ppt/notesSlides/notesSlide6.xml" Id="Rb44e70bf46974e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7a93c95fe4f29" /><Relationship Type="http://schemas.openxmlformats.org/officeDocument/2006/relationships/image" Target="/ppt/media/image.png" Id="R99e69be2909441cd" /><Relationship Type="http://schemas.openxmlformats.org/officeDocument/2006/relationships/notesSlide" Target="/ppt/notesSlides/notesSlide7.xml" Id="R2907cd8535374b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9412b74c942c5" /><Relationship Type="http://schemas.openxmlformats.org/officeDocument/2006/relationships/chart" Target="/ppt/slides/charts/chart1.xml" Id="Rfb96dc1972804eeb" /><Relationship Type="http://schemas.openxmlformats.org/officeDocument/2006/relationships/chart" Target="/ppt/slides/charts/chart2.xml" Id="Rb4df2542f7ff4280" /><Relationship Type="http://schemas.openxmlformats.org/officeDocument/2006/relationships/notesSlide" Target="/ppt/notesSlides/notesSlide8.xml" Id="R86f327f3cbb14d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03d23309d4755" /><Relationship Type="http://schemas.openxmlformats.org/officeDocument/2006/relationships/notesSlide" Target="/ppt/notesSlides/notesSlide9.xml" Id="Re46bf6ed983b49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8eb5b89df4548" /><Relationship Type="http://schemas.openxmlformats.org/officeDocument/2006/relationships/notesSlide" Target="/ppt/notesSlides/notesSlide10.xml" Id="Rcd65f4be648a43a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Token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A 纯文本</c:v>
              </c:pt>
              <c:pt idx="1">
                <c:v>C 最终方案</c:v>
              </c:pt>
            </c:strLit>
          </c:cat>
          <c:val>
            <c:numLit>
              <c:formatCode>General</c:formatCode>
              <c:ptCount val="2"/>
              <c:pt idx="0">
                <c:v>88230</c:v>
              </c:pt>
              <c:pt idx="1">
                <c:v>39880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API</c:v>
          </c:tx>
          <c:spPr>
            <a:solidFill xmlns:a="http://schemas.openxmlformats.org/drawingml/2006/main">
              <a:srgbClr val="16A34A"/>
            </a:solidFill>
          </c:spPr>
          <c:cat>
            <c:strLit>
              <c:ptCount val="2"/>
              <c:pt idx="0">
                <c:v>A</c:v>
              </c:pt>
              <c:pt idx="1">
                <c:v>C</c:v>
              </c:pt>
            </c:strLit>
          </c:cat>
          <c:val>
            <c:numLit>
              <c:formatCode>General</c:formatCode>
              <c:ptCount val="2"/>
              <c:pt idx="0">
                <c:v>72</c:v>
              </c:pt>
              <c:pt idx="1">
                <c:v>64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DD97B-A574-4D9C-BF0F-C03531F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作品介绍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B3A7C-67BF-463A-93A4-D3A04C2C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</a:defRPr>
            </a:pPr>
            <a:r>
              <a:rPr sz="4650" b="1">
                <a:solidFill>
                  <a:srgbClr val="111827"/>
                </a:solidFill>
              </a:rPr>
              <a:t>702solver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71852-15CF-4ACE-BB1A-5355F226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多 Agent 共享记忆诊断系统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F811F-764A-4BE7-A082-FBB8AF62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67A"/>
                </a:solidFill>
              </a:defRPr>
            </a:pPr>
            <a:r>
              <a:rPr sz="1800" b="0">
                <a:solidFill>
                  <a:srgbClr val="5B667A"/>
                </a:solidFill>
              </a:rPr>
              <a:t>结构化协议 + 384 维状态传递 + SQLite/FAISS 共享记忆，用实验展示 token 成本下降。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D8443-1C6C-45A7-BEE0-63CB2EC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0490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3DD52-4D80-4953-8F15-BC48F4A4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full24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E1B7B-CAA9-49F0-8B5D-BA0DE2C4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24 题 · 三领域 · 对抗题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714C8-D634-46D8-BDCC-2492E180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</a:defRPr>
            </a:pPr>
            <a:r>
              <a:rPr sz="1575" b="0">
                <a:solidFill>
                  <a:srgbClr val="5B667A"/>
                </a:solidFill>
              </a:rPr>
              <a:t>现场复现实验：C 模式完成 24/24，累计 39,880 token。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E3B68-ED5A-45AA-945F-DC550C8E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702solver · Multi-Agent Shared Memory Diagnosis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BD607-7163-4BC5-B4BF-505F4D8E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5327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52077-E9A2-4367-9835-44346EB7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问题定义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47744-8573-4D22-BFB1-153E36DB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传统多 Agent 协作的主要浪费在重复通信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6B5A7-0FDA-4C5F-BFA1-B725788C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EFFB1-E6D6-46E0-9B38-A61A02B6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D6C3E-FCD1-47E0-9DED-FFD29C72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565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Agent 之间经常把计划、检索结果和中间推理写成大段自然语言传递。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BD21A-5D81-444B-B8DF-6FD4D444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92079-3344-4EDB-A7A2-AF78A74A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565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相似任务会重复规划、重复总结，历史经验难以被稳定复用。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88E35-627D-4EFF-B338-20E32B1F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7BFB9-1EDA-4B09-A0F6-0ABFDFC7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565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当任务扩展到连续 24 题时，token、API 调用和等待时间都会放大。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63A65-4F3C-4C19-9F1A-222D69CE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8AFD0-7721-4F32-A100-EA5E37E6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E9E3E-7BD9-4F1C-8425-8A1D3BA9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67A"/>
                </a:solidFill>
              </a:defRPr>
            </a:pPr>
            <a:r>
              <a:rPr sz="1800" b="0">
                <a:solidFill>
                  <a:srgbClr val="5B667A"/>
                </a:solidFill>
              </a:rPr>
              <a:t>在保证回答质量的前提下，让 Agent 用更短、更可复用的状态交换完成协作。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ACE2B-9C16-41EE-97E0-D11A8827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702solver · Multi-Agent Shared Memory Diagnosis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C98AE-FC40-4E5C-8E86-57377C41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5053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BC337-5CAA-4BF0-BC4E-998C7D84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0177B-0E1C-4EF8-9264-E3EC418C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系统把诊断任务拆成四个 Agent 的流水线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5F11A-A339-4339-BA69-C8A11CC3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7F9BF-7D07-41EA-ADDA-C8B21615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A4211-F180-4A88-AD64-5A1EE898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9F302-4B09-4D45-B9C0-B4686011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Planner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CE81E-690D-4F99-8F7D-951B5FCA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拆解任务，生成子任务 DAG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CA2B3-B768-406D-BC42-2036A844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623D0-F0CE-49C7-B09B-A6E0C5B0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6AB7B-A7EE-46F1-9054-C03F4772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Retriever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51617-DC4D-4A10-9092-24713ADD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搜索知识库与共享记忆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51C4A-4010-44A1-A877-B6627870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E4ACB-0B26-426F-AB24-F1593103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13727-7606-4211-BECD-632F3A20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Executor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8EF9B-2114-4419-AB16-92D78F2D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执行分析、CodeAct 与数据处理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4935B-2CF1-42B7-9FDF-8947ACB4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4B58E-32C1-475E-9537-0CAB8B61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4C997-0D8E-4771-8D4D-DDDFB6D0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Summarizer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5B8C0-BCBF-4A17-A317-3FBBDCEB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综合证据链，输出最终报告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D6F89-6BE9-48E8-BD71-625AA68C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056B4-1285-4B40-8059-D78F989F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527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06A66B-D2F0-464B-8EC5-062AB6BC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C680B-6DDF-41C0-9035-8543189F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527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2EB86-59E4-4A0A-881F-761E5E29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8EE47-3F9F-4E70-8F6D-A3383779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527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323A23-FBCA-4D0C-94F2-C8B3D94E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957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Orchestrator 负责缓存检查、路由、并行执行、指标采集和异常处理。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591D0-C32A-4913-AADE-4C5DC572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863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67A"/>
                </a:solidFill>
              </a:defRPr>
            </a:pPr>
            <a:r>
              <a:rPr sz="1500" b="0">
                <a:solidFill>
                  <a:srgbClr val="5B667A"/>
                </a:solidFill>
              </a:rPr>
              <a:t>入口：run.py / main.py / chat.py；核心调度：src/orchestrator.py。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96D4B-A4AE-444C-B054-36A37292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702solver · Multi-Agent Shared Memory Diagnosis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88A833-B382-4F1A-90D6-8A5BE789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8577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DC03A-7387-4A5F-B74E-91AD0712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核心创新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1F5E5-6316-40AB-B061-35F268F9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三个机制共同降低 token 和重复推理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6FBCF-D072-43F2-A13E-E24C2711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91E59-CF9A-45E9-B7A9-F29D4313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952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6CE99-BE20-448D-AC7C-3D330A8E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6E91E-8441-41CE-AA2F-CEE286B5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结构化协议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1FFBC-BB78-4EB2-BB4C-CAD5D999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2400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A"/>
                </a:solidFill>
              </a:defRPr>
            </a:pPr>
            <a:r>
              <a:rPr sz="1350" b="0">
                <a:solidFill>
                  <a:srgbClr val="5B667A"/>
                </a:solidFill>
              </a:rPr>
              <a:t>MessagePack + 短字段，消息携带 action、params、result、memory_refs。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332EE-1E80-426B-8522-DA88BE3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2952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09AB7-D80E-494C-A2F8-3B68760D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5C60F-533D-46C0-AB9F-0514CDFD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非文本状态传递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260E4-B50C-4C18-B836-3AE1C768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2400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A"/>
                </a:solidFill>
              </a:defRPr>
            </a:pPr>
            <a:r>
              <a:rPr sz="1350" b="0">
                <a:solidFill>
                  <a:srgbClr val="5B667A"/>
                </a:solidFill>
              </a:rPr>
              <a:t>Planner / Retriever / Executor 将状态编码成 384 维向量包传给下游。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B6839-E61A-4E63-B512-2E290AC1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2952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6C511-E6C0-4A99-8891-82A8D885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3DA91-5CD8-40F1-9AA8-D9675158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共享记忆复用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7FF46-3701-467D-B30B-78AC2A39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2400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A"/>
                </a:solidFill>
              </a:defRPr>
            </a:pPr>
            <a:r>
              <a:rPr sz="1350" b="0">
                <a:solidFill>
                  <a:srgbClr val="5B667A"/>
                </a:solidFill>
              </a:rPr>
              <a:t>SQLite 存元数据，FAISS 做语义检索，支持 E2E 缓存与模板复用。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AAF81-B5D9-4D7C-8B0F-1090F298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702solver · Multi-Agent Shared Memory Diagnosis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4312B-7E77-4CC3-B8C0-F2D4933E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5591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7DA6D-A4C8-4521-9960-4363E28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运行流程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AE1BA-E9A8-412A-9521-4A4DCFE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一次任务会先尝试复用，再决定是否完整生成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104E5-4EBB-49AC-B7EB-7E36CA68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3E008-9C42-4733-95BE-509D314F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A41FD-4122-4A5E-9896-D423DDA6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E2E 缓存：相似度达到阈值时，整题答案可直接复用。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BF98E-7871-4179-BA69-231F079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6F67D-A9ED-4ECE-B0C2-5FE03014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领域计划种子：从历史 strategy memory 加载模板，减少 Planner 生成成本。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87BC0-D1D6-4212-9606-AC32F805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A975A-98F0-43A2-83B2-489CA2A7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Executor dropout：模板填充分数足够高时跳过执行 Agent。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79DDB-0180-4278-8B45-0B234E6D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2076B-4351-4CE9-AC25-F9407D85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意图门控：开放问答、合规、漏洞等场景防止错误缓存复用。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1CD51-E4B3-4035-AFF6-78D78E52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2857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F9D90-A81F-4C82-8D57-D7811D77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关键指标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C63F0-9B1C-43DC-A993-72A8027C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095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67A"/>
                </a:solidFill>
              </a:defRPr>
            </a:pPr>
            <a:r>
              <a:rPr sz="1800" b="0">
                <a:solidFill>
                  <a:srgbClr val="5B667A"/>
                </a:solidFill>
              </a:rPr>
              <a:t>token</a:t>
            </a:r>
          </a:p>
          <a:p xmlns:a="http://schemas.openxmlformats.org/drawingml/2006/main">
            <a:pPr algn="l">
              <a:defRPr sz="1800" b="0">
                <a:solidFill>
                  <a:srgbClr val="5B667A"/>
                </a:solidFill>
              </a:defRPr>
            </a:pPr>
            <a:r>
              <a:rPr sz="1800" b="0">
                <a:solidFill>
                  <a:srgbClr val="5B667A"/>
                </a:solidFill>
              </a:rPr>
              <a:t>API 调用</a:t>
            </a:r>
          </a:p>
          <a:p xmlns:a="http://schemas.openxmlformats.org/drawingml/2006/main">
            <a:pPr algn="l">
              <a:defRPr sz="1800" b="0">
                <a:solidFill>
                  <a:srgbClr val="5B667A"/>
                </a:solidFill>
              </a:defRPr>
            </a:pPr>
            <a:r>
              <a:rPr sz="1800" b="0">
                <a:solidFill>
                  <a:srgbClr val="5B667A"/>
                </a:solidFill>
              </a:rPr>
              <a:t>记忆命中</a:t>
            </a:r>
          </a:p>
          <a:p xmlns:a="http://schemas.openxmlformats.org/drawingml/2006/main">
            <a:pPr algn="l">
              <a:defRPr sz="1800" b="0">
                <a:solidFill>
                  <a:srgbClr val="5B667A"/>
                </a:solidFill>
              </a:defRPr>
            </a:pPr>
            <a:r>
              <a:rPr sz="1800" b="0">
                <a:solidFill>
                  <a:srgbClr val="5B667A"/>
                </a:solidFill>
              </a:rPr>
              <a:t>策略类型</a:t>
            </a:r>
          </a:p>
          <a:p xmlns:a="http://schemas.openxmlformats.org/drawingml/2006/main">
            <a:pPr algn="l">
              <a:defRPr sz="1800" b="0">
                <a:solidFill>
                  <a:srgbClr val="5B667A"/>
                </a:solidFill>
              </a:defRPr>
            </a:pPr>
            <a:r>
              <a:rPr sz="1800" b="0">
                <a:solidFill>
                  <a:srgbClr val="5B667A"/>
                </a:solidFill>
              </a:rPr>
              <a:t>质量通过率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597DF-9415-40B0-AC11-081043A8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702solver · Multi-Agent Shared Memory Diagnosis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49A84-5BD4-43F7-B19E-4925E2F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4322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60CD0-754B-4A41-9AD2-4B51F03F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61AE0-BCCB-42C2-9458-AD9F287F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full24 用三类任务验证复用能力和安全边界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F7B8F-3C6D-4B09-9D69-7D25FA2C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2762250"/>
                <a:gridCol w="6534150"/>
              </a:tblGrid>
              <a:tr h="642938">
                <a:tc>
                  <a:txBody>
                    <a:bodyPr/>
                    <a:lstStyle/>
                    <a:p>
                      <a:r>
                        <a:t>领域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覆盖方式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代表内容</a:t>
                      </a:r>
                    </a:p>
                  </a:txBody>
                  <a:tcPr marL="91440" marR="91440" marT="45720" marB="45720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t>energy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core + extended + adversarial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太阳能、风电、水储能、电网接入、政策与经济陷阱题</a:t>
                      </a:r>
                    </a:p>
                  </a:txBody>
                  <a:tcPr marL="91440" marR="91440" marT="45720" marB="45720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t>security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core + extended + adversarial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Python 漏洞、Web 安全、密钥管理、供应链、合规与 TLS</a:t>
                      </a:r>
                    </a:p>
                  </a:txBody>
                  <a:tcPr marL="91440" marR="91440" marT="45720" marB="45720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t>database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core + extended + adversarial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查询优化、NoSQL 对比、事务隔离、备份恢复、迁移与 CAP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67B9B-CCEF-44EE-A56D-6D66489D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67A"/>
                </a:solidFill>
              </a:defRPr>
            </a:pPr>
            <a:r>
              <a:rPr sz="1650" b="0">
                <a:solidFill>
                  <a:srgbClr val="5B667A"/>
                </a:solidFill>
              </a:rPr>
              <a:t>对照模式：A 纯文本基线；C 为最终方案。A 每题 3 次长文本调用，C 走多 Agent 结构化流水线。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EE189-12D2-42C4-B863-759B55D3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702solver · Multi-Agent Shared Memory Diagnosis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538B0-E6A4-4EA3-9684-D0577921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2826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DBA7B-225E-4FF8-9A88-43E4B47A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现场截图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D7D53-C255-4E21-8377-530E675D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演示界面将 24 题过程和指标实时展开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177BB-5942-47B7-B23B-9348487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69be2909441cd"/>
          <a:stretch xmlns:a="http://schemas.openxmlformats.org/drawingml/2006/main"/>
        </p:blipFill>
        <p:spPr>
          <a:xfrm xmlns:a="http://schemas.openxmlformats.org/drawingml/2006/main">
            <a:off x="2443392" y="1638300"/>
            <a:ext cx="7305215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D6F36-EBFE-44C0-B078-28F20867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截图显示 C 模式已完成 24/24，累计 39,880 token、64 次 API 调用，相比 A 节省 54.8%。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699A3-F19E-4BD7-809F-5071A86D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702solver · Multi-Agent Shared Memory Diagnosis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2A693-0631-47CC-A8DE-933CC108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0179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365AE-DBA2-43FB-A2EA-AFD22E43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1A492-F591-4800-A3C9-1FC17EA7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现场 full24 结果显示最终方案显著降低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734D0-D906-4A0D-9D4A-E4866F78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0320B-F2A9-40A5-BDFB-D8724576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FF7FE-EE13-4E84-8001-CD25DDC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A"/>
                </a:solidFill>
              </a:defRPr>
            </a:pPr>
            <a:r>
              <a:rPr sz="1275" b="1">
                <a:solidFill>
                  <a:srgbClr val="5B667A"/>
                </a:solidFill>
              </a:rPr>
              <a:t>C 模式完成度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FF0C6-BF3C-45CB-82BF-59B3A863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24/24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27A64-79CA-4F93-BBD8-4D89B7AC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24 题全部完成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DF5B4-C73D-48BA-B351-46B2BCD5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470D7-4C17-4C61-8948-7C27872B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717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A"/>
                </a:solidFill>
              </a:defRPr>
            </a:pPr>
            <a:r>
              <a:rPr sz="1275" b="1">
                <a:solidFill>
                  <a:srgbClr val="5B667A"/>
                </a:solidFill>
              </a:rPr>
              <a:t>C 累计 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0115A-EEE1-46C2-8F42-B33CBCE1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A34A"/>
                </a:solidFill>
              </a:defRPr>
            </a:pPr>
            <a:r>
              <a:rPr sz="3150" b="1">
                <a:solidFill>
                  <a:srgbClr val="16A34A"/>
                </a:solidFill>
              </a:rPr>
              <a:t>39,880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CAB1F-9A35-4D4C-B0A6-51D79009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DeepSeek usage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492A3-AF07-4E0D-8207-012F7DA7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73DC2-E5AB-4F84-9AD4-45A65974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A"/>
                </a:solidFill>
              </a:defRPr>
            </a:pPr>
            <a:r>
              <a:rPr sz="1275" b="1">
                <a:solidFill>
                  <a:srgbClr val="5B667A"/>
                </a:solidFill>
              </a:rPr>
              <a:t>C API 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B405D-5495-4BF2-A092-AC4F10E1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7706"/>
                </a:solidFill>
              </a:defRPr>
            </a:pPr>
            <a:r>
              <a:rPr sz="3150" b="1">
                <a:solidFill>
                  <a:srgbClr val="D97706"/>
                </a:solidFill>
              </a:rPr>
              <a:t>64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717E8-DF75-4A2D-BA84-D8A18DAA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完整 24 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70C96-BAA7-438C-8D7A-DC581B22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81F3C-8AF1-4EE1-9D5D-D647BFE3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717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A"/>
                </a:solidFill>
              </a:defRPr>
            </a:pPr>
            <a:r>
              <a:rPr sz="1275" b="1">
                <a:solidFill>
                  <a:srgbClr val="5B667A"/>
                </a:solidFill>
              </a:rPr>
              <a:t>C 相比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B2367-770B-411D-9D64-AEFA8536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A34A"/>
                </a:solidFill>
              </a:defRPr>
            </a:pPr>
            <a:r>
              <a:rPr sz="3150" b="1">
                <a:solidFill>
                  <a:srgbClr val="16A34A"/>
                </a:solidFill>
              </a:rPr>
              <a:t>54.8%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5F025-22D7-4D8C-AEDF-CB0D174E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现场截图显示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1143000" y="4095750"/>
          <a:ext xmlns:a="http://schemas.openxmlformats.org/drawingml/2006/main" cx="4381500" cy="1714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96dc1972804eeb"/>
          </a:graphicData>
        </a:graphic>
      </p:graphicFrame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6667500" y="4095750"/>
          <a:ext xmlns:a="http://schemas.openxmlformats.org/drawingml/2006/main" cx="3429000" cy="1714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df2542f7ff4280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00964-BEE5-40F2-AB0C-D784039D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05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A token 约 88.2k，由截图中的 C token 与 54.8% 节省率反推。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A1140-6BDE-4BAB-A3E7-EFC62749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702solver · Multi-Agent Shared Memory Diagnosis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905FE-5E14-4FE7-A3AD-CABA405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7773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96292-4815-45D7-AD58-08A76B9D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结果解释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CF7FE-0D1E-40BF-9759-936B664C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节省来自少说废话和复用已有经验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BAA85-7A93-46E2-B454-ECD2D142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FE02C-04D9-449F-9E87-3A80423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AA3DF-7E3F-4E07-ADB2-6683F7D7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52625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结构化协议减少 Agent 间自然语言转述，把动作和参数压缩成明确字段。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81C64-828B-42BA-AD9F-CE699396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E0D26-C925-4F60-BCA3-0E3B2073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86025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向量状态包让下游 Agent 直接做语义检索，避免中间文本再编码。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7FB93-D96C-4322-90BD-DE664C68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43D20-C99E-4063-B51E-A129C943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19425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共享记忆让相似任务复用计划、证据和策略，减少重复 LLM 调用。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0A143-8D79-436C-AF40-0ABD4E9C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A7072-7748-49D0-B02D-A39DAC9E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52825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对抗题通过 no-e2e-cache 与意图门控，降低错误复用风险。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12DF6-0906-4F4A-9EB0-432EF80C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76450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86875-AFCE-4C90-AC6B-814783F0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可解释输出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CE1BC-5104-4BA6-8676-510B6E56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48000"/>
            <a:ext cx="152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A"/>
                </a:solidFill>
              </a:defRPr>
            </a:pPr>
            <a:r>
              <a:rPr sz="1425" b="0">
                <a:solidFill>
                  <a:srgbClr val="5B667A"/>
                </a:solidFill>
              </a:rPr>
              <a:t>每题保留 C 策略、记忆命中、token 和 API 调用，便于复现实验。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8AB4A-C87F-4C54-A5BC-B1B05BF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702solver · Multi-Agent Shared Memory Diagnosis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56572-6ABB-447D-97F4-A3CF21F2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4038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D1A56-42B8-4D73-BA90-121CCF40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C41DC-590F-45AD-9AB2-7D16E76E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作品价值在于把多 Agent 协作做成可测量系统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7618B-908A-4ABD-A9F4-9C761A77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CC719-F8C4-4925-BEB9-2121812E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1946E-6260-417D-AB04-63C15823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工程实现完整：CLI、Qt 演示界面、SQLite/FAISS 记忆库、沙箱与测试套件。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29914-333F-48C3-AB8B-2F71128F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8BD81-A3D8-4A7E-9CCD-31909305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实验路径清晰：先跑 A 纯文本，再跑 C 最终方案，逐题展示指标变化。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3F8E6-F124-421C-80BC-96419241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C4615-388E-456A-80A7-49B121C8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核心结论明确：结构化通信和共享记忆能在 full24 任务集上降低 token 成本。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D9ACC-CE3B-4D57-BD55-4407C9F4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交付物：源码仓库、full24 实时演示 exe、实验报告与本作品介绍 PPT。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C428E-2AEE-4405-AEB1-C0F4D7BC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702solver · Multi-Agent Shared Memory Diagnosis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13C45-3D92-447C-BC50-F9488BF7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67A"/>
                </a:solidFill>
              </a:defRPr>
            </a:pPr>
            <a:r>
              <a:rPr sz="1050" b="0">
                <a:solidFill>
                  <a:srgbClr val="5B66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4983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2026-07-29T05:58:51.1570000Z</dcterms:created>
  <dcterms:modified xsi:type="dcterms:W3CDTF">2026-07-29T05:58:51.1570000Z</dcterms:modified>
</coreProperties>
</file>